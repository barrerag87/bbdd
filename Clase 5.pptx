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1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 id="279" r:id="rId23"/>
    <p:sldId id="280" r:id="rId24"/>
    <p:sldId id="281" r:id="rId25"/>
    <p:sldId id="282" r:id="rId26"/>
    <p:sldId id="283" r:id="rId27"/>
    <p:sldId id="284" r:id="rId2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4/2/2023</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4027970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4/2/2023</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3376413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4/2/2023</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900302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4/2/2023</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2077131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4/2/2023</a:t>
            </a:fld>
            <a:endParaRPr lang="en-US"/>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56790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4/2/2023</a:t>
            </a:fld>
            <a:endParaRPr lang="en-US"/>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368586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4/2/2023</a:t>
            </a:fld>
            <a:endParaRPr lang="en-US"/>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3079328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4/2/2023</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2104172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4/2/2023</a:t>
            </a:fld>
            <a:endParaRPr lang="en-US"/>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2014724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4/2/2023</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2175050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4/2/2023</a:t>
            </a:fld>
            <a:endParaRPr lang="en-US"/>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997185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4/2/2023</a:t>
            </a:fld>
            <a:endParaRPr lang="en-US"/>
          </a:p>
        </p:txBody>
      </p:sp>
      <p:sp>
        <p:nvSpPr>
          <p:cNvPr id="5" name="Holder 5"/>
          <p:cNvSpPr>
            <a:spLocks noGrp="1"/>
          </p:cNvSpPr>
          <p:nvPr>
            <p:ph type="sldNum" sz="quarter" idx="7"/>
          </p:nvPr>
        </p:nvSpPr>
        <p:spPr/>
        <p:txBody>
          <a:bodyPr lIns="0" tIns="0" rIns="0" bIns="0"/>
          <a:lstStyle>
            <a:lvl1pPr>
              <a:defRPr sz="1200" b="0" i="0">
                <a:solidFill>
                  <a:srgbClr val="666666"/>
                </a:solidFill>
                <a:latin typeface="Calibri"/>
                <a:cs typeface="Calibri"/>
              </a:defRPr>
            </a:lvl1p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3428134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38100">
              <a:lnSpc>
                <a:spcPts val="1240"/>
              </a:lnSpc>
            </a:pPr>
            <a:fld id="{81D60167-4931-47E6-BA6A-407CBD079E47}" type="slidenum">
              <a:rPr lang="es-CL" smtClean="0"/>
              <a:pPr marL="38100">
                <a:lnSpc>
                  <a:spcPts val="1240"/>
                </a:lnSpc>
              </a:pPr>
              <a:t>‹Nº›</a:t>
            </a:fld>
            <a:endParaRPr lang="es-CL" dirty="0"/>
          </a:p>
        </p:txBody>
      </p:sp>
    </p:spTree>
    <p:extLst>
      <p:ext uri="{BB962C8B-B14F-4D97-AF65-F5344CB8AC3E}">
        <p14:creationId xmlns:p14="http://schemas.microsoft.com/office/powerpoint/2010/main" val="254871530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CEB814-CD87-03E1-7F0A-FF18FE8DD43D}"/>
              </a:ext>
            </a:extLst>
          </p:cNvPr>
          <p:cNvSpPr>
            <a:spLocks noGrp="1"/>
          </p:cNvSpPr>
          <p:nvPr>
            <p:ph type="ctrTitle"/>
          </p:nvPr>
        </p:nvSpPr>
        <p:spPr>
          <a:xfrm>
            <a:off x="1524000" y="1122362"/>
            <a:ext cx="9144000" cy="3830637"/>
          </a:xfrm>
        </p:spPr>
        <p:txBody>
          <a:bodyPr>
            <a:normAutofit fontScale="90000"/>
          </a:bodyPr>
          <a:lstStyle/>
          <a:p>
            <a:r>
              <a:rPr lang="es-CL" sz="6000" dirty="0">
                <a:solidFill>
                  <a:srgbClr val="FFFFFF"/>
                </a:solidFill>
                <a:latin typeface="Aharoni" panose="02010803020104030203" pitchFamily="2" charset="-79"/>
                <a:cs typeface="Aharoni" panose="02010803020104030203" pitchFamily="2" charset="-79"/>
              </a:rPr>
              <a:t>Data </a:t>
            </a:r>
            <a:r>
              <a:rPr lang="es-CL" sz="6000" spc="-5" dirty="0" err="1">
                <a:solidFill>
                  <a:srgbClr val="FFFFFF"/>
                </a:solidFill>
                <a:latin typeface="Aharoni" panose="02010803020104030203" pitchFamily="2" charset="-79"/>
                <a:cs typeface="Aharoni" panose="02010803020104030203" pitchFamily="2" charset="-79"/>
              </a:rPr>
              <a:t>Definition</a:t>
            </a:r>
            <a:r>
              <a:rPr lang="es-CL" sz="6000" spc="-5" dirty="0">
                <a:solidFill>
                  <a:srgbClr val="FFFFFF"/>
                </a:solidFill>
                <a:latin typeface="Aharoni" panose="02010803020104030203" pitchFamily="2" charset="-79"/>
                <a:cs typeface="Aharoni" panose="02010803020104030203" pitchFamily="2" charset="-79"/>
              </a:rPr>
              <a:t> Lang. </a:t>
            </a:r>
            <a:r>
              <a:rPr lang="es-CL" sz="6000" dirty="0">
                <a:solidFill>
                  <a:srgbClr val="FFFFFF"/>
                </a:solidFill>
                <a:latin typeface="Aharoni" panose="02010803020104030203" pitchFamily="2" charset="-79"/>
                <a:cs typeface="Aharoni" panose="02010803020104030203" pitchFamily="2" charset="-79"/>
              </a:rPr>
              <a:t>(DDL) </a:t>
            </a:r>
            <a:r>
              <a:rPr lang="es-CL" sz="6000" spc="5" dirty="0">
                <a:solidFill>
                  <a:srgbClr val="FFFFFF"/>
                </a:solidFill>
                <a:latin typeface="Aharoni" panose="02010803020104030203" pitchFamily="2" charset="-79"/>
                <a:cs typeface="Aharoni" panose="02010803020104030203" pitchFamily="2" charset="-79"/>
              </a:rPr>
              <a:t> </a:t>
            </a:r>
            <a:r>
              <a:rPr lang="es-CL" sz="6000" dirty="0">
                <a:solidFill>
                  <a:srgbClr val="FFFFFF"/>
                </a:solidFill>
                <a:latin typeface="Aharoni" panose="02010803020104030203" pitchFamily="2" charset="-79"/>
                <a:cs typeface="Aharoni" panose="02010803020104030203" pitchFamily="2" charset="-79"/>
              </a:rPr>
              <a:t>Data</a:t>
            </a:r>
            <a:r>
              <a:rPr lang="es-CL" sz="6000" spc="-40" dirty="0">
                <a:solidFill>
                  <a:srgbClr val="FFFFFF"/>
                </a:solidFill>
                <a:latin typeface="Aharoni" panose="02010803020104030203" pitchFamily="2" charset="-79"/>
                <a:cs typeface="Aharoni" panose="02010803020104030203" pitchFamily="2" charset="-79"/>
              </a:rPr>
              <a:t> </a:t>
            </a:r>
            <a:r>
              <a:rPr lang="es-CL" sz="6000" spc="-5" dirty="0" err="1">
                <a:solidFill>
                  <a:srgbClr val="FFFFFF"/>
                </a:solidFill>
                <a:latin typeface="Aharoni" panose="02010803020104030203" pitchFamily="2" charset="-79"/>
                <a:cs typeface="Aharoni" panose="02010803020104030203" pitchFamily="2" charset="-79"/>
              </a:rPr>
              <a:t>Manipulation</a:t>
            </a:r>
            <a:r>
              <a:rPr lang="es-CL" sz="6000" spc="-15" dirty="0">
                <a:solidFill>
                  <a:srgbClr val="FFFFFF"/>
                </a:solidFill>
                <a:latin typeface="Aharoni" panose="02010803020104030203" pitchFamily="2" charset="-79"/>
                <a:cs typeface="Aharoni" panose="02010803020104030203" pitchFamily="2" charset="-79"/>
              </a:rPr>
              <a:t> </a:t>
            </a:r>
            <a:r>
              <a:rPr lang="es-CL" sz="6000" spc="-5" dirty="0">
                <a:solidFill>
                  <a:srgbClr val="FFFFFF"/>
                </a:solidFill>
                <a:latin typeface="Aharoni" panose="02010803020104030203" pitchFamily="2" charset="-79"/>
                <a:cs typeface="Aharoni" panose="02010803020104030203" pitchFamily="2" charset="-79"/>
              </a:rPr>
              <a:t>Lang.</a:t>
            </a:r>
            <a:r>
              <a:rPr lang="es-CL" sz="6000" spc="-40" dirty="0">
                <a:solidFill>
                  <a:srgbClr val="FFFFFF"/>
                </a:solidFill>
                <a:latin typeface="Aharoni" panose="02010803020104030203" pitchFamily="2" charset="-79"/>
                <a:cs typeface="Aharoni" panose="02010803020104030203" pitchFamily="2" charset="-79"/>
              </a:rPr>
              <a:t> </a:t>
            </a:r>
            <a:r>
              <a:rPr lang="es-CL" sz="6000" dirty="0">
                <a:solidFill>
                  <a:srgbClr val="FFFFFF"/>
                </a:solidFill>
                <a:latin typeface="Aharoni" panose="02010803020104030203" pitchFamily="2" charset="-79"/>
                <a:cs typeface="Aharoni" panose="02010803020104030203" pitchFamily="2" charset="-79"/>
              </a:rPr>
              <a:t>(DML) </a:t>
            </a:r>
            <a:r>
              <a:rPr lang="es-CL" sz="6000" spc="-869" dirty="0">
                <a:solidFill>
                  <a:srgbClr val="FFFFFF"/>
                </a:solidFill>
                <a:latin typeface="Aharoni" panose="02010803020104030203" pitchFamily="2" charset="-79"/>
                <a:cs typeface="Aharoni" panose="02010803020104030203" pitchFamily="2" charset="-79"/>
              </a:rPr>
              <a:t> </a:t>
            </a:r>
            <a:r>
              <a:rPr lang="es-CL" sz="6000" spc="-15" dirty="0" err="1">
                <a:solidFill>
                  <a:srgbClr val="FFFFFF"/>
                </a:solidFill>
                <a:latin typeface="Aharoni" panose="02010803020104030203" pitchFamily="2" charset="-79"/>
                <a:cs typeface="Aharoni" panose="02010803020104030203" pitchFamily="2" charset="-79"/>
              </a:rPr>
              <a:t>Views</a:t>
            </a:r>
            <a:r>
              <a:rPr lang="es-CL" sz="6000" spc="-5" dirty="0">
                <a:solidFill>
                  <a:srgbClr val="FFFFFF"/>
                </a:solidFill>
                <a:latin typeface="Aharoni" panose="02010803020104030203" pitchFamily="2" charset="-79"/>
                <a:cs typeface="Aharoni" panose="02010803020104030203" pitchFamily="2" charset="-79"/>
              </a:rPr>
              <a:t> </a:t>
            </a:r>
            <a:r>
              <a:rPr lang="es-CL" sz="6000" dirty="0">
                <a:solidFill>
                  <a:srgbClr val="FFFFFF"/>
                </a:solidFill>
                <a:latin typeface="Aharoni" panose="02010803020104030203" pitchFamily="2" charset="-79"/>
                <a:cs typeface="Aharoni" panose="02010803020104030203" pitchFamily="2" charset="-79"/>
              </a:rPr>
              <a:t>&amp; </a:t>
            </a:r>
            <a:r>
              <a:rPr lang="es-CL" sz="6000" spc="-5" dirty="0">
                <a:solidFill>
                  <a:srgbClr val="FFFFFF"/>
                </a:solidFill>
                <a:latin typeface="Aharoni" panose="02010803020104030203" pitchFamily="2" charset="-79"/>
                <a:cs typeface="Aharoni" panose="02010803020104030203" pitchFamily="2" charset="-79"/>
              </a:rPr>
              <a:t>Indexes</a:t>
            </a:r>
            <a:br>
              <a:rPr lang="es-CL" sz="6000" dirty="0"/>
            </a:br>
            <a:endParaRPr lang="es-CL" dirty="0"/>
          </a:p>
        </p:txBody>
      </p:sp>
    </p:spTree>
    <p:extLst>
      <p:ext uri="{BB962C8B-B14F-4D97-AF65-F5344CB8AC3E}">
        <p14:creationId xmlns:p14="http://schemas.microsoft.com/office/powerpoint/2010/main" val="2066372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922011"/>
            <a:ext cx="9446260" cy="1262012"/>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Componentes principales de SQL
</a:t>
            </a:r>
            <a:endParaRPr spc="-5" dirty="0">
              <a:solidFill>
                <a:srgbClr val="FF0000"/>
              </a:solidFill>
              <a:latin typeface="Aharoni" panose="02010803020104030203" pitchFamily="2" charset="-79"/>
              <a:cs typeface="Aharoni" panose="02010803020104030203" pitchFamily="2" charset="-79"/>
            </a:endParaRPr>
          </a:p>
        </p:txBody>
      </p:sp>
      <p:sp>
        <p:nvSpPr>
          <p:cNvPr id="3" name="object 3"/>
          <p:cNvSpPr txBox="1"/>
          <p:nvPr/>
        </p:nvSpPr>
        <p:spPr>
          <a:xfrm>
            <a:off x="914400" y="1698441"/>
            <a:ext cx="9982200" cy="4250523"/>
          </a:xfrm>
          <a:prstGeom prst="rect">
            <a:avLst/>
          </a:prstGeom>
        </p:spPr>
        <p:txBody>
          <a:bodyPr vert="horz" wrap="square" lIns="0" tIns="48895" rIns="0" bIns="0" rtlCol="0">
            <a:spAutoFit/>
          </a:bodyPr>
          <a:lstStyle/>
          <a:p>
            <a:pPr marL="12700" marR="0" lvl="0" indent="0" algn="l" defTabSz="457200" rtl="0" eaLnBrk="1" fontAlgn="auto" latinLnBrk="0" hangingPunct="1">
              <a:lnSpc>
                <a:spcPct val="100000"/>
              </a:lnSpc>
              <a:spcBef>
                <a:spcPts val="385"/>
              </a:spcBef>
              <a:spcAft>
                <a:spcPts val="0"/>
              </a:spcAft>
              <a:buClrTx/>
              <a:buSzTx/>
              <a:buFontTx/>
              <a:buNone/>
              <a:tabLst>
                <a:tab pos="354965" algn="l"/>
                <a:tab pos="355600" algn="l"/>
              </a:tabLst>
              <a:defRPr/>
            </a:pPr>
            <a:r>
              <a:rPr kumimoji="0" sz="2400" b="1" i="0" u="none" strike="noStrike" kern="1200" cap="none" spc="0" normalizeH="0" baseline="0" noProof="0" dirty="0">
                <a:ln>
                  <a:noFill/>
                </a:ln>
                <a:solidFill>
                  <a:srgbClr val="FF0066"/>
                </a:solidFill>
                <a:effectLst/>
                <a:uLnTx/>
                <a:uFillTx/>
                <a:latin typeface="Arial MT"/>
                <a:ea typeface="+mn-ea"/>
                <a:cs typeface="Arial MT"/>
              </a:rPr>
              <a:t>Queries</a:t>
            </a:r>
            <a:endParaRPr kumimoji="0" sz="2400" b="1"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260"/>
              </a:spcBef>
              <a:spcAft>
                <a:spcPts val="0"/>
              </a:spcAft>
              <a:buClrTx/>
              <a:buSzTx/>
              <a:buFontTx/>
              <a:buChar char="–"/>
              <a:tabLst>
                <a:tab pos="75692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Subconjunto de SQL para acceso de solo lectura a la base de datos
</a:t>
            </a:r>
            <a:r>
              <a:rPr kumimoji="0" lang="es-CL" sz="2200" b="0" i="0" u="none" strike="noStrike" kern="1200" cap="none" spc="-5" normalizeH="0" baseline="0" noProof="0" dirty="0">
                <a:ln>
                  <a:noFill/>
                </a:ln>
                <a:solidFill>
                  <a:prstClr val="white"/>
                </a:solidFill>
                <a:effectLst/>
                <a:uLnTx/>
                <a:uFillTx/>
                <a:latin typeface="Arial MT"/>
                <a:ea typeface="+mn-ea"/>
                <a:cs typeface="Arial MT"/>
              </a:rPr>
              <a:t>Instrucciones SELECT</a:t>
            </a:r>
          </a:p>
          <a:p>
            <a:pPr marL="12065" marR="0" lvl="0" indent="0" algn="l" defTabSz="457200" rtl="0" eaLnBrk="1" fontAlgn="auto" latinLnBrk="0" hangingPunct="1">
              <a:lnSpc>
                <a:spcPct val="100000"/>
              </a:lnSpc>
              <a:spcBef>
                <a:spcPts val="260"/>
              </a:spcBef>
              <a:spcAft>
                <a:spcPts val="0"/>
              </a:spcAft>
              <a:buClrTx/>
              <a:buSzTx/>
              <a:buFontTx/>
              <a:buNone/>
              <a:tabLst>
                <a:tab pos="756920" algn="l"/>
              </a:tabLst>
              <a:defRPr/>
            </a:pPr>
            <a:r>
              <a:rPr kumimoji="0" sz="2400" b="1" i="0" u="none" strike="noStrike" kern="1200" cap="none" spc="0" normalizeH="0" baseline="0" noProof="0" dirty="0">
                <a:ln>
                  <a:noFill/>
                </a:ln>
                <a:solidFill>
                  <a:srgbClr val="FF0066"/>
                </a:solidFill>
                <a:effectLst/>
                <a:uLnTx/>
                <a:uFillTx/>
                <a:latin typeface="Arial MT"/>
                <a:ea typeface="+mn-ea"/>
                <a:cs typeface="Arial MT"/>
              </a:rPr>
              <a:t>Data</a:t>
            </a:r>
            <a:r>
              <a:rPr kumimoji="0" sz="2400" b="1" i="0" u="none" strike="noStrike" kern="1200" cap="none" spc="-5" normalizeH="0" baseline="0" noProof="0" dirty="0">
                <a:ln>
                  <a:noFill/>
                </a:ln>
                <a:solidFill>
                  <a:srgbClr val="FF0066"/>
                </a:solidFill>
                <a:effectLst/>
                <a:uLnTx/>
                <a:uFillTx/>
                <a:latin typeface="Arial MT"/>
                <a:ea typeface="+mn-ea"/>
                <a:cs typeface="Arial MT"/>
              </a:rPr>
              <a:t> Definition</a:t>
            </a:r>
            <a:r>
              <a:rPr kumimoji="0" sz="2400" b="1" i="0" u="none" strike="noStrike" kern="1200" cap="none" spc="30" normalizeH="0" baseline="0" noProof="0" dirty="0">
                <a:ln>
                  <a:noFill/>
                </a:ln>
                <a:solidFill>
                  <a:srgbClr val="FF0066"/>
                </a:solidFill>
                <a:effectLst/>
                <a:uLnTx/>
                <a:uFillTx/>
                <a:latin typeface="Arial MT"/>
                <a:ea typeface="+mn-ea"/>
                <a:cs typeface="Arial MT"/>
              </a:rPr>
              <a:t> </a:t>
            </a:r>
            <a:r>
              <a:rPr kumimoji="0" sz="2400" b="1" i="0" u="none" strike="noStrike" kern="1200" cap="none" spc="-5" normalizeH="0" baseline="0" noProof="0" dirty="0">
                <a:ln>
                  <a:noFill/>
                </a:ln>
                <a:solidFill>
                  <a:srgbClr val="FF0066"/>
                </a:solidFill>
                <a:effectLst/>
                <a:uLnTx/>
                <a:uFillTx/>
                <a:latin typeface="Arial MT"/>
                <a:ea typeface="+mn-ea"/>
                <a:cs typeface="Arial MT"/>
              </a:rPr>
              <a:t>Language</a:t>
            </a:r>
            <a:r>
              <a:rPr kumimoji="0" sz="2400" b="1" i="0" u="none" strike="noStrike" kern="1200" cap="none" spc="30" normalizeH="0" baseline="0" noProof="0" dirty="0">
                <a:ln>
                  <a:noFill/>
                </a:ln>
                <a:solidFill>
                  <a:srgbClr val="FF0066"/>
                </a:solidFill>
                <a:effectLst/>
                <a:uLnTx/>
                <a:uFillTx/>
                <a:latin typeface="Arial MT"/>
                <a:ea typeface="+mn-ea"/>
                <a:cs typeface="Arial MT"/>
              </a:rPr>
              <a:t> </a:t>
            </a:r>
            <a:r>
              <a:rPr kumimoji="0" sz="2400" b="1" i="0" u="none" strike="noStrike" kern="1200" cap="none" spc="0" normalizeH="0" baseline="0" noProof="0" dirty="0">
                <a:ln>
                  <a:noFill/>
                </a:ln>
                <a:solidFill>
                  <a:srgbClr val="FF0066"/>
                </a:solidFill>
                <a:effectLst/>
                <a:uLnTx/>
                <a:uFillTx/>
                <a:latin typeface="Arial MT"/>
                <a:ea typeface="+mn-ea"/>
                <a:cs typeface="Arial MT"/>
              </a:rPr>
              <a:t>(DDL)</a:t>
            </a:r>
            <a:endParaRPr kumimoji="0" sz="2400" b="1"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260"/>
              </a:spcBef>
              <a:spcAft>
                <a:spcPts val="0"/>
              </a:spcAft>
              <a:buClrTx/>
              <a:buSzTx/>
              <a:buFontTx/>
              <a:buChar char="–"/>
              <a:tabLst>
                <a:tab pos="75692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Subconjunto de SQL utilizado para describir esquemas de base de datos
Instrucciones CREATE, ALTER, DROP
Tipos de datos
Restricciones de integridad</a:t>
            </a:r>
          </a:p>
          <a:p>
            <a:pPr marL="12065" marR="0" lvl="0" indent="0" algn="l" defTabSz="457200" rtl="0" eaLnBrk="1" fontAlgn="auto" latinLnBrk="0" hangingPunct="1">
              <a:lnSpc>
                <a:spcPct val="100000"/>
              </a:lnSpc>
              <a:spcBef>
                <a:spcPts val="260"/>
              </a:spcBef>
              <a:spcAft>
                <a:spcPts val="0"/>
              </a:spcAft>
              <a:buClrTx/>
              <a:buSzTx/>
              <a:buFontTx/>
              <a:buNone/>
              <a:tabLst>
                <a:tab pos="756920" algn="l"/>
              </a:tabLst>
              <a:defRPr/>
            </a:pPr>
            <a:r>
              <a:rPr kumimoji="0" sz="2400" b="1" i="0" u="none" strike="noStrike" kern="1200" cap="none" spc="-5" normalizeH="0" baseline="0" noProof="0" dirty="0">
                <a:ln>
                  <a:noFill/>
                </a:ln>
                <a:solidFill>
                  <a:srgbClr val="FF0066"/>
                </a:solidFill>
                <a:effectLst/>
                <a:uLnTx/>
                <a:uFillTx/>
                <a:latin typeface="Arial MT"/>
                <a:ea typeface="+mn-ea"/>
                <a:cs typeface="Arial MT"/>
              </a:rPr>
              <a:t>Data</a:t>
            </a:r>
            <a:r>
              <a:rPr kumimoji="0" sz="2400" b="1" i="0" u="none" strike="noStrike" kern="1200" cap="none" spc="5" normalizeH="0" baseline="0" noProof="0" dirty="0">
                <a:ln>
                  <a:noFill/>
                </a:ln>
                <a:solidFill>
                  <a:srgbClr val="FF0066"/>
                </a:solidFill>
                <a:effectLst/>
                <a:uLnTx/>
                <a:uFillTx/>
                <a:latin typeface="Arial MT"/>
                <a:ea typeface="+mn-ea"/>
                <a:cs typeface="Arial MT"/>
              </a:rPr>
              <a:t> </a:t>
            </a:r>
            <a:r>
              <a:rPr kumimoji="0" sz="2400" b="1" i="0" u="none" strike="noStrike" kern="1200" cap="none" spc="-5" normalizeH="0" baseline="0" noProof="0" dirty="0">
                <a:ln>
                  <a:noFill/>
                </a:ln>
                <a:solidFill>
                  <a:srgbClr val="FF0066"/>
                </a:solidFill>
                <a:effectLst/>
                <a:uLnTx/>
                <a:uFillTx/>
                <a:latin typeface="Arial MT"/>
                <a:ea typeface="+mn-ea"/>
                <a:cs typeface="Arial MT"/>
              </a:rPr>
              <a:t>Manipulation</a:t>
            </a:r>
            <a:r>
              <a:rPr kumimoji="0" sz="2400" b="1" i="0" u="none" strike="noStrike" kern="1200" cap="none" spc="50" normalizeH="0" baseline="0" noProof="0" dirty="0">
                <a:ln>
                  <a:noFill/>
                </a:ln>
                <a:solidFill>
                  <a:srgbClr val="FF0066"/>
                </a:solidFill>
                <a:effectLst/>
                <a:uLnTx/>
                <a:uFillTx/>
                <a:latin typeface="Arial MT"/>
                <a:ea typeface="+mn-ea"/>
                <a:cs typeface="Arial MT"/>
              </a:rPr>
              <a:t> </a:t>
            </a:r>
            <a:r>
              <a:rPr kumimoji="0" sz="2400" b="1" i="0" u="none" strike="noStrike" kern="1200" cap="none" spc="-5" normalizeH="0" baseline="0" noProof="0" dirty="0">
                <a:ln>
                  <a:noFill/>
                </a:ln>
                <a:solidFill>
                  <a:srgbClr val="FF0066"/>
                </a:solidFill>
                <a:effectLst/>
                <a:uLnTx/>
                <a:uFillTx/>
                <a:latin typeface="Arial MT"/>
                <a:ea typeface="+mn-ea"/>
                <a:cs typeface="Arial MT"/>
              </a:rPr>
              <a:t>Language</a:t>
            </a:r>
            <a:r>
              <a:rPr kumimoji="0" sz="2400" b="1" i="0" u="none" strike="noStrike" kern="1200" cap="none" spc="40" normalizeH="0" baseline="0" noProof="0" dirty="0">
                <a:ln>
                  <a:noFill/>
                </a:ln>
                <a:solidFill>
                  <a:srgbClr val="FF0066"/>
                </a:solidFill>
                <a:effectLst/>
                <a:uLnTx/>
                <a:uFillTx/>
                <a:latin typeface="Arial MT"/>
                <a:ea typeface="+mn-ea"/>
                <a:cs typeface="Arial MT"/>
              </a:rPr>
              <a:t> </a:t>
            </a:r>
            <a:r>
              <a:rPr kumimoji="0" sz="2400" b="1" i="0" u="none" strike="noStrike" kern="1200" cap="none" spc="0" normalizeH="0" baseline="0" noProof="0" dirty="0">
                <a:ln>
                  <a:noFill/>
                </a:ln>
                <a:solidFill>
                  <a:srgbClr val="FF0066"/>
                </a:solidFill>
                <a:effectLst/>
                <a:uLnTx/>
                <a:uFillTx/>
                <a:latin typeface="Arial MT"/>
                <a:ea typeface="+mn-ea"/>
                <a:cs typeface="Arial MT"/>
              </a:rPr>
              <a:t>(DML)</a:t>
            </a:r>
            <a:endParaRPr kumimoji="0" sz="2400" b="1"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260"/>
              </a:spcBef>
              <a:spcAft>
                <a:spcPts val="0"/>
              </a:spcAft>
              <a:buClrTx/>
              <a:buSzTx/>
              <a:buFontTx/>
              <a:buChar char="–"/>
              <a:tabLst>
                <a:tab pos="75692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Subconjunto de SQL utilizado para manipular datos en bases de datos
Instrucciones INSERT, DELETE, UPDATE</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9682" y="2802528"/>
            <a:ext cx="7011670" cy="468975"/>
          </a:xfrm>
          <a:prstGeom prst="rect">
            <a:avLst/>
          </a:prstGeom>
        </p:spPr>
        <p:txBody>
          <a:bodyPr vert="horz" wrap="square" lIns="0" tIns="13335" rIns="0" bIns="0" rtlCol="0">
            <a:spAutoFit/>
          </a:bodyPr>
          <a:lstStyle/>
          <a:p>
            <a:pPr marL="12700">
              <a:spcBef>
                <a:spcPts val="105"/>
              </a:spcBef>
            </a:pPr>
            <a:r>
              <a:rPr dirty="0">
                <a:solidFill>
                  <a:srgbClr val="FF0000"/>
                </a:solidFill>
                <a:latin typeface="Aharoni" panose="02010803020104030203" pitchFamily="2" charset="-79"/>
                <a:cs typeface="Aharoni" panose="02010803020104030203" pitchFamily="2" charset="-79"/>
              </a:rPr>
              <a:t>D</a:t>
            </a:r>
            <a:r>
              <a:rPr spc="-240" dirty="0">
                <a:solidFill>
                  <a:srgbClr val="FF0000"/>
                </a:solidFill>
                <a:latin typeface="Aharoni" panose="02010803020104030203" pitchFamily="2" charset="-79"/>
                <a:cs typeface="Aharoni" panose="02010803020104030203" pitchFamily="2" charset="-79"/>
              </a:rPr>
              <a:t>A</a:t>
            </a:r>
            <a:r>
              <a:rPr spc="-245" dirty="0">
                <a:solidFill>
                  <a:srgbClr val="FF0000"/>
                </a:solidFill>
                <a:latin typeface="Aharoni" panose="02010803020104030203" pitchFamily="2" charset="-79"/>
                <a:cs typeface="Aharoni" panose="02010803020104030203" pitchFamily="2" charset="-79"/>
              </a:rPr>
              <a:t>T</a:t>
            </a:r>
            <a:r>
              <a:rPr dirty="0">
                <a:solidFill>
                  <a:srgbClr val="FF0000"/>
                </a:solidFill>
                <a:latin typeface="Aharoni" panose="02010803020104030203" pitchFamily="2" charset="-79"/>
                <a:cs typeface="Aharoni" panose="02010803020104030203" pitchFamily="2" charset="-79"/>
              </a:rPr>
              <a:t>A</a:t>
            </a:r>
            <a:r>
              <a:rPr spc="-185" dirty="0">
                <a:solidFill>
                  <a:srgbClr val="FF0000"/>
                </a:solidFill>
                <a:latin typeface="Aharoni" panose="02010803020104030203" pitchFamily="2" charset="-79"/>
                <a:cs typeface="Aharoni" panose="02010803020104030203" pitchFamily="2" charset="-79"/>
              </a:rPr>
              <a:t> </a:t>
            </a:r>
            <a:r>
              <a:rPr dirty="0">
                <a:solidFill>
                  <a:srgbClr val="FF0000"/>
                </a:solidFill>
                <a:latin typeface="Aharoni" panose="02010803020104030203" pitchFamily="2" charset="-79"/>
                <a:cs typeface="Aharoni" panose="02010803020104030203" pitchFamily="2" charset="-79"/>
              </a:rPr>
              <a:t>DEFINIT</a:t>
            </a:r>
            <a:r>
              <a:rPr spc="-10" dirty="0">
                <a:solidFill>
                  <a:srgbClr val="FF0000"/>
                </a:solidFill>
                <a:latin typeface="Aharoni" panose="02010803020104030203" pitchFamily="2" charset="-79"/>
                <a:cs typeface="Aharoni" panose="02010803020104030203" pitchFamily="2" charset="-79"/>
              </a:rPr>
              <a:t>I</a:t>
            </a:r>
            <a:r>
              <a:rPr dirty="0">
                <a:solidFill>
                  <a:srgbClr val="FF0000"/>
                </a:solidFill>
                <a:latin typeface="Aharoni" panose="02010803020104030203" pitchFamily="2" charset="-79"/>
                <a:cs typeface="Aharoni" panose="02010803020104030203" pitchFamily="2" charset="-79"/>
              </a:rPr>
              <a:t>ON</a:t>
            </a:r>
            <a:r>
              <a:rPr spc="-20" dirty="0">
                <a:solidFill>
                  <a:srgbClr val="FF0000"/>
                </a:solidFill>
                <a:latin typeface="Aharoni" panose="02010803020104030203" pitchFamily="2" charset="-79"/>
                <a:cs typeface="Aharoni" panose="02010803020104030203" pitchFamily="2" charset="-79"/>
              </a:rPr>
              <a:t> </a:t>
            </a:r>
            <a:r>
              <a:rPr dirty="0">
                <a:solidFill>
                  <a:srgbClr val="FF0000"/>
                </a:solidFill>
                <a:latin typeface="Aharoni" panose="02010803020104030203" pitchFamily="2" charset="-79"/>
                <a:cs typeface="Aharoni" panose="02010803020104030203" pitchFamily="2" charset="-79"/>
              </a:rPr>
              <a:t>LANGUAGE</a:t>
            </a:r>
            <a:r>
              <a:rPr spc="-25" dirty="0">
                <a:solidFill>
                  <a:srgbClr val="FF0000"/>
                </a:solidFill>
                <a:latin typeface="Aharoni" panose="02010803020104030203" pitchFamily="2" charset="-79"/>
                <a:cs typeface="Aharoni" panose="02010803020104030203" pitchFamily="2" charset="-79"/>
              </a:rPr>
              <a:t> </a:t>
            </a:r>
            <a:r>
              <a:rPr dirty="0">
                <a:solidFill>
                  <a:srgbClr val="FF0000"/>
                </a:solidFill>
                <a:latin typeface="Aharoni" panose="02010803020104030203" pitchFamily="2" charset="-79"/>
                <a:cs typeface="Aharoni" panose="02010803020104030203" pitchFamily="2" charset="-79"/>
              </a:rPr>
              <a:t>(DDL)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49033"/>
            <a:ext cx="9753600" cy="1245084"/>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Crear (declarar) un esquema</a:t>
            </a:r>
            <a:r>
              <a:rPr lang="es-CL" dirty="0">
                <a:solidFill>
                  <a:srgbClr val="FF0000"/>
                </a:solidFill>
              </a:rPr>
              <a:t>
</a:t>
            </a:r>
            <a:endParaRPr spc="-5" dirty="0">
              <a:solidFill>
                <a:srgbClr val="FF0000"/>
              </a:solidFill>
            </a:endParaRPr>
          </a:p>
        </p:txBody>
      </p:sp>
      <p:sp>
        <p:nvSpPr>
          <p:cNvPr id="4" name="object 4"/>
          <p:cNvSpPr txBox="1"/>
          <p:nvPr/>
        </p:nvSpPr>
        <p:spPr>
          <a:xfrm>
            <a:off x="9960609" y="6446926"/>
            <a:ext cx="153670" cy="156068"/>
          </a:xfrm>
          <a:prstGeom prst="rect">
            <a:avLst/>
          </a:prstGeom>
        </p:spPr>
        <p:txBody>
          <a:bodyPr vert="horz" wrap="square" lIns="0" tIns="0" rIns="0" bIns="0" rtlCol="0">
            <a:spAutoFit/>
          </a:bodyPr>
          <a:lstStyle/>
          <a:p>
            <a:pPr marL="38100" marR="0" lvl="0" indent="0" algn="l"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srgbClr val="666666"/>
                </a:solidFill>
                <a:effectLst/>
                <a:uLnTx/>
                <a:uFillTx/>
                <a:latin typeface="Calibri"/>
                <a:ea typeface="+mn-ea"/>
                <a:cs typeface="Calibri"/>
              </a:rPr>
              <a:pPr marL="38100" marR="0" lvl="0" indent="0" algn="l" defTabSz="457200" rtl="0" eaLnBrk="1" fontAlgn="auto" latinLnBrk="0" hangingPunct="1">
                <a:lnSpc>
                  <a:spcPts val="1240"/>
                </a:lnSpc>
                <a:spcBef>
                  <a:spcPts val="0"/>
                </a:spcBef>
                <a:spcAft>
                  <a:spcPts val="0"/>
                </a:spcAft>
                <a:buClrTx/>
                <a:buSzTx/>
                <a:buFontTx/>
                <a:buNone/>
                <a:tabLst/>
                <a:defRPr/>
              </a:pPr>
              <a:t>4</a:t>
            </a:fld>
            <a:endParaRPr kumimoji="0" sz="12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object 3"/>
          <p:cNvSpPr txBox="1"/>
          <p:nvPr/>
        </p:nvSpPr>
        <p:spPr>
          <a:xfrm>
            <a:off x="825366" y="1676400"/>
            <a:ext cx="10680834" cy="4555734"/>
          </a:xfrm>
          <a:prstGeom prst="rect">
            <a:avLst/>
          </a:prstGeom>
        </p:spPr>
        <p:txBody>
          <a:bodyPr vert="horz" wrap="square" lIns="0" tIns="46355" rIns="0" bIns="0" rtlCol="0">
            <a:spAutoFit/>
          </a:bodyPr>
          <a:lstStyle/>
          <a:p>
            <a:pPr marL="12700" marR="0" lvl="0" indent="0" algn="l" defTabSz="457200" rtl="0" eaLnBrk="1" fontAlgn="auto" latinLnBrk="0" hangingPunct="1">
              <a:lnSpc>
                <a:spcPct val="150000"/>
              </a:lnSpc>
              <a:spcBef>
                <a:spcPts val="365"/>
              </a:spcBef>
              <a:spcAft>
                <a:spcPts val="0"/>
              </a:spcAft>
              <a:buClrTx/>
              <a:buSzTx/>
              <a:buFontTx/>
              <a:buNone/>
              <a:tabLst>
                <a:tab pos="354965" algn="l"/>
                <a:tab pos="35560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Un esquema es esencialmente un espacio de nombres. </a:t>
            </a:r>
            <a:r>
              <a:rPr kumimoji="0" lang="es-ES" sz="2000" b="0" i="0" u="none" strike="noStrike" kern="1200" cap="none" spc="0" normalizeH="0" baseline="0" noProof="0" dirty="0">
                <a:ln>
                  <a:noFill/>
                </a:ln>
                <a:solidFill>
                  <a:prstClr val="white"/>
                </a:solidFill>
                <a:effectLst/>
                <a:uLnTx/>
                <a:uFillTx/>
                <a:latin typeface="Arial MT"/>
                <a:ea typeface="+mn-ea"/>
                <a:cs typeface="Arial MT"/>
              </a:rPr>
              <a:t>Contiene objetos con nombre (tablas, tipos de datos, funciones, etc. </a:t>
            </a:r>
            <a:r>
              <a:rPr kumimoji="0" lang="es-ES" sz="2200" b="0" i="0" u="none" strike="noStrike" kern="1200" cap="none" spc="-5" normalizeH="0" baseline="0" noProof="0" dirty="0">
                <a:ln>
                  <a:noFill/>
                </a:ln>
                <a:solidFill>
                  <a:prstClr val="white"/>
                </a:solidFill>
                <a:effectLst/>
                <a:uLnTx/>
                <a:uFillTx/>
                <a:latin typeface="Arial MT"/>
                <a:ea typeface="+mn-ea"/>
                <a:cs typeface="Arial MT"/>
              </a:rPr>
              <a:t>El nombre del esquema debe ser distinto de cualquier nombre de esquema existente en la base de datos actual.</a:t>
            </a:r>
          </a:p>
          <a:p>
            <a:pPr marL="469900" marR="0" lvl="0" indent="0" algn="l" defTabSz="457200" rtl="0" eaLnBrk="1" fontAlgn="auto" latinLnBrk="0" hangingPunct="1">
              <a:lnSpc>
                <a:spcPct val="100000"/>
              </a:lnSpc>
              <a:spcBef>
                <a:spcPts val="245"/>
              </a:spcBef>
              <a:spcAft>
                <a:spcPts val="0"/>
              </a:spcAft>
              <a:buClrTx/>
              <a:buSzTx/>
              <a:buFontTx/>
              <a:buNone/>
              <a:tabLst>
                <a:tab pos="756285" algn="l"/>
              </a:tabLst>
              <a:defRPr/>
            </a:pP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12700" marR="0" lvl="0" indent="0" algn="l" defTabSz="457200" rtl="0" eaLnBrk="1" fontAlgn="auto" latinLnBrk="0" hangingPunct="1">
              <a:lnSpc>
                <a:spcPct val="100000"/>
              </a:lnSpc>
              <a:spcBef>
                <a:spcPts val="270"/>
              </a:spcBef>
              <a:spcAft>
                <a:spcPts val="0"/>
              </a:spcAft>
              <a:buClrTx/>
              <a:buSzTx/>
              <a:buFontTx/>
              <a:buNone/>
              <a:tabLst>
                <a:tab pos="354965" algn="l"/>
                <a:tab pos="355600" algn="l"/>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Sintaxis:
</a:t>
            </a:r>
            <a:r>
              <a:rPr kumimoji="0" sz="2200" b="1" i="0" u="none" strike="noStrike" kern="1200" cap="none" spc="-35" normalizeH="0" baseline="0" noProof="0" dirty="0">
                <a:ln>
                  <a:noFill/>
                </a:ln>
                <a:solidFill>
                  <a:prstClr val="white"/>
                </a:solidFill>
                <a:effectLst/>
                <a:uLnTx/>
                <a:uFillTx/>
                <a:latin typeface="Arial"/>
                <a:ea typeface="+mn-ea"/>
                <a:cs typeface="Arial"/>
              </a:rPr>
              <a:t>CREATE</a:t>
            </a:r>
            <a:r>
              <a:rPr kumimoji="0" sz="2200" b="1" i="0" u="none" strike="noStrike" kern="1200" cap="none" spc="30" normalizeH="0" baseline="0" noProof="0" dirty="0">
                <a:ln>
                  <a:noFill/>
                </a:ln>
                <a:solidFill>
                  <a:prstClr val="white"/>
                </a:solidFill>
                <a:effectLst/>
                <a:uLnTx/>
                <a:uFillTx/>
                <a:latin typeface="Arial"/>
                <a:ea typeface="+mn-ea"/>
                <a:cs typeface="Arial"/>
              </a:rPr>
              <a:t> </a:t>
            </a:r>
            <a:r>
              <a:rPr kumimoji="0" sz="2200" b="1" i="0" u="none" strike="noStrike" kern="1200" cap="none" spc="-5" normalizeH="0" baseline="0" noProof="0" dirty="0">
                <a:ln>
                  <a:noFill/>
                </a:ln>
                <a:solidFill>
                  <a:prstClr val="white"/>
                </a:solidFill>
                <a:effectLst/>
                <a:uLnTx/>
                <a:uFillTx/>
                <a:latin typeface="Arial"/>
                <a:ea typeface="+mn-ea"/>
                <a:cs typeface="Arial"/>
              </a:rPr>
              <a:t>SCHEMA</a:t>
            </a:r>
            <a:r>
              <a:rPr kumimoji="0" sz="2200" b="1" i="0" u="none" strike="noStrike" kern="1200" cap="none" spc="-75"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schemaname</a:t>
            </a:r>
            <a:r>
              <a:rPr kumimoji="0" sz="2200" b="0" i="0" u="none" strike="noStrike" kern="1200" cap="none" spc="25"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sz="2200" b="0" i="0" u="none" strike="noStrike" kern="1200" cap="none" spc="-120" normalizeH="0" baseline="0" noProof="0" dirty="0">
                <a:ln>
                  <a:noFill/>
                </a:ln>
                <a:solidFill>
                  <a:prstClr val="white"/>
                </a:solidFill>
                <a:effectLst/>
                <a:uLnTx/>
                <a:uFillTx/>
                <a:latin typeface="Arial MT"/>
                <a:ea typeface="+mn-ea"/>
                <a:cs typeface="Arial MT"/>
              </a:rPr>
              <a:t> </a:t>
            </a:r>
            <a:r>
              <a:rPr kumimoji="0" sz="2200" b="0" i="0" u="none" strike="noStrike" kern="1200" cap="none" spc="-20" normalizeH="0" baseline="0" noProof="0" dirty="0">
                <a:ln>
                  <a:noFill/>
                </a:ln>
                <a:solidFill>
                  <a:prstClr val="white"/>
                </a:solidFill>
                <a:effectLst/>
                <a:uLnTx/>
                <a:uFillTx/>
                <a:latin typeface="Arial MT"/>
                <a:ea typeface="+mn-ea"/>
                <a:cs typeface="Arial MT"/>
              </a:rPr>
              <a:t>AUTHORIZATION</a:t>
            </a:r>
            <a:r>
              <a:rPr kumimoji="0" lang="es-ES"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username</a:t>
            </a:r>
            <a:r>
              <a:rPr kumimoji="0" sz="2200" b="0" i="0" u="none" strike="noStrike" kern="1200" cap="none" spc="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270"/>
              </a:spcBef>
              <a:spcAft>
                <a:spcPts val="0"/>
              </a:spcAft>
              <a:buClrTx/>
              <a:buSzTx/>
              <a:buFontTx/>
              <a:buNone/>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a:t>
            </a:r>
            <a:r>
              <a:rPr kumimoji="0" lang="es-CL" sz="2200" b="0" i="0" u="none" strike="noStrike" kern="1200" cap="none" spc="-10" normalizeH="0" baseline="0" noProof="0" dirty="0">
                <a:ln>
                  <a:noFill/>
                </a:ln>
                <a:solidFill>
                  <a:prstClr val="white"/>
                </a:solidFill>
                <a:effectLst/>
                <a:uLnTx/>
                <a:uFillTx/>
                <a:latin typeface="Arial MT"/>
                <a:ea typeface="+mn-ea"/>
                <a:cs typeface="Arial MT"/>
              </a:rPr>
              <a:t> </a:t>
            </a:r>
            <a:r>
              <a:rPr kumimoji="0" lang="es-CL" sz="2200" b="0" i="0" u="none" strike="noStrike" kern="1200" cap="none" spc="-5" normalizeH="0" baseline="0" noProof="0" dirty="0" err="1">
                <a:ln>
                  <a:noFill/>
                </a:ln>
                <a:solidFill>
                  <a:prstClr val="white"/>
                </a:solidFill>
                <a:effectLst/>
                <a:uLnTx/>
                <a:uFillTx/>
                <a:latin typeface="Arial MT"/>
                <a:ea typeface="+mn-ea"/>
                <a:cs typeface="Arial MT"/>
              </a:rPr>
              <a:t>schema_element</a:t>
            </a:r>
            <a:r>
              <a:rPr kumimoji="0" lang="es-CL" sz="2200" b="0" i="0" u="none" strike="noStrike" kern="1200" cap="none" spc="25" normalizeH="0" baseline="0" noProof="0" dirty="0">
                <a:ln>
                  <a:noFill/>
                </a:ln>
                <a:solidFill>
                  <a:prstClr val="white"/>
                </a:solidFill>
                <a:effectLst/>
                <a:uLnTx/>
                <a:uFillTx/>
                <a:latin typeface="Arial MT"/>
                <a:ea typeface="+mn-ea"/>
                <a:cs typeface="Arial MT"/>
              </a:rPr>
              <a:t> </a:t>
            </a:r>
            <a:r>
              <a:rPr kumimoji="0" lang="es-CL" sz="2200" b="0" i="0" u="none" strike="noStrike" kern="1200" cap="none" spc="-5" normalizeH="0" baseline="0" noProof="0" dirty="0">
                <a:ln>
                  <a:noFill/>
                </a:ln>
                <a:solidFill>
                  <a:prstClr val="white"/>
                </a:solidFill>
                <a:effectLst/>
                <a:uLnTx/>
                <a:uFillTx/>
                <a:latin typeface="Arial MT"/>
                <a:ea typeface="+mn-ea"/>
                <a:cs typeface="Arial MT"/>
              </a:rPr>
              <a:t>[ ...</a:t>
            </a:r>
            <a:r>
              <a:rPr kumimoji="0" lang="es-CL" sz="2200" b="0" i="0" u="none" strike="noStrike" kern="1200" cap="none" spc="0" normalizeH="0" baseline="0" noProof="0" dirty="0">
                <a:ln>
                  <a:noFill/>
                </a:ln>
                <a:solidFill>
                  <a:prstClr val="white"/>
                </a:solidFill>
                <a:effectLst/>
                <a:uLnTx/>
                <a:uFillTx/>
                <a:latin typeface="Arial MT"/>
                <a:ea typeface="+mn-ea"/>
                <a:cs typeface="Arial MT"/>
              </a:rPr>
              <a:t> </a:t>
            </a:r>
            <a:r>
              <a:rPr kumimoji="0" lang="es-CL" sz="2200" b="0" i="0" u="none" strike="noStrike" kern="1200" cap="none" spc="-5" normalizeH="0" baseline="0" noProof="0" dirty="0">
                <a:ln>
                  <a:noFill/>
                </a:ln>
                <a:solidFill>
                  <a:prstClr val="white"/>
                </a:solidFill>
                <a:effectLst/>
                <a:uLnTx/>
                <a:uFillTx/>
                <a:latin typeface="Arial MT"/>
                <a:ea typeface="+mn-ea"/>
                <a:cs typeface="Arial MT"/>
              </a:rPr>
              <a:t>] ]</a:t>
            </a:r>
            <a:endParaRPr kumimoji="0" lang="es-ES" sz="22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270"/>
              </a:spcBef>
              <a:spcAft>
                <a:spcPts val="0"/>
              </a:spcAft>
              <a:buClrTx/>
              <a:buSzTx/>
              <a:buFontTx/>
              <a:buNone/>
              <a:tabLst/>
              <a:defRPr/>
            </a:pPr>
            <a:endParaRPr kumimoji="0" lang="es-ES" sz="2200" b="0" i="0" u="none" strike="noStrike" kern="1200" cap="none" spc="-5" normalizeH="0" baseline="0" noProof="0" dirty="0">
              <a:ln>
                <a:noFill/>
              </a:ln>
              <a:solidFill>
                <a:srgbClr val="FF0066"/>
              </a:solidFill>
              <a:effectLst/>
              <a:uLnTx/>
              <a:uFillTx/>
              <a:latin typeface="Arial MT"/>
              <a:ea typeface="+mn-ea"/>
              <a:cs typeface="Arial MT"/>
            </a:endParaRPr>
          </a:p>
          <a:p>
            <a:pPr marL="355600" marR="0" lvl="0" indent="0" algn="l" defTabSz="457200" rtl="0" eaLnBrk="1" fontAlgn="auto" latinLnBrk="0" hangingPunct="1">
              <a:lnSpc>
                <a:spcPct val="100000"/>
              </a:lnSpc>
              <a:spcBef>
                <a:spcPts val="270"/>
              </a:spcBef>
              <a:spcAft>
                <a:spcPts val="0"/>
              </a:spcAft>
              <a:buClrTx/>
              <a:buSzTx/>
              <a:buFontTx/>
              <a:buNone/>
              <a:tabLst/>
              <a:defRPr/>
            </a:pPr>
            <a:r>
              <a:rPr kumimoji="0" lang="es-CL" sz="2200" b="0" i="0" u="none" strike="noStrike" kern="1200" cap="none" spc="-5" normalizeH="0" baseline="0" noProof="0" dirty="0">
                <a:ln>
                  <a:noFill/>
                </a:ln>
                <a:solidFill>
                  <a:srgbClr val="FF0066"/>
                </a:solidFill>
                <a:effectLst/>
                <a:uLnTx/>
                <a:uFillTx/>
                <a:latin typeface="Arial MT"/>
                <a:ea typeface="+mn-ea"/>
                <a:cs typeface="Arial MT"/>
              </a:rPr>
              <a:t>Ejemplos</a:t>
            </a:r>
            <a:r>
              <a:rPr kumimoji="0" lang="es-CL" sz="2200" b="0" i="0" u="none" strike="noStrike" kern="1200" cap="none" spc="-5" normalizeH="0" baseline="0" noProof="0" dirty="0">
                <a:ln>
                  <a:noFill/>
                </a:ln>
                <a:solidFill>
                  <a:prstClr val="white"/>
                </a:solidFill>
                <a:effectLst/>
                <a:uLnTx/>
                <a:uFillTx/>
                <a:latin typeface="Arial MT"/>
                <a:ea typeface="+mn-ea"/>
                <a:cs typeface="Arial MT"/>
              </a:rPr>
              <a:t>:</a:t>
            </a:r>
            <a:endParaRPr kumimoji="0" lang="es-CL" sz="22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265"/>
              </a:spcBef>
              <a:spcAft>
                <a:spcPts val="0"/>
              </a:spcAft>
              <a:buClrTx/>
              <a:buSzTx/>
              <a:buFontTx/>
              <a:buNone/>
              <a:tabLst/>
              <a:defRPr/>
            </a:pPr>
            <a:r>
              <a:rPr kumimoji="0" sz="2200" b="1" i="0" u="none" strike="noStrike" kern="1200" cap="none" spc="-35" normalizeH="0" baseline="0" noProof="0" dirty="0">
                <a:ln>
                  <a:noFill/>
                </a:ln>
                <a:solidFill>
                  <a:prstClr val="white"/>
                </a:solidFill>
                <a:effectLst/>
                <a:uLnTx/>
                <a:uFillTx/>
                <a:latin typeface="Arial"/>
                <a:ea typeface="+mn-ea"/>
                <a:cs typeface="Arial"/>
              </a:rPr>
              <a:t>CREATE</a:t>
            </a:r>
            <a:r>
              <a:rPr kumimoji="0" sz="2200" b="1" i="0" u="none" strike="noStrike" kern="1200" cap="none" spc="5" normalizeH="0" baseline="0" noProof="0" dirty="0">
                <a:ln>
                  <a:noFill/>
                </a:ln>
                <a:solidFill>
                  <a:prstClr val="white"/>
                </a:solidFill>
                <a:effectLst/>
                <a:uLnTx/>
                <a:uFillTx/>
                <a:latin typeface="Arial"/>
                <a:ea typeface="+mn-ea"/>
                <a:cs typeface="Arial"/>
              </a:rPr>
              <a:t> </a:t>
            </a:r>
            <a:r>
              <a:rPr kumimoji="0" sz="2200" b="1" i="0" u="none" strike="noStrike" kern="1200" cap="none" spc="-5" normalizeH="0" baseline="0" noProof="0" dirty="0">
                <a:ln>
                  <a:noFill/>
                </a:ln>
                <a:solidFill>
                  <a:prstClr val="white"/>
                </a:solidFill>
                <a:effectLst/>
                <a:uLnTx/>
                <a:uFillTx/>
                <a:latin typeface="Arial"/>
                <a:ea typeface="+mn-ea"/>
                <a:cs typeface="Arial"/>
              </a:rPr>
              <a:t>SCHEMA</a:t>
            </a:r>
            <a:r>
              <a:rPr kumimoji="0" sz="2200" b="1" i="0" u="none" strike="noStrike" kern="1200" cap="none" spc="-9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myschema;</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265"/>
              </a:spcBef>
              <a:spcAft>
                <a:spcPts val="0"/>
              </a:spcAft>
              <a:buClrTx/>
              <a:buSzTx/>
              <a:buFontTx/>
              <a:buNone/>
              <a:tabLst/>
              <a:defRPr/>
            </a:pPr>
            <a:r>
              <a:rPr kumimoji="0" sz="2200" b="1" i="0" u="none" strike="noStrike" kern="1200" cap="none" spc="-35" normalizeH="0" baseline="0" noProof="0" dirty="0">
                <a:ln>
                  <a:noFill/>
                </a:ln>
                <a:solidFill>
                  <a:prstClr val="white"/>
                </a:solidFill>
                <a:effectLst/>
                <a:uLnTx/>
                <a:uFillTx/>
                <a:latin typeface="Arial"/>
                <a:ea typeface="+mn-ea"/>
                <a:cs typeface="Arial"/>
              </a:rPr>
              <a:t>CREATE</a:t>
            </a:r>
            <a:r>
              <a:rPr kumimoji="0" sz="2200" b="1" i="0" u="none" strike="noStrike" kern="1200" cap="none" spc="20" normalizeH="0" baseline="0" noProof="0" dirty="0">
                <a:ln>
                  <a:noFill/>
                </a:ln>
                <a:solidFill>
                  <a:prstClr val="white"/>
                </a:solidFill>
                <a:effectLst/>
                <a:uLnTx/>
                <a:uFillTx/>
                <a:latin typeface="Arial"/>
                <a:ea typeface="+mn-ea"/>
                <a:cs typeface="Arial"/>
              </a:rPr>
              <a:t> </a:t>
            </a:r>
            <a:r>
              <a:rPr kumimoji="0" sz="2200" b="1" i="0" u="none" strike="noStrike" kern="1200" cap="none" spc="-5" normalizeH="0" baseline="0" noProof="0" dirty="0">
                <a:ln>
                  <a:noFill/>
                </a:ln>
                <a:solidFill>
                  <a:prstClr val="white"/>
                </a:solidFill>
                <a:effectLst/>
                <a:uLnTx/>
                <a:uFillTx/>
                <a:latin typeface="Arial"/>
                <a:ea typeface="+mn-ea"/>
                <a:cs typeface="Arial"/>
              </a:rPr>
              <a:t>SCHEMA</a:t>
            </a:r>
            <a:r>
              <a:rPr kumimoji="0" sz="2200" b="1" i="0" u="none" strike="noStrike" kern="1200" cap="none" spc="-9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myschema</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1" i="0" u="none" strike="noStrike" kern="1200" cap="none" spc="-15" normalizeH="0" baseline="0" noProof="0" dirty="0">
                <a:ln>
                  <a:noFill/>
                </a:ln>
                <a:solidFill>
                  <a:prstClr val="white"/>
                </a:solidFill>
                <a:effectLst/>
                <a:uLnTx/>
                <a:uFillTx/>
                <a:latin typeface="Arial"/>
                <a:ea typeface="+mn-ea"/>
                <a:cs typeface="Arial"/>
              </a:rPr>
              <a:t>AUTHORIZATION</a:t>
            </a:r>
            <a:r>
              <a:rPr kumimoji="0" sz="2200" b="1" i="0" u="none" strike="noStrike" kern="1200" cap="none" spc="35" normalizeH="0" baseline="0" noProof="0" dirty="0">
                <a:ln>
                  <a:noFill/>
                </a:ln>
                <a:solidFill>
                  <a:prstClr val="white"/>
                </a:solidFill>
                <a:effectLst/>
                <a:uLnTx/>
                <a:uFillTx/>
                <a:latin typeface="Arial"/>
                <a:ea typeface="+mn-ea"/>
                <a:cs typeface="Arial"/>
              </a:rPr>
              <a:t> </a:t>
            </a:r>
            <a:r>
              <a:rPr kumimoji="0" lang="es-ES" sz="2200" b="0" i="0" u="none" strike="noStrike" kern="1200" cap="none" spc="-5" normalizeH="0" baseline="0" noProof="0" dirty="0" err="1">
                <a:ln>
                  <a:noFill/>
                </a:ln>
                <a:solidFill>
                  <a:prstClr val="white"/>
                </a:solidFill>
                <a:effectLst/>
                <a:uLnTx/>
                <a:uFillTx/>
                <a:latin typeface="Arial MT"/>
                <a:ea typeface="+mn-ea"/>
                <a:cs typeface="Arial MT"/>
              </a:rPr>
              <a:t>user</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771202"/>
            <a:ext cx="9217660" cy="1262012"/>
          </a:xfrm>
          <a:prstGeom prst="rect">
            <a:avLst/>
          </a:prstGeom>
        </p:spPr>
        <p:txBody>
          <a:bodyPr vert="horz" wrap="square" lIns="0" tIns="13335" rIns="0" bIns="0" rtlCol="0">
            <a:spAutoFit/>
          </a:bodyPr>
          <a:lstStyle/>
          <a:p>
            <a:pPr marL="12700">
              <a:spcBef>
                <a:spcPts val="105"/>
              </a:spcBef>
            </a:pPr>
            <a:r>
              <a:rPr lang="es-ES" dirty="0">
                <a:solidFill>
                  <a:srgbClr val="FF0000"/>
                </a:solidFill>
                <a:latin typeface="Aharoni" panose="02010803020104030203" pitchFamily="2" charset="-79"/>
                <a:cs typeface="Aharoni" panose="02010803020104030203" pitchFamily="2" charset="-79"/>
              </a:rPr>
              <a:t>Crear (declarar) una relación/tabla
</a:t>
            </a:r>
            <a:endParaRPr spc="-30" dirty="0">
              <a:solidFill>
                <a:srgbClr val="FF0000"/>
              </a:solidFill>
              <a:latin typeface="Aharoni" panose="02010803020104030203" pitchFamily="2" charset="-79"/>
              <a:cs typeface="Aharoni" panose="02010803020104030203" pitchFamily="2" charset="-79"/>
            </a:endParaRPr>
          </a:p>
        </p:txBody>
      </p:sp>
      <p:sp>
        <p:nvSpPr>
          <p:cNvPr id="4" name="object 4"/>
          <p:cNvSpPr txBox="1"/>
          <p:nvPr/>
        </p:nvSpPr>
        <p:spPr>
          <a:xfrm>
            <a:off x="9960609" y="6446926"/>
            <a:ext cx="153670" cy="156068"/>
          </a:xfrm>
          <a:prstGeom prst="rect">
            <a:avLst/>
          </a:prstGeom>
        </p:spPr>
        <p:txBody>
          <a:bodyPr vert="horz" wrap="square" lIns="0" tIns="0" rIns="0" bIns="0" rtlCol="0">
            <a:spAutoFit/>
          </a:bodyPr>
          <a:lstStyle/>
          <a:p>
            <a:pPr marL="38100" marR="0" lvl="0" indent="0" algn="l"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srgbClr val="666666"/>
                </a:solidFill>
                <a:effectLst/>
                <a:uLnTx/>
                <a:uFillTx/>
                <a:latin typeface="Calibri"/>
                <a:ea typeface="+mn-ea"/>
                <a:cs typeface="Calibri"/>
              </a:rPr>
              <a:pPr marL="38100" marR="0" lvl="0" indent="0" algn="l" defTabSz="457200" rtl="0" eaLnBrk="1" fontAlgn="auto" latinLnBrk="0" hangingPunct="1">
                <a:lnSpc>
                  <a:spcPts val="124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object 3"/>
          <p:cNvSpPr txBox="1"/>
          <p:nvPr/>
        </p:nvSpPr>
        <p:spPr>
          <a:xfrm>
            <a:off x="1066800" y="1752600"/>
            <a:ext cx="7924800" cy="3896003"/>
          </a:xfrm>
          <a:prstGeom prst="rect">
            <a:avLst/>
          </a:prstGeom>
        </p:spPr>
        <p:txBody>
          <a:bodyPr vert="horz" wrap="square" lIns="0" tIns="85725" rIns="0" bIns="0" rtlCol="0">
            <a:spAutoFit/>
          </a:bodyPr>
          <a:lstStyle/>
          <a:p>
            <a:pPr marL="355600" marR="0" lvl="0" indent="-342900" algn="l" defTabSz="457200" rtl="0" eaLnBrk="1" fontAlgn="auto" latinLnBrk="0" hangingPunct="1">
              <a:lnSpc>
                <a:spcPct val="100000"/>
              </a:lnSpc>
              <a:spcBef>
                <a:spcPts val="675"/>
              </a:spcBef>
              <a:spcAft>
                <a:spcPts val="0"/>
              </a:spcAft>
              <a:buClrTx/>
              <a:buSzTx/>
              <a:buFontTx/>
              <a:buChar char="•"/>
              <a:tabLst>
                <a:tab pos="354965" algn="l"/>
                <a:tab pos="355600" algn="l"/>
              </a:tabLst>
              <a:defRPr/>
            </a:pPr>
            <a:r>
              <a:rPr kumimoji="0" lang="es-CL" sz="2400" b="0" i="0" u="none" strike="noStrike" kern="1200" cap="none" spc="-135" normalizeH="0" baseline="0" noProof="0" dirty="0">
                <a:ln>
                  <a:noFill/>
                </a:ln>
                <a:solidFill>
                  <a:prstClr val="white"/>
                </a:solidFill>
                <a:effectLst/>
                <a:uLnTx/>
                <a:uFillTx/>
                <a:latin typeface="Arial MT"/>
                <a:ea typeface="+mn-ea"/>
                <a:cs typeface="Arial MT"/>
              </a:rPr>
              <a:t>Para crear una relación</a:t>
            </a:r>
            <a:r>
              <a:rPr kumimoji="0" sz="2400" b="0" i="0" u="none" strike="noStrike" kern="1200" cap="none" spc="0" normalizeH="0" baseline="0" noProof="0" dirty="0">
                <a:ln>
                  <a:noFill/>
                </a:ln>
                <a:solidFill>
                  <a:prstClr val="white"/>
                </a:solidFill>
                <a:effectLst/>
                <a:uLnTx/>
                <a:uFillTx/>
                <a:latin typeface="Arial MT"/>
                <a:ea typeface="+mn-ea"/>
                <a:cs typeface="Arial MT"/>
              </a:rPr>
              <a:t>:</a:t>
            </a:r>
          </a:p>
          <a:p>
            <a:pPr marL="927100" marR="0" lvl="0" indent="0" algn="l" defTabSz="457200" rtl="0" eaLnBrk="1" fontAlgn="auto" latinLnBrk="0" hangingPunct="1">
              <a:lnSpc>
                <a:spcPct val="100000"/>
              </a:lnSpc>
              <a:spcBef>
                <a:spcPts val="575"/>
              </a:spcBef>
              <a:spcAft>
                <a:spcPts val="0"/>
              </a:spcAft>
              <a:buClrTx/>
              <a:buSzTx/>
              <a:buFontTx/>
              <a:buNone/>
              <a:tabLst/>
              <a:defRPr/>
            </a:pPr>
            <a:r>
              <a:rPr kumimoji="0" sz="2400" b="1" i="0" u="none" strike="noStrike" kern="1200" cap="none" spc="-35" normalizeH="0" baseline="0" noProof="0" dirty="0">
                <a:ln>
                  <a:noFill/>
                </a:ln>
                <a:solidFill>
                  <a:prstClr val="white"/>
                </a:solidFill>
                <a:effectLst/>
                <a:uLnTx/>
                <a:uFillTx/>
                <a:latin typeface="Arial"/>
                <a:ea typeface="+mn-ea"/>
                <a:cs typeface="Arial"/>
              </a:rPr>
              <a:t>CREATE</a:t>
            </a:r>
            <a:r>
              <a:rPr kumimoji="0" sz="2400" b="1" i="0" u="none" strike="noStrike" kern="1200" cap="none" spc="0" normalizeH="0" baseline="0" noProof="0" dirty="0">
                <a:ln>
                  <a:noFill/>
                </a:ln>
                <a:solidFill>
                  <a:prstClr val="white"/>
                </a:solidFill>
                <a:effectLst/>
                <a:uLnTx/>
                <a:uFillTx/>
                <a:latin typeface="Arial"/>
                <a:ea typeface="+mn-ea"/>
                <a:cs typeface="Arial"/>
              </a:rPr>
              <a:t> </a:t>
            </a:r>
            <a:r>
              <a:rPr kumimoji="0" sz="2400" b="1" i="0" u="none" strike="noStrike" kern="1200" cap="none" spc="-40" normalizeH="0" baseline="0" noProof="0" dirty="0">
                <a:ln>
                  <a:noFill/>
                </a:ln>
                <a:solidFill>
                  <a:prstClr val="white"/>
                </a:solidFill>
                <a:effectLst/>
                <a:uLnTx/>
                <a:uFillTx/>
                <a:latin typeface="Arial"/>
                <a:ea typeface="+mn-ea"/>
                <a:cs typeface="Arial"/>
              </a:rPr>
              <a:t>TABLE</a:t>
            </a:r>
            <a:r>
              <a:rPr kumimoji="0" sz="2400" b="1" i="0" u="none" strike="noStrike" kern="1200" cap="none" spc="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&lt;name&gt;</a:t>
            </a:r>
            <a:r>
              <a:rPr kumimoji="0" sz="2400" b="0" i="0" u="none" strike="noStrike" kern="1200" cap="none" spc="-10"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a:t>
            </a:r>
          </a:p>
          <a:p>
            <a:pPr marL="1841500" marR="0" lvl="0" indent="0" algn="l" defTabSz="457200" rtl="0" eaLnBrk="1" fontAlgn="auto" latinLnBrk="0" hangingPunct="1">
              <a:lnSpc>
                <a:spcPct val="100000"/>
              </a:lnSpc>
              <a:spcBef>
                <a:spcPts val="575"/>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&lt;list</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of</a:t>
            </a:r>
            <a:r>
              <a:rPr kumimoji="0" sz="2400" b="0" i="0" u="none" strike="noStrike" kern="1200" cap="none" spc="-2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elements&gt;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927100" marR="0" lvl="0" indent="0" algn="l" defTabSz="457200" rtl="0" eaLnBrk="1" fontAlgn="auto" latinLnBrk="0" hangingPunct="1">
              <a:lnSpc>
                <a:spcPct val="100000"/>
              </a:lnSpc>
              <a:spcBef>
                <a:spcPts val="580"/>
              </a:spcBef>
              <a:spcAft>
                <a:spcPts val="0"/>
              </a:spcAft>
              <a:buClrTx/>
              <a:buSzTx/>
              <a:buFontTx/>
              <a:buNone/>
              <a:tabLst/>
              <a:defRPr/>
            </a:pPr>
            <a:r>
              <a:rPr kumimoji="0" sz="2400" b="0" i="0" u="none" strike="noStrike" kern="1200" cap="none" spc="0" normalizeH="0" baseline="0" noProof="0" dirty="0">
                <a:ln>
                  <a:noFill/>
                </a:ln>
                <a:solidFill>
                  <a:prstClr val="white"/>
                </a:solidFill>
                <a:effectLst/>
                <a:uLnTx/>
                <a:uFillTx/>
                <a:latin typeface="Arial MT"/>
                <a:ea typeface="+mn-ea"/>
                <a:cs typeface="Arial MT"/>
              </a:rPr>
              <a:t>);</a:t>
            </a:r>
          </a:p>
          <a:p>
            <a:pPr marL="355600" marR="0" lvl="0" indent="-342900" algn="l" defTabSz="457200" rtl="0" eaLnBrk="1" fontAlgn="auto" latinLnBrk="0" hangingPunct="1">
              <a:lnSpc>
                <a:spcPct val="100000"/>
              </a:lnSpc>
              <a:spcBef>
                <a:spcPts val="575"/>
              </a:spcBef>
              <a:spcAft>
                <a:spcPts val="0"/>
              </a:spcAft>
              <a:buClrTx/>
              <a:buSzTx/>
              <a:buFontTx/>
              <a:buChar char="•"/>
              <a:tabLst>
                <a:tab pos="354965" algn="l"/>
                <a:tab pos="355600" algn="l"/>
              </a:tabLst>
              <a:defRPr/>
            </a:pPr>
            <a:r>
              <a:rPr kumimoji="0" lang="es-CL" sz="2400" b="0" i="0" u="none" strike="noStrike" kern="1200" cap="none" spc="-135" normalizeH="0" baseline="0" noProof="0" dirty="0">
                <a:ln>
                  <a:noFill/>
                </a:ln>
                <a:solidFill>
                  <a:prstClr val="white"/>
                </a:solidFill>
                <a:effectLst/>
                <a:uLnTx/>
                <a:uFillTx/>
                <a:latin typeface="Arial MT"/>
                <a:ea typeface="+mn-ea"/>
                <a:cs typeface="Arial MT"/>
              </a:rPr>
              <a:t>Para eliminar una relación</a:t>
            </a:r>
            <a:r>
              <a:rPr kumimoji="0" sz="2400" b="0" i="0" u="none" strike="noStrike" kern="1200" cap="none" spc="0" normalizeH="0" baseline="0" noProof="0" dirty="0">
                <a:ln>
                  <a:noFill/>
                </a:ln>
                <a:solidFill>
                  <a:prstClr val="white"/>
                </a:solidFill>
                <a:effectLst/>
                <a:uLnTx/>
                <a:uFillTx/>
                <a:latin typeface="Arial MT"/>
                <a:ea typeface="+mn-ea"/>
                <a:cs typeface="Arial MT"/>
              </a:rPr>
              <a:t>:</a:t>
            </a:r>
          </a:p>
          <a:p>
            <a:pPr marL="927100" marR="0" lvl="0" indent="0" algn="l" defTabSz="457200" rtl="0" eaLnBrk="1" fontAlgn="auto" latinLnBrk="0" hangingPunct="1">
              <a:lnSpc>
                <a:spcPct val="100000"/>
              </a:lnSpc>
              <a:spcBef>
                <a:spcPts val="575"/>
              </a:spcBef>
              <a:spcAft>
                <a:spcPts val="0"/>
              </a:spcAft>
              <a:buClrTx/>
              <a:buSzTx/>
              <a:buFontTx/>
              <a:buNone/>
              <a:tabLst/>
              <a:defRPr/>
            </a:pPr>
            <a:r>
              <a:rPr kumimoji="0" sz="2400" b="1" i="0" u="none" strike="noStrike" kern="1200" cap="none" spc="-5" normalizeH="0" baseline="0" noProof="0" dirty="0">
                <a:ln>
                  <a:noFill/>
                </a:ln>
                <a:solidFill>
                  <a:prstClr val="white"/>
                </a:solidFill>
                <a:effectLst/>
                <a:uLnTx/>
                <a:uFillTx/>
                <a:latin typeface="Arial"/>
                <a:ea typeface="+mn-ea"/>
                <a:cs typeface="Arial"/>
              </a:rPr>
              <a:t>DROP</a:t>
            </a:r>
            <a:r>
              <a:rPr kumimoji="0" sz="2400" b="1" i="0" u="none" strike="noStrike" kern="1200" cap="none" spc="-50" normalizeH="0" baseline="0" noProof="0" dirty="0">
                <a:ln>
                  <a:noFill/>
                </a:ln>
                <a:solidFill>
                  <a:prstClr val="white"/>
                </a:solidFill>
                <a:effectLst/>
                <a:uLnTx/>
                <a:uFillTx/>
                <a:latin typeface="Arial"/>
                <a:ea typeface="+mn-ea"/>
                <a:cs typeface="Arial"/>
              </a:rPr>
              <a:t> </a:t>
            </a:r>
            <a:r>
              <a:rPr kumimoji="0" sz="2400" b="1" i="0" u="none" strike="noStrike" kern="1200" cap="none" spc="-40" normalizeH="0" baseline="0" noProof="0" dirty="0">
                <a:ln>
                  <a:noFill/>
                </a:ln>
                <a:solidFill>
                  <a:prstClr val="white"/>
                </a:solidFill>
                <a:effectLst/>
                <a:uLnTx/>
                <a:uFillTx/>
                <a:latin typeface="Arial"/>
                <a:ea typeface="+mn-ea"/>
                <a:cs typeface="Arial"/>
              </a:rPr>
              <a:t>TABLE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&lt;name&gt;;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354965" marR="5080" lvl="0" indent="-354965" algn="l" defTabSz="457200" rtl="0" eaLnBrk="1" fontAlgn="auto" latinLnBrk="0" hangingPunct="1">
              <a:lnSpc>
                <a:spcPct val="119100"/>
              </a:lnSpc>
              <a:spcBef>
                <a:spcPts val="30"/>
              </a:spcBef>
              <a:spcAft>
                <a:spcPts val="0"/>
              </a:spcAft>
              <a:buClrTx/>
              <a:buSzTx/>
              <a:buFontTx/>
              <a:buChar char="•"/>
              <a:tabLst>
                <a:tab pos="354965" algn="l"/>
                <a:tab pos="355600" algn="l"/>
              </a:tabLst>
              <a:defRPr/>
            </a:pPr>
            <a:r>
              <a:rPr kumimoji="0" lang="es-ES" sz="2400" b="0" i="0" u="none" strike="noStrike" kern="1200" cap="none" spc="-135" normalizeH="0" baseline="0" noProof="0" dirty="0">
                <a:ln>
                  <a:noFill/>
                </a:ln>
                <a:solidFill>
                  <a:prstClr val="white"/>
                </a:solidFill>
                <a:effectLst/>
                <a:uLnTx/>
                <a:uFillTx/>
                <a:latin typeface="Arial MT"/>
                <a:ea typeface="+mn-ea"/>
                <a:cs typeface="Arial MT"/>
              </a:rPr>
              <a:t>Para modificar una relación (agregar o quitar columna): </a:t>
            </a:r>
          </a:p>
          <a:p>
            <a:pPr marL="0" marR="5080" lvl="0" indent="0" algn="l" defTabSz="457200" rtl="0" eaLnBrk="1" fontAlgn="auto" latinLnBrk="0" hangingPunct="1">
              <a:lnSpc>
                <a:spcPct val="119100"/>
              </a:lnSpc>
              <a:spcBef>
                <a:spcPts val="30"/>
              </a:spcBef>
              <a:spcAft>
                <a:spcPts val="0"/>
              </a:spcAft>
              <a:buClrTx/>
              <a:buSzTx/>
              <a:buFontTx/>
              <a:buNone/>
              <a:tabLst>
                <a:tab pos="354965" algn="l"/>
                <a:tab pos="355600" algn="l"/>
              </a:tabLst>
              <a:defRPr/>
            </a:pPr>
            <a:r>
              <a:rPr kumimoji="0" lang="es-ES" sz="2400" b="1" i="0" u="none" strike="noStrike" kern="1200" cap="none" spc="-135" normalizeH="0" baseline="0" noProof="0" dirty="0">
                <a:ln>
                  <a:noFill/>
                </a:ln>
                <a:solidFill>
                  <a:prstClr val="white"/>
                </a:solidFill>
                <a:effectLst/>
                <a:uLnTx/>
                <a:uFillTx/>
                <a:latin typeface="Arial MT"/>
                <a:ea typeface="+mn-ea"/>
                <a:cs typeface="Arial"/>
              </a:rPr>
              <a:t>	</a:t>
            </a:r>
            <a:r>
              <a:rPr kumimoji="0" sz="2200" b="1" i="0" u="none" strike="noStrike" kern="1200" cap="none" spc="-40" normalizeH="0" baseline="0" noProof="0" dirty="0">
                <a:ln>
                  <a:noFill/>
                </a:ln>
                <a:solidFill>
                  <a:prstClr val="white"/>
                </a:solidFill>
                <a:effectLst/>
                <a:uLnTx/>
                <a:uFillTx/>
                <a:latin typeface="Arial"/>
                <a:ea typeface="+mn-ea"/>
                <a:cs typeface="Arial"/>
              </a:rPr>
              <a:t>ALTER</a:t>
            </a:r>
            <a:r>
              <a:rPr kumimoji="0" sz="2200" b="1" i="0" u="none" strike="noStrike" kern="1200" cap="none" spc="15" normalizeH="0" baseline="0" noProof="0" dirty="0">
                <a:ln>
                  <a:noFill/>
                </a:ln>
                <a:solidFill>
                  <a:prstClr val="white"/>
                </a:solidFill>
                <a:effectLst/>
                <a:uLnTx/>
                <a:uFillTx/>
                <a:latin typeface="Arial"/>
                <a:ea typeface="+mn-ea"/>
                <a:cs typeface="Arial"/>
              </a:rPr>
              <a:t> </a:t>
            </a:r>
            <a:r>
              <a:rPr kumimoji="0" sz="2200" b="1" i="0" u="none" strike="noStrike" kern="1200" cap="none" spc="-40" normalizeH="0" baseline="0" noProof="0" dirty="0">
                <a:ln>
                  <a:noFill/>
                </a:ln>
                <a:solidFill>
                  <a:prstClr val="white"/>
                </a:solidFill>
                <a:effectLst/>
                <a:uLnTx/>
                <a:uFillTx/>
                <a:latin typeface="Arial"/>
                <a:ea typeface="+mn-ea"/>
                <a:cs typeface="Arial"/>
              </a:rPr>
              <a:t>TABLE</a:t>
            </a:r>
            <a:r>
              <a:rPr kumimoji="0" sz="2200" b="1" i="0" u="none" strike="noStrike" kern="1200" cap="none" spc="25"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&lt;name&gt;</a:t>
            </a:r>
            <a:r>
              <a:rPr kumimoji="0" sz="2200" b="0" i="0" u="none" strike="noStrike" kern="1200" cap="none" spc="25" normalizeH="0" baseline="0" noProof="0" dirty="0">
                <a:ln>
                  <a:noFill/>
                </a:ln>
                <a:solidFill>
                  <a:prstClr val="white"/>
                </a:solidFill>
                <a:effectLst/>
                <a:uLnTx/>
                <a:uFillTx/>
                <a:latin typeface="Arial MT"/>
                <a:ea typeface="+mn-ea"/>
                <a:cs typeface="Arial MT"/>
              </a:rPr>
              <a:t> </a:t>
            </a:r>
            <a:r>
              <a:rPr kumimoji="0" sz="2200" b="1" i="0" u="none" strike="noStrike" kern="1200" cap="none" spc="-10" normalizeH="0" baseline="0" noProof="0" dirty="0">
                <a:ln>
                  <a:noFill/>
                </a:ln>
                <a:solidFill>
                  <a:prstClr val="white"/>
                </a:solidFill>
                <a:effectLst/>
                <a:uLnTx/>
                <a:uFillTx/>
                <a:latin typeface="Arial"/>
                <a:ea typeface="+mn-ea"/>
                <a:cs typeface="Arial"/>
              </a:rPr>
              <a:t>ADD</a:t>
            </a:r>
            <a:r>
              <a:rPr kumimoji="0" sz="2200" b="1" i="0" u="none" strike="noStrike" kern="1200" cap="none" spc="1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&lt;element&gt; </a:t>
            </a:r>
            <a:r>
              <a:rPr kumimoji="0" sz="2200" b="0" i="0" u="none" strike="noStrike" kern="1200" cap="none" spc="0" normalizeH="0" baseline="0" noProof="0" dirty="0">
                <a:ln>
                  <a:noFill/>
                </a:ln>
                <a:solidFill>
                  <a:prstClr val="white"/>
                </a:solidFill>
                <a:effectLst/>
                <a:uLnTx/>
                <a:uFillTx/>
                <a:latin typeface="Arial MT"/>
                <a:ea typeface="+mn-ea"/>
                <a:cs typeface="Arial MT"/>
              </a:rPr>
              <a:t> </a:t>
            </a:r>
            <a:endParaRPr kumimoji="0" lang="es-ES" sz="2200" b="0" i="0" u="none" strike="noStrike" kern="1200" cap="none" spc="0" normalizeH="0" baseline="0" noProof="0" dirty="0">
              <a:ln>
                <a:noFill/>
              </a:ln>
              <a:solidFill>
                <a:prstClr val="white"/>
              </a:solidFill>
              <a:effectLst/>
              <a:uLnTx/>
              <a:uFillTx/>
              <a:latin typeface="Arial MT"/>
              <a:ea typeface="+mn-ea"/>
              <a:cs typeface="Arial MT"/>
            </a:endParaRPr>
          </a:p>
          <a:p>
            <a:pPr marL="0" marR="5080" lvl="0" indent="0" algn="l" defTabSz="457200" rtl="0" eaLnBrk="1" fontAlgn="auto" latinLnBrk="0" hangingPunct="1">
              <a:lnSpc>
                <a:spcPct val="119100"/>
              </a:lnSpc>
              <a:spcBef>
                <a:spcPts val="30"/>
              </a:spcBef>
              <a:spcAft>
                <a:spcPts val="0"/>
              </a:spcAft>
              <a:buClrTx/>
              <a:buSzTx/>
              <a:buFontTx/>
              <a:buNone/>
              <a:tabLst>
                <a:tab pos="354965" algn="l"/>
                <a:tab pos="355600" algn="l"/>
              </a:tabLst>
              <a:defRPr/>
            </a:pPr>
            <a:r>
              <a:rPr kumimoji="0" lang="es-CL" sz="2200" b="1" i="0" u="none" strike="noStrike" kern="1200" cap="none" spc="-40" normalizeH="0" baseline="0" noProof="0" dirty="0">
                <a:ln>
                  <a:noFill/>
                </a:ln>
                <a:solidFill>
                  <a:prstClr val="white"/>
                </a:solidFill>
                <a:effectLst/>
                <a:uLnTx/>
                <a:uFillTx/>
                <a:latin typeface="Arial MT"/>
                <a:ea typeface="+mn-ea"/>
                <a:cs typeface="Arial"/>
              </a:rPr>
              <a:t>     </a:t>
            </a:r>
            <a:r>
              <a:rPr kumimoji="0" sz="2200" b="1" i="0" u="none" strike="noStrike" kern="1200" cap="none" spc="-40" normalizeH="0" baseline="0" noProof="0" dirty="0">
                <a:ln>
                  <a:noFill/>
                </a:ln>
                <a:solidFill>
                  <a:prstClr val="white"/>
                </a:solidFill>
                <a:effectLst/>
                <a:uLnTx/>
                <a:uFillTx/>
                <a:latin typeface="Arial"/>
                <a:ea typeface="+mn-ea"/>
                <a:cs typeface="Arial"/>
              </a:rPr>
              <a:t>ALTER</a:t>
            </a:r>
            <a:r>
              <a:rPr kumimoji="0" sz="2200" b="1" i="0" u="none" strike="noStrike" kern="1200" cap="none" spc="10" normalizeH="0" baseline="0" noProof="0" dirty="0">
                <a:ln>
                  <a:noFill/>
                </a:ln>
                <a:solidFill>
                  <a:prstClr val="white"/>
                </a:solidFill>
                <a:effectLst/>
                <a:uLnTx/>
                <a:uFillTx/>
                <a:latin typeface="Arial"/>
                <a:ea typeface="+mn-ea"/>
                <a:cs typeface="Arial"/>
              </a:rPr>
              <a:t> </a:t>
            </a:r>
            <a:r>
              <a:rPr kumimoji="0" sz="2200" b="1" i="0" u="none" strike="noStrike" kern="1200" cap="none" spc="-40" normalizeH="0" baseline="0" noProof="0" dirty="0">
                <a:ln>
                  <a:noFill/>
                </a:ln>
                <a:solidFill>
                  <a:prstClr val="white"/>
                </a:solidFill>
                <a:effectLst/>
                <a:uLnTx/>
                <a:uFillTx/>
                <a:latin typeface="Arial"/>
                <a:ea typeface="+mn-ea"/>
                <a:cs typeface="Arial"/>
              </a:rPr>
              <a:t>TABLE</a:t>
            </a:r>
            <a:r>
              <a:rPr kumimoji="0" sz="2200" b="1" i="0" u="none" strike="noStrike" kern="1200" cap="none" spc="2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&lt;name&gt;</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1" i="0" u="none" strike="noStrike" kern="1200" cap="none" spc="-5" normalizeH="0" baseline="0" noProof="0" dirty="0">
                <a:ln>
                  <a:noFill/>
                </a:ln>
                <a:solidFill>
                  <a:prstClr val="white"/>
                </a:solidFill>
                <a:effectLst/>
                <a:uLnTx/>
                <a:uFillTx/>
                <a:latin typeface="Arial"/>
                <a:ea typeface="+mn-ea"/>
                <a:cs typeface="Arial"/>
              </a:rPr>
              <a:t>DROP</a:t>
            </a:r>
            <a:r>
              <a:rPr kumimoji="0" sz="2200" b="1" i="0" u="none" strike="noStrike" kern="1200" cap="none" spc="5"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&lt;element&gt;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838200"/>
            <a:ext cx="8836659" cy="1871410"/>
          </a:xfrm>
          <a:prstGeom prst="rect">
            <a:avLst/>
          </a:prstGeom>
        </p:spPr>
        <p:txBody>
          <a:bodyPr vert="horz" wrap="square" lIns="0" tIns="13335" rIns="0" bIns="0" rtlCol="0">
            <a:spAutoFit/>
          </a:bodyPr>
          <a:lstStyle/>
          <a:p>
            <a:pPr marL="12700">
              <a:spcBef>
                <a:spcPts val="105"/>
              </a:spcBef>
            </a:pPr>
            <a:r>
              <a:rPr lang="es-ES" spc="-5" dirty="0">
                <a:solidFill>
                  <a:srgbClr val="FF0000"/>
                </a:solidFill>
                <a:latin typeface="Aharoni" panose="02010803020104030203" pitchFamily="2" charset="-79"/>
                <a:cs typeface="Aharoni" panose="02010803020104030203" pitchFamily="2" charset="-79"/>
              </a:rPr>
              <a:t>Elementos de las declaraciones de tabla
</a:t>
            </a:r>
            <a:endParaRPr spc="-5" dirty="0">
              <a:solidFill>
                <a:srgbClr val="FF0000"/>
              </a:solidFill>
              <a:latin typeface="Aharoni" panose="02010803020104030203" pitchFamily="2" charset="-79"/>
              <a:cs typeface="Aharoni" panose="02010803020104030203" pitchFamily="2" charset="-79"/>
            </a:endParaRPr>
          </a:p>
        </p:txBody>
      </p:sp>
      <p:sp>
        <p:nvSpPr>
          <p:cNvPr id="3" name="object 3"/>
          <p:cNvSpPr txBox="1"/>
          <p:nvPr/>
        </p:nvSpPr>
        <p:spPr>
          <a:xfrm>
            <a:off x="990600" y="2286000"/>
            <a:ext cx="10896600" cy="3088666"/>
          </a:xfrm>
          <a:prstGeom prst="rect">
            <a:avLst/>
          </a:prstGeom>
        </p:spPr>
        <p:txBody>
          <a:bodyPr vert="horz" wrap="square" lIns="0" tIns="48895" rIns="0" bIns="0" rtlCol="0">
            <a:spAutoFit/>
          </a:bodyPr>
          <a:lstStyle/>
          <a:p>
            <a:pPr marL="355600" marR="0" lvl="0" indent="-342900" algn="l" defTabSz="457200" rtl="0" eaLnBrk="1" fontAlgn="auto" latinLnBrk="0" hangingPunct="1">
              <a:lnSpc>
                <a:spcPct val="100000"/>
              </a:lnSpc>
              <a:spcBef>
                <a:spcPts val="385"/>
              </a:spcBef>
              <a:spcAft>
                <a:spcPts val="0"/>
              </a:spcAft>
              <a:buClrTx/>
              <a:buSzTx/>
              <a:buFontTx/>
              <a:buChar char="•"/>
              <a:tabLst>
                <a:tab pos="354965" algn="l"/>
                <a:tab pos="355600" algn="l"/>
              </a:tabLst>
              <a:defRPr/>
            </a:pPr>
            <a:r>
              <a:rPr kumimoji="0" lang="es-CL" sz="2400" b="0" i="0" u="none" strike="noStrike" kern="1200" cap="none" spc="-5" normalizeH="0" baseline="0" noProof="0" dirty="0">
                <a:ln>
                  <a:noFill/>
                </a:ln>
                <a:solidFill>
                  <a:prstClr val="white"/>
                </a:solidFill>
                <a:effectLst/>
                <a:uLnTx/>
                <a:uFillTx/>
                <a:latin typeface="Arial MT"/>
                <a:ea typeface="+mn-ea"/>
                <a:cs typeface="Arial MT"/>
              </a:rPr>
              <a:t>Elementos</a:t>
            </a:r>
            <a:r>
              <a:rPr kumimoji="0" sz="2400" b="0" i="0" u="none" strike="noStrike" kern="1200" cap="none" spc="-5"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260"/>
              </a:spcBef>
              <a:spcAft>
                <a:spcPts val="0"/>
              </a:spcAft>
              <a:buClrTx/>
              <a:buSzTx/>
              <a:buFontTx/>
              <a:buChar char="–"/>
              <a:tabLst>
                <a:tab pos="756920" algn="l"/>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Atributos y su tipo
Restricciones</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342900" algn="l" defTabSz="457200" rtl="0" eaLnBrk="1" fontAlgn="auto" latinLnBrk="0" hangingPunct="1">
              <a:lnSpc>
                <a:spcPct val="100000"/>
              </a:lnSpc>
              <a:spcBef>
                <a:spcPts val="295"/>
              </a:spcBef>
              <a:spcAft>
                <a:spcPts val="0"/>
              </a:spcAft>
              <a:buClrTx/>
              <a:buSzTx/>
              <a:buFontTx/>
              <a:buChar char="•"/>
              <a:tabLst>
                <a:tab pos="354965" algn="l"/>
                <a:tab pos="355600" algn="l"/>
              </a:tabLst>
              <a:defRPr/>
            </a:pPr>
            <a:r>
              <a:rPr kumimoji="0" lang="es-ES" sz="2400" b="0" i="0" u="none" strike="noStrike" kern="1200" cap="none" spc="0" normalizeH="0" baseline="0" noProof="0" dirty="0">
                <a:ln>
                  <a:noFill/>
                </a:ln>
                <a:solidFill>
                  <a:prstClr val="white"/>
                </a:solidFill>
                <a:effectLst/>
                <a:uLnTx/>
                <a:uFillTx/>
                <a:latin typeface="Arial MT"/>
                <a:ea typeface="+mn-ea"/>
                <a:cs typeface="Arial MT"/>
              </a:rPr>
              <a:t>Los tipos más comunes son</a:t>
            </a:r>
            <a:r>
              <a:rPr kumimoji="0" sz="2400" b="0" i="0" u="none" strike="noStrike" kern="1200" cap="none" spc="0" normalizeH="0" baseline="0" noProof="0" dirty="0">
                <a:ln>
                  <a:noFill/>
                </a:ln>
                <a:solidFill>
                  <a:prstClr val="white"/>
                </a:solidFill>
                <a:effectLst/>
                <a:uLnTx/>
                <a:uFillTx/>
                <a:latin typeface="Arial MT"/>
                <a:ea typeface="+mn-ea"/>
                <a:cs typeface="Arial MT"/>
              </a:rPr>
              <a:t>:</a:t>
            </a:r>
          </a:p>
          <a:p>
            <a:pPr marL="756285" marR="0" lvl="1" indent="-287020" algn="l" defTabSz="457200" rtl="0" eaLnBrk="1" fontAlgn="auto" latinLnBrk="0" hangingPunct="1">
              <a:lnSpc>
                <a:spcPct val="100000"/>
              </a:lnSpc>
              <a:spcBef>
                <a:spcPts val="260"/>
              </a:spcBef>
              <a:spcAft>
                <a:spcPts val="0"/>
              </a:spcAft>
              <a:buClrTx/>
              <a:buSzTx/>
              <a:buFontTx/>
              <a:buChar char="–"/>
              <a:tabLst>
                <a:tab pos="756920" algn="l"/>
              </a:tabLst>
              <a:defRPr/>
            </a:pPr>
            <a:r>
              <a:rPr kumimoji="0" sz="2200" b="0" i="0" u="none" strike="noStrike" kern="1200" cap="none" spc="-5" normalizeH="0" baseline="0" noProof="0" dirty="0">
                <a:ln>
                  <a:noFill/>
                </a:ln>
                <a:solidFill>
                  <a:prstClr val="white"/>
                </a:solidFill>
                <a:effectLst/>
                <a:uLnTx/>
                <a:uFillTx/>
                <a:latin typeface="Arial MT"/>
                <a:ea typeface="+mn-ea"/>
                <a:cs typeface="Arial MT"/>
              </a:rPr>
              <a:t>INT</a:t>
            </a:r>
            <a:r>
              <a:rPr kumimoji="0" sz="2200" b="0" i="0" u="none" strike="noStrike" kern="1200" cap="none" spc="-4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or</a:t>
            </a:r>
            <a:r>
              <a:rPr kumimoji="0" sz="2200" b="0" i="0" u="none" strike="noStrike" kern="1200" cap="none" spc="-15"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INTEGER</a:t>
            </a:r>
            <a:r>
              <a:rPr kumimoji="0" sz="2200" b="0" i="0" u="none" strike="noStrike" kern="1200" cap="none" spc="5"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lang="es-CL" sz="2200" b="0" i="0" u="none" strike="noStrike" kern="1200" cap="none" spc="-5" normalizeH="0" baseline="0" noProof="0" dirty="0">
                <a:ln>
                  <a:noFill/>
                </a:ln>
                <a:solidFill>
                  <a:prstClr val="white"/>
                </a:solidFill>
                <a:effectLst/>
                <a:uLnTx/>
                <a:uFillTx/>
                <a:latin typeface="Arial MT"/>
                <a:ea typeface="+mn-ea"/>
                <a:cs typeface="Arial MT"/>
              </a:rPr>
              <a:t>Sinónimos</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265"/>
              </a:spcBef>
              <a:spcAft>
                <a:spcPts val="0"/>
              </a:spcAft>
              <a:buClrTx/>
              <a:buSzTx/>
              <a:buFontTx/>
              <a:buChar char="–"/>
              <a:tabLst>
                <a:tab pos="756920" algn="l"/>
              </a:tabLst>
              <a:defRPr/>
            </a:pPr>
            <a:r>
              <a:rPr kumimoji="0" sz="2200" b="0" i="0" u="none" strike="noStrike" kern="1200" cap="none" spc="-5" normalizeH="0" baseline="0" noProof="0" dirty="0">
                <a:ln>
                  <a:noFill/>
                </a:ln>
                <a:solidFill>
                  <a:prstClr val="white"/>
                </a:solidFill>
                <a:effectLst/>
                <a:uLnTx/>
                <a:uFillTx/>
                <a:latin typeface="Arial MT"/>
                <a:ea typeface="+mn-ea"/>
                <a:cs typeface="Arial MT"/>
              </a:rPr>
              <a:t>REAL</a:t>
            </a:r>
            <a:r>
              <a:rPr kumimoji="0" sz="2200" b="0" i="0" u="none" strike="noStrike" kern="1200" cap="none" spc="-10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or</a:t>
            </a:r>
            <a:r>
              <a:rPr kumimoji="0" sz="2200" b="0" i="0" u="none" strike="noStrike" kern="1200" cap="none" spc="5" normalizeH="0" baseline="0" noProof="0" dirty="0">
                <a:ln>
                  <a:noFill/>
                </a:ln>
                <a:solidFill>
                  <a:prstClr val="white"/>
                </a:solidFill>
                <a:effectLst/>
                <a:uLnTx/>
                <a:uFillTx/>
                <a:latin typeface="Arial MT"/>
                <a:ea typeface="+mn-ea"/>
                <a:cs typeface="Arial MT"/>
              </a:rPr>
              <a:t> </a:t>
            </a:r>
            <a:r>
              <a:rPr kumimoji="0" sz="2200" b="0" i="0" u="none" strike="noStrike" kern="1200" cap="none" spc="-40" normalizeH="0" baseline="0" noProof="0" dirty="0">
                <a:ln>
                  <a:noFill/>
                </a:ln>
                <a:solidFill>
                  <a:prstClr val="white"/>
                </a:solidFill>
                <a:effectLst/>
                <a:uLnTx/>
                <a:uFillTx/>
                <a:latin typeface="Arial MT"/>
                <a:ea typeface="+mn-ea"/>
                <a:cs typeface="Arial MT"/>
              </a:rPr>
              <a:t>FLOAT</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lang="es-CL" sz="2200" b="0" i="0" u="none" strike="noStrike" kern="1200" cap="none" spc="-5" normalizeH="0" baseline="0" noProof="0" dirty="0">
                <a:ln>
                  <a:noFill/>
                </a:ln>
                <a:solidFill>
                  <a:prstClr val="white"/>
                </a:solidFill>
                <a:effectLst/>
                <a:uLnTx/>
                <a:uFillTx/>
                <a:latin typeface="Arial MT"/>
                <a:ea typeface="+mn-ea"/>
                <a:cs typeface="Arial MT"/>
              </a:rPr>
              <a:t>Sinónimos</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265"/>
              </a:spcBef>
              <a:spcAft>
                <a:spcPts val="0"/>
              </a:spcAft>
              <a:buClrTx/>
              <a:buSzTx/>
              <a:buFontTx/>
              <a:buChar char="–"/>
              <a:tabLst>
                <a:tab pos="756920" algn="l"/>
              </a:tabLst>
              <a:defRPr/>
            </a:pPr>
            <a:r>
              <a:rPr kumimoji="0" sz="2200" b="0" i="0" u="none" strike="noStrike" kern="1200" cap="none" spc="-5" normalizeH="0" baseline="0" noProof="0" dirty="0">
                <a:ln>
                  <a:noFill/>
                </a:ln>
                <a:solidFill>
                  <a:prstClr val="white"/>
                </a:solidFill>
                <a:effectLst/>
                <a:uLnTx/>
                <a:uFillTx/>
                <a:latin typeface="Arial MT"/>
                <a:ea typeface="+mn-ea"/>
                <a:cs typeface="Arial MT"/>
              </a:rPr>
              <a:t>CHAR(</a:t>
            </a:r>
            <a:r>
              <a:rPr kumimoji="0" sz="2200" b="0" i="1" u="none" strike="noStrike" kern="1200" cap="none" spc="-5" normalizeH="0" baseline="0" noProof="0" dirty="0">
                <a:ln>
                  <a:noFill/>
                </a:ln>
                <a:solidFill>
                  <a:prstClr val="white"/>
                </a:solidFill>
                <a:effectLst/>
                <a:uLnTx/>
                <a:uFillTx/>
                <a:latin typeface="Arial"/>
                <a:ea typeface="+mn-ea"/>
                <a:cs typeface="Arial"/>
              </a:rPr>
              <a:t>n</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sz="2200" b="0" i="0" u="none" strike="noStrike" kern="1200" cap="none" spc="0" normalizeH="0" baseline="0" noProof="0" dirty="0">
                <a:ln>
                  <a:noFill/>
                </a:ln>
                <a:solidFill>
                  <a:prstClr val="white"/>
                </a:solidFill>
                <a:effectLst/>
                <a:uLnTx/>
                <a:uFillTx/>
                <a:latin typeface="Arial MT"/>
                <a:ea typeface="+mn-ea"/>
                <a:cs typeface="Arial MT"/>
              </a:rPr>
              <a:t> </a:t>
            </a:r>
            <a:r>
              <a:rPr kumimoji="0" lang="es-CL" sz="2200" b="0" i="0" u="none" strike="noStrike" kern="1200" cap="none" spc="-5" normalizeH="0" baseline="0" noProof="0" dirty="0">
                <a:ln>
                  <a:noFill/>
                </a:ln>
                <a:solidFill>
                  <a:prstClr val="white"/>
                </a:solidFill>
                <a:effectLst/>
                <a:uLnTx/>
                <a:uFillTx/>
                <a:latin typeface="Arial MT"/>
                <a:ea typeface="+mn-ea"/>
                <a:cs typeface="Arial MT"/>
              </a:rPr>
              <a:t>cadena de longitud fija de n caracteres</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265"/>
              </a:spcBef>
              <a:spcAft>
                <a:spcPts val="0"/>
              </a:spcAft>
              <a:buClrTx/>
              <a:buSzTx/>
              <a:buFontTx/>
              <a:buChar char="–"/>
              <a:tabLst>
                <a:tab pos="756920" algn="l"/>
              </a:tabLst>
              <a:defRPr/>
            </a:pPr>
            <a:r>
              <a:rPr kumimoji="0" sz="2200" b="0" i="0" u="none" strike="noStrike" kern="1200" cap="none" spc="-25" normalizeH="0" baseline="0" noProof="0" dirty="0">
                <a:ln>
                  <a:noFill/>
                </a:ln>
                <a:solidFill>
                  <a:prstClr val="white"/>
                </a:solidFill>
                <a:effectLst/>
                <a:uLnTx/>
                <a:uFillTx/>
                <a:latin typeface="Arial MT"/>
                <a:ea typeface="+mn-ea"/>
                <a:cs typeface="Arial MT"/>
              </a:rPr>
              <a:t>VARCHAR(</a:t>
            </a:r>
            <a:r>
              <a:rPr kumimoji="0" sz="2200" b="0" i="1" u="none" strike="noStrike" kern="1200" cap="none" spc="-25" normalizeH="0" baseline="0" noProof="0" dirty="0">
                <a:ln>
                  <a:noFill/>
                </a:ln>
                <a:solidFill>
                  <a:prstClr val="white"/>
                </a:solidFill>
                <a:effectLst/>
                <a:uLnTx/>
                <a:uFillTx/>
                <a:latin typeface="Arial"/>
                <a:ea typeface="+mn-ea"/>
                <a:cs typeface="Arial"/>
              </a:rPr>
              <a:t>n</a:t>
            </a:r>
            <a:r>
              <a:rPr kumimoji="0" sz="2200" b="0" i="0" u="none" strike="noStrike" kern="1200" cap="none" spc="-25" normalizeH="0" baseline="0" noProof="0" dirty="0">
                <a:ln>
                  <a:noFill/>
                </a:ln>
                <a:solidFill>
                  <a:prstClr val="white"/>
                </a:solidFill>
                <a:effectLst/>
                <a:uLnTx/>
                <a:uFillTx/>
                <a:latin typeface="Arial MT"/>
                <a:ea typeface="+mn-ea"/>
                <a:cs typeface="Arial MT"/>
              </a:rPr>
              <a:t>)</a:t>
            </a:r>
            <a:r>
              <a:rPr kumimoji="0" sz="2200" b="0" i="0" u="none" strike="noStrike" kern="1200" cap="none" spc="3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lang="es-ES" sz="2200" b="0" i="0" u="none" strike="noStrike" kern="1200" cap="none" spc="-5" normalizeH="0" baseline="0" noProof="0" dirty="0">
                <a:ln>
                  <a:noFill/>
                </a:ln>
                <a:solidFill>
                  <a:prstClr val="white"/>
                </a:solidFill>
                <a:effectLst/>
                <a:uLnTx/>
                <a:uFillTx/>
                <a:latin typeface="Arial MT"/>
                <a:ea typeface="+mn-ea"/>
                <a:cs typeface="Arial MT"/>
              </a:rPr>
              <a:t>Cadena de longitud variable de hasta n caracteres</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743970"/>
            <a:ext cx="5864860" cy="1245084"/>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Ejemplos</a:t>
            </a:r>
            <a:r>
              <a:rPr lang="es-CL" dirty="0">
                <a:solidFill>
                  <a:srgbClr val="FF0000"/>
                </a:solidFill>
              </a:rPr>
              <a:t>
</a:t>
            </a:r>
            <a:endParaRPr dirty="0">
              <a:solidFill>
                <a:srgbClr val="FF0000"/>
              </a:solidFill>
            </a:endParaRPr>
          </a:p>
        </p:txBody>
      </p:sp>
      <p:sp>
        <p:nvSpPr>
          <p:cNvPr id="7" name="object 7"/>
          <p:cNvSpPr txBox="1"/>
          <p:nvPr/>
        </p:nvSpPr>
        <p:spPr>
          <a:xfrm>
            <a:off x="9960609" y="6446926"/>
            <a:ext cx="153670" cy="156068"/>
          </a:xfrm>
          <a:prstGeom prst="rect">
            <a:avLst/>
          </a:prstGeom>
        </p:spPr>
        <p:txBody>
          <a:bodyPr vert="horz" wrap="square" lIns="0" tIns="0" rIns="0" bIns="0" rtlCol="0">
            <a:spAutoFit/>
          </a:bodyPr>
          <a:lstStyle/>
          <a:p>
            <a:pPr marL="38100" marR="0" lvl="0" indent="0" algn="l"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srgbClr val="666666"/>
                </a:solidFill>
                <a:effectLst/>
                <a:uLnTx/>
                <a:uFillTx/>
                <a:latin typeface="Calibri"/>
                <a:ea typeface="+mn-ea"/>
                <a:cs typeface="Calibri"/>
              </a:rPr>
              <a:pPr marL="38100" marR="0" lvl="0" indent="0" algn="l" defTabSz="457200" rtl="0" eaLnBrk="1" fontAlgn="auto" latinLnBrk="0" hangingPunct="1">
                <a:lnSpc>
                  <a:spcPts val="124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object 3"/>
          <p:cNvSpPr txBox="1"/>
          <p:nvPr/>
        </p:nvSpPr>
        <p:spPr>
          <a:xfrm>
            <a:off x="1295400" y="1462887"/>
            <a:ext cx="4323080" cy="968375"/>
          </a:xfrm>
          <a:prstGeom prst="rect">
            <a:avLst/>
          </a:prstGeom>
        </p:spPr>
        <p:txBody>
          <a:bodyPr vert="horz" wrap="square" lIns="0" tIns="160655" rIns="0" bIns="0" rtlCol="0">
            <a:spAutoFit/>
          </a:bodyPr>
          <a:lstStyle/>
          <a:p>
            <a:pPr marL="12700" marR="0" lvl="0" indent="0" algn="l" defTabSz="457200" rtl="0" eaLnBrk="1" fontAlgn="auto" latinLnBrk="0" hangingPunct="1">
              <a:lnSpc>
                <a:spcPct val="100000"/>
              </a:lnSpc>
              <a:spcBef>
                <a:spcPts val="1265"/>
              </a:spcBef>
              <a:spcAft>
                <a:spcPts val="0"/>
              </a:spcAft>
              <a:buClrTx/>
              <a:buSzTx/>
              <a:buFontTx/>
              <a:buNone/>
              <a:tabLst>
                <a:tab pos="354965" algn="l"/>
                <a:tab pos="355600" algn="l"/>
              </a:tabLst>
              <a:defRPr/>
            </a:pPr>
            <a:r>
              <a:rPr kumimoji="0" lang="es-CL" sz="2400" b="0" i="0" u="none" strike="noStrike" kern="1200" cap="none" spc="-135" normalizeH="0" baseline="0" noProof="0" dirty="0">
                <a:ln>
                  <a:noFill/>
                </a:ln>
                <a:solidFill>
                  <a:prstClr val="white"/>
                </a:solidFill>
                <a:effectLst/>
                <a:uLnTx/>
                <a:uFillTx/>
                <a:latin typeface="Arial MT"/>
                <a:ea typeface="+mn-ea"/>
                <a:cs typeface="Arial MT"/>
              </a:rPr>
              <a:t>Para crear una relación</a:t>
            </a:r>
            <a:r>
              <a:rPr kumimoji="0" sz="2400" b="0" i="0" u="none" strike="noStrike" kern="1200" cap="none" spc="0" normalizeH="0" baseline="0" noProof="0" dirty="0">
                <a:ln>
                  <a:noFill/>
                </a:ln>
                <a:solidFill>
                  <a:prstClr val="white"/>
                </a:solidFill>
                <a:effectLst/>
                <a:uLnTx/>
                <a:uFillTx/>
                <a:latin typeface="Arial MT"/>
                <a:ea typeface="+mn-ea"/>
                <a:cs typeface="Arial MT"/>
              </a:rPr>
              <a:t>:</a:t>
            </a:r>
          </a:p>
          <a:p>
            <a:pPr marL="927100" marR="0" lvl="0" indent="0" algn="l" defTabSz="457200" rtl="0" eaLnBrk="1" fontAlgn="auto" latinLnBrk="0" hangingPunct="1">
              <a:lnSpc>
                <a:spcPct val="100000"/>
              </a:lnSpc>
              <a:spcBef>
                <a:spcPts val="975"/>
              </a:spcBef>
              <a:spcAft>
                <a:spcPts val="0"/>
              </a:spcAft>
              <a:buClrTx/>
              <a:buSzTx/>
              <a:buFontTx/>
              <a:buNone/>
              <a:tabLst/>
              <a:defRPr/>
            </a:pPr>
            <a:r>
              <a:rPr kumimoji="0" sz="2000" b="1" i="0" u="none" strike="noStrike" kern="1200" cap="none" spc="-25" normalizeH="0" baseline="0" noProof="0" dirty="0">
                <a:ln>
                  <a:noFill/>
                </a:ln>
                <a:solidFill>
                  <a:prstClr val="white"/>
                </a:solidFill>
                <a:effectLst/>
                <a:uLnTx/>
                <a:uFillTx/>
                <a:latin typeface="Arial"/>
                <a:ea typeface="+mn-ea"/>
                <a:cs typeface="Arial"/>
              </a:rPr>
              <a:t>CREATE</a:t>
            </a:r>
            <a:r>
              <a:rPr kumimoji="0" sz="2000" b="1" i="0" u="none" strike="noStrike" kern="1200" cap="none" spc="-20" normalizeH="0" baseline="0" noProof="0" dirty="0">
                <a:ln>
                  <a:noFill/>
                </a:ln>
                <a:solidFill>
                  <a:prstClr val="white"/>
                </a:solidFill>
                <a:effectLst/>
                <a:uLnTx/>
                <a:uFillTx/>
                <a:latin typeface="Arial"/>
                <a:ea typeface="+mn-ea"/>
                <a:cs typeface="Arial"/>
              </a:rPr>
              <a:t> </a:t>
            </a:r>
            <a:r>
              <a:rPr kumimoji="0" sz="2000" b="1" i="0" u="none" strike="noStrike" kern="1200" cap="none" spc="-30" normalizeH="0" baseline="0" noProof="0" dirty="0">
                <a:ln>
                  <a:noFill/>
                </a:ln>
                <a:solidFill>
                  <a:prstClr val="white"/>
                </a:solidFill>
                <a:effectLst/>
                <a:uLnTx/>
                <a:uFillTx/>
                <a:latin typeface="Arial"/>
                <a:ea typeface="+mn-ea"/>
                <a:cs typeface="Arial"/>
              </a:rPr>
              <a:t>TABLE</a:t>
            </a:r>
            <a:r>
              <a:rPr kumimoji="0" sz="2000" b="1" i="0" u="none" strike="noStrike" kern="1200" cap="none" spc="-20" normalizeH="0" baseline="0" noProof="0" dirty="0">
                <a:ln>
                  <a:noFill/>
                </a:ln>
                <a:solidFill>
                  <a:prstClr val="white"/>
                </a:solidFill>
                <a:effectLst/>
                <a:uLnTx/>
                <a:uFillTx/>
                <a:latin typeface="Arial"/>
                <a:ea typeface="+mn-ea"/>
                <a:cs typeface="Arial"/>
              </a:rPr>
              <a:t> </a:t>
            </a:r>
            <a:r>
              <a:rPr kumimoji="0" sz="2000" b="0" i="0" u="none" strike="noStrike" kern="1200" cap="none" spc="0" normalizeH="0" baseline="0" noProof="0" dirty="0">
                <a:ln>
                  <a:noFill/>
                </a:ln>
                <a:solidFill>
                  <a:prstClr val="white"/>
                </a:solidFill>
                <a:effectLst/>
                <a:uLnTx/>
                <a:uFillTx/>
                <a:latin typeface="Arial MT"/>
                <a:ea typeface="+mn-ea"/>
                <a:cs typeface="Arial MT"/>
              </a:rPr>
              <a:t>employees</a:t>
            </a:r>
            <a:r>
              <a:rPr kumimoji="0" sz="2000" b="0" i="0" u="none" strike="noStrike" kern="1200" cap="none" spc="-3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a:t>
            </a:r>
          </a:p>
        </p:txBody>
      </p:sp>
      <p:sp>
        <p:nvSpPr>
          <p:cNvPr id="4" name="object 4"/>
          <p:cNvSpPr txBox="1"/>
          <p:nvPr/>
        </p:nvSpPr>
        <p:spPr>
          <a:xfrm>
            <a:off x="4495800" y="2459598"/>
            <a:ext cx="2073275" cy="1123315"/>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20000"/>
              </a:lnSpc>
              <a:spcBef>
                <a:spcPts val="100"/>
              </a:spcBef>
              <a:spcAft>
                <a:spcPts val="0"/>
              </a:spcAft>
              <a:buClrTx/>
              <a:buSzTx/>
              <a:buFontTx/>
              <a:buNone/>
              <a:tabLst/>
              <a:defRPr/>
            </a:pPr>
            <a:r>
              <a:rPr kumimoji="0" sz="2000" b="0" i="0" u="none" strike="noStrike" kern="1200" cap="none" spc="0" normalizeH="0" baseline="0" noProof="0" dirty="0">
                <a:ln>
                  <a:noFill/>
                </a:ln>
                <a:solidFill>
                  <a:prstClr val="white"/>
                </a:solidFill>
                <a:effectLst/>
                <a:uLnTx/>
                <a:uFillTx/>
                <a:latin typeface="Arial MT"/>
                <a:ea typeface="+mn-ea"/>
                <a:cs typeface="Arial MT"/>
              </a:rPr>
              <a:t>INTEGER, </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CHAR(50), </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0" i="0" u="none" strike="noStrike" kern="1200" cap="none" spc="-10" normalizeH="0" baseline="0" noProof="0" dirty="0">
                <a:ln>
                  <a:noFill/>
                </a:ln>
                <a:solidFill>
                  <a:prstClr val="white"/>
                </a:solidFill>
                <a:effectLst/>
                <a:uLnTx/>
                <a:uFillTx/>
                <a:latin typeface="Arial MT"/>
                <a:ea typeface="+mn-ea"/>
                <a:cs typeface="Arial MT"/>
              </a:rPr>
              <a:t>VARCHAR(100));</a:t>
            </a:r>
            <a:endParaRPr kumimoji="0" sz="2000" b="0" i="0" u="none" strike="noStrike" kern="1200" cap="none" spc="0" normalizeH="0" baseline="0" noProof="0" dirty="0">
              <a:ln>
                <a:noFill/>
              </a:ln>
              <a:solidFill>
                <a:prstClr val="white"/>
              </a:solidFill>
              <a:effectLst/>
              <a:uLnTx/>
              <a:uFillTx/>
              <a:latin typeface="Arial MT"/>
              <a:ea typeface="+mn-ea"/>
              <a:cs typeface="Arial MT"/>
            </a:endParaRPr>
          </a:p>
        </p:txBody>
      </p:sp>
      <p:sp>
        <p:nvSpPr>
          <p:cNvPr id="5" name="object 5"/>
          <p:cNvSpPr txBox="1"/>
          <p:nvPr/>
        </p:nvSpPr>
        <p:spPr>
          <a:xfrm>
            <a:off x="1263316" y="2431262"/>
            <a:ext cx="3042920" cy="1086901"/>
          </a:xfrm>
          <a:prstGeom prst="rect">
            <a:avLst/>
          </a:prstGeom>
        </p:spPr>
        <p:txBody>
          <a:bodyPr vert="horz" wrap="square" lIns="0" tIns="12700" rIns="0" bIns="0" rtlCol="0">
            <a:spAutoFit/>
          </a:bodyPr>
          <a:lstStyle/>
          <a:p>
            <a:pPr marL="1841500" marR="5080" lvl="0" indent="0" algn="l" defTabSz="457200" rtl="0" eaLnBrk="1" fontAlgn="auto" latinLnBrk="0" hangingPunct="1">
              <a:lnSpc>
                <a:spcPct val="120000"/>
              </a:lnSpc>
              <a:spcBef>
                <a:spcPts val="100"/>
              </a:spcBef>
              <a:spcAft>
                <a:spcPts val="0"/>
              </a:spcAft>
              <a:buClrTx/>
              <a:buSzTx/>
              <a:buFontTx/>
              <a:buNone/>
              <a:tabLst/>
              <a:defRPr/>
            </a:pPr>
            <a:r>
              <a:rPr kumimoji="0" sz="2000" b="0" i="0" u="none" strike="noStrike" kern="1200" cap="none" spc="-5" normalizeH="0" baseline="0" noProof="0" dirty="0">
                <a:ln>
                  <a:noFill/>
                </a:ln>
                <a:solidFill>
                  <a:prstClr val="white"/>
                </a:solidFill>
                <a:effectLst/>
                <a:uLnTx/>
                <a:uFillTx/>
                <a:latin typeface="Arial MT"/>
                <a:ea typeface="+mn-ea"/>
                <a:cs typeface="Arial MT"/>
              </a:rPr>
              <a:t>id </a:t>
            </a:r>
            <a:r>
              <a:rPr kumimoji="0" sz="2000" b="0" i="0" u="none" strike="noStrike" kern="1200" cap="none" spc="0" normalizeH="0" baseline="0" noProof="0" dirty="0">
                <a:ln>
                  <a:noFill/>
                </a:ln>
                <a:solidFill>
                  <a:prstClr val="white"/>
                </a:solidFill>
                <a:effectLst/>
                <a:uLnTx/>
                <a:uFillTx/>
                <a:latin typeface="Arial MT"/>
                <a:ea typeface="+mn-ea"/>
                <a:cs typeface="Arial MT"/>
              </a:rPr>
              <a:t> first_name  </a:t>
            </a:r>
            <a:r>
              <a:rPr kumimoji="0" sz="2000" b="0" i="0" u="none" strike="noStrike" kern="1200" cap="none" spc="0" normalizeH="0" baseline="0" noProof="0" dirty="0" err="1">
                <a:ln>
                  <a:noFill/>
                </a:ln>
                <a:solidFill>
                  <a:prstClr val="white"/>
                </a:solidFill>
                <a:effectLst/>
                <a:uLnTx/>
                <a:uFillTx/>
                <a:latin typeface="Arial MT"/>
                <a:ea typeface="+mn-ea"/>
                <a:cs typeface="Arial MT"/>
              </a:rPr>
              <a:t>last_name</a:t>
            </a:r>
            <a:endParaRPr kumimoji="0" sz="2000" b="0" i="0" u="none" strike="noStrike" kern="1200" cap="none" spc="0" normalizeH="0" baseline="0" noProof="0" dirty="0">
              <a:ln>
                <a:noFill/>
              </a:ln>
              <a:solidFill>
                <a:prstClr val="white"/>
              </a:solidFill>
              <a:effectLst/>
              <a:uLnTx/>
              <a:uFillTx/>
              <a:latin typeface="Arial MT"/>
              <a:ea typeface="+mn-ea"/>
              <a:cs typeface="Arial MT"/>
            </a:endParaRPr>
          </a:p>
        </p:txBody>
      </p:sp>
      <p:sp>
        <p:nvSpPr>
          <p:cNvPr id="8" name="CuadroTexto 7">
            <a:extLst>
              <a:ext uri="{FF2B5EF4-FFF2-40B4-BE49-F238E27FC236}">
                <a16:creationId xmlns:a16="http://schemas.microsoft.com/office/drawing/2014/main" id="{F5906FE8-BE39-41B2-940C-7F0251D9BFB5}"/>
              </a:ext>
            </a:extLst>
          </p:cNvPr>
          <p:cNvSpPr txBox="1"/>
          <p:nvPr/>
        </p:nvSpPr>
        <p:spPr>
          <a:xfrm>
            <a:off x="1329891" y="3991113"/>
            <a:ext cx="10023909" cy="320087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Para eliminar una relación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CL" sz="24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DROP</a:t>
            </a:r>
            <a:r>
              <a:rPr kumimoji="0" lang="es-CL" sz="2400" b="1" i="0" u="none" strike="noStrike" kern="1200" cap="none" spc="-7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s-CL" sz="2400" b="1" i="0" u="none" strike="noStrike" kern="1200" cap="none" spc="-3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TABLE</a:t>
            </a:r>
            <a:r>
              <a:rPr kumimoji="0" lang="es-CL" sz="2400" b="1" i="0" u="none" strike="noStrike" kern="1200" cap="none" spc="-2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s-CL" sz="24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employees</a:t>
            </a:r>
            <a:r>
              <a:rPr kumimoji="0" lang="es-CL" sz="1800" b="0" i="0" u="none" strike="noStrike" kern="1200" cap="none" spc="0" normalizeH="0" baseline="0" noProof="0" dirty="0">
                <a:ln>
                  <a:noFill/>
                </a:ln>
                <a:solidFill>
                  <a:prstClr val="white"/>
                </a:solidFill>
                <a:effectLst/>
                <a:uLnTx/>
                <a:uFillTx/>
                <a:latin typeface="Arial MT"/>
                <a:ea typeface="+mn-ea"/>
                <a:cs typeface="Arial MT"/>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prstClr val="white"/>
              </a:solidFill>
              <a:effectLst/>
              <a:uLnTx/>
              <a:uFillTx/>
              <a:latin typeface="Arial MT"/>
              <a:ea typeface="+mn-ea"/>
              <a:cs typeface="Arial MT"/>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Para modificar una relación (agregar o quitar columna):
</a:t>
            </a:r>
            <a:r>
              <a:rPr kumimoji="0" lang="en-US" sz="2000" b="1" i="0" u="none" strike="noStrike" kern="1200" cap="none" spc="0" normalizeH="0" baseline="0" noProof="0" dirty="0">
                <a:ln>
                  <a:noFill/>
                </a:ln>
                <a:solidFill>
                  <a:prstClr val="white"/>
                </a:solidFill>
                <a:effectLst/>
                <a:uLnTx/>
                <a:uFillTx/>
                <a:latin typeface="Arial MT"/>
                <a:ea typeface="+mn-ea"/>
                <a:cs typeface="Arial MT"/>
              </a:rPr>
              <a:t>ALTER TABLE </a:t>
            </a:r>
            <a:r>
              <a:rPr kumimoji="0" lang="en-US" sz="2000" b="0" i="0" u="none" strike="noStrike" kern="1200" cap="none" spc="0" normalizeH="0" baseline="0" noProof="0" dirty="0">
                <a:ln>
                  <a:noFill/>
                </a:ln>
                <a:solidFill>
                  <a:prstClr val="white"/>
                </a:solidFill>
                <a:effectLst/>
                <a:uLnTx/>
                <a:uFillTx/>
                <a:latin typeface="Arial MT"/>
                <a:ea typeface="+mn-ea"/>
                <a:cs typeface="Arial MT"/>
              </a:rPr>
              <a:t>employees </a:t>
            </a:r>
            <a:r>
              <a:rPr kumimoji="0" lang="en-US" sz="2000" b="1" i="0" u="none" strike="noStrike" kern="1200" cap="none" spc="0" normalizeH="0" baseline="0" noProof="0" dirty="0">
                <a:ln>
                  <a:noFill/>
                </a:ln>
                <a:solidFill>
                  <a:prstClr val="white"/>
                </a:solidFill>
                <a:effectLst/>
                <a:uLnTx/>
                <a:uFillTx/>
                <a:latin typeface="Arial MT"/>
                <a:ea typeface="+mn-ea"/>
                <a:cs typeface="Arial MT"/>
              </a:rPr>
              <a:t>ADD</a:t>
            </a:r>
            <a:r>
              <a:rPr kumimoji="0" lang="en-US" sz="2000" b="0" i="0" u="none" strike="noStrike" kern="1200" cap="none" spc="0" normalizeH="0" baseline="0" noProof="0" dirty="0">
                <a:ln>
                  <a:noFill/>
                </a:ln>
                <a:solidFill>
                  <a:prstClr val="white"/>
                </a:solidFill>
                <a:effectLst/>
                <a:uLnTx/>
                <a:uFillTx/>
                <a:latin typeface="Arial MT"/>
                <a:ea typeface="+mn-ea"/>
                <a:cs typeface="Arial MT"/>
              </a:rPr>
              <a:t> age </a:t>
            </a:r>
            <a:r>
              <a:rPr kumimoji="0" lang="en-US" sz="2000" b="1" i="0" u="none" strike="noStrike" kern="1200" cap="none" spc="0" normalizeH="0" baseline="0" noProof="0" dirty="0">
                <a:ln>
                  <a:noFill/>
                </a:ln>
                <a:solidFill>
                  <a:prstClr val="white"/>
                </a:solidFill>
                <a:effectLst/>
                <a:uLnTx/>
                <a:uFillTx/>
                <a:latin typeface="Arial MT"/>
                <a:ea typeface="+mn-ea"/>
                <a:cs typeface="Arial MT"/>
              </a:rPr>
              <a:t>INTEGER</a:t>
            </a:r>
            <a:r>
              <a:rPr kumimoji="0" lang="en-US" sz="2000" b="0" i="0" u="none" strike="noStrike" kern="1200" cap="none" spc="0" normalizeH="0" baseline="0" noProof="0" dirty="0">
                <a:ln>
                  <a:noFill/>
                </a:ln>
                <a:solidFill>
                  <a:prstClr val="white"/>
                </a:solidFill>
                <a:effectLst/>
                <a:uLnTx/>
                <a:uFillTx/>
                <a:latin typeface="Arial MT"/>
                <a:ea typeface="+mn-ea"/>
                <a:cs typeface="Arial MT"/>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MT"/>
                <a:ea typeface="+mn-ea"/>
                <a:cs typeface="Arial MT"/>
              </a:rPr>
              <a:t>ALTER TABLE </a:t>
            </a:r>
            <a:r>
              <a:rPr kumimoji="0" lang="en-US" sz="2000" b="0" i="0" u="none" strike="noStrike" kern="1200" cap="none" spc="0" normalizeH="0" baseline="0" noProof="0" dirty="0" err="1">
                <a:ln>
                  <a:noFill/>
                </a:ln>
                <a:solidFill>
                  <a:prstClr val="white"/>
                </a:solidFill>
                <a:effectLst/>
                <a:uLnTx/>
                <a:uFillTx/>
                <a:latin typeface="Arial MT"/>
                <a:ea typeface="+mn-ea"/>
                <a:cs typeface="Arial MT"/>
              </a:rPr>
              <a:t>employess</a:t>
            </a:r>
            <a:r>
              <a:rPr kumimoji="0" lang="en-US" sz="2000" b="0" i="0" u="none" strike="noStrike" kern="1200" cap="none" spc="0" normalizeH="0" baseline="0" noProof="0" dirty="0">
                <a:ln>
                  <a:noFill/>
                </a:ln>
                <a:solidFill>
                  <a:prstClr val="white"/>
                </a:solidFill>
                <a:effectLst/>
                <a:uLnTx/>
                <a:uFillTx/>
                <a:latin typeface="Arial MT"/>
                <a:ea typeface="+mn-ea"/>
                <a:cs typeface="Arial MT"/>
              </a:rPr>
              <a:t> </a:t>
            </a:r>
            <a:r>
              <a:rPr kumimoji="0" lang="en-US" sz="2000" b="1" i="0" u="none" strike="noStrike" kern="1200" cap="none" spc="0" normalizeH="0" baseline="0" noProof="0" dirty="0">
                <a:ln>
                  <a:noFill/>
                </a:ln>
                <a:solidFill>
                  <a:prstClr val="white"/>
                </a:solidFill>
                <a:effectLst/>
                <a:uLnTx/>
                <a:uFillTx/>
                <a:latin typeface="Arial MT"/>
                <a:ea typeface="+mn-ea"/>
                <a:cs typeface="Arial MT"/>
              </a:rPr>
              <a:t>DROP</a:t>
            </a:r>
            <a:r>
              <a:rPr kumimoji="0" lang="en-US" sz="2000" b="0" i="0" u="none" strike="noStrike" kern="1200" cap="none" spc="0" normalizeH="0" baseline="0" noProof="0" dirty="0">
                <a:ln>
                  <a:noFill/>
                </a:ln>
                <a:solidFill>
                  <a:prstClr val="white"/>
                </a:solidFill>
                <a:effectLst/>
                <a:uLnTx/>
                <a:uFillTx/>
                <a:latin typeface="Arial MT"/>
                <a:ea typeface="+mn-ea"/>
                <a:cs typeface="Arial MT"/>
              </a:rPr>
              <a:t> </a:t>
            </a:r>
            <a:r>
              <a:rPr kumimoji="0" lang="en-US" sz="2000" b="0" i="0" u="none" strike="noStrike" kern="1200" cap="none" spc="0" normalizeH="0" baseline="0" noProof="0" dirty="0" err="1">
                <a:ln>
                  <a:noFill/>
                </a:ln>
                <a:solidFill>
                  <a:prstClr val="white"/>
                </a:solidFill>
                <a:effectLst/>
                <a:uLnTx/>
                <a:uFillTx/>
                <a:latin typeface="Arial MT"/>
                <a:ea typeface="+mn-ea"/>
                <a:cs typeface="Arial MT"/>
              </a:rPr>
              <a:t>last_name</a:t>
            </a:r>
            <a:r>
              <a:rPr kumimoji="0" lang="en-US" sz="2000" b="0" i="0" u="none" strike="noStrike" kern="1200" cap="none" spc="0" normalizeH="0" baseline="0" noProof="0" dirty="0">
                <a:ln>
                  <a:noFill/>
                </a:ln>
                <a:solidFill>
                  <a:prstClr val="white"/>
                </a:solidFill>
                <a:effectLst/>
                <a:uLnTx/>
                <a:uFillTx/>
                <a:latin typeface="Arial MT"/>
                <a:ea typeface="+mn-ea"/>
                <a:cs typeface="Arial MT"/>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prstClr val="white"/>
              </a:solidFill>
              <a:effectLst/>
              <a:uLnTx/>
              <a:uFillTx/>
              <a:latin typeface="Arial MT"/>
              <a:ea typeface="+mn-ea"/>
              <a:cs typeface="Arial M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ES" sz="1800" b="1"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838200"/>
            <a:ext cx="5941060" cy="1245084"/>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Valores en SQL</a:t>
            </a:r>
            <a:r>
              <a:rPr lang="es-CL" dirty="0">
                <a:solidFill>
                  <a:srgbClr val="FF0000"/>
                </a:solidFill>
              </a:rPr>
              <a:t>
</a:t>
            </a:r>
            <a:endParaRPr spc="-45" dirty="0">
              <a:solidFill>
                <a:srgbClr val="FF0000"/>
              </a:solidFill>
            </a:endParaRPr>
          </a:p>
        </p:txBody>
      </p:sp>
      <p:sp>
        <p:nvSpPr>
          <p:cNvPr id="4" name="object 4"/>
          <p:cNvSpPr txBox="1"/>
          <p:nvPr/>
        </p:nvSpPr>
        <p:spPr>
          <a:xfrm>
            <a:off x="9960609" y="6446926"/>
            <a:ext cx="153670" cy="156068"/>
          </a:xfrm>
          <a:prstGeom prst="rect">
            <a:avLst/>
          </a:prstGeom>
        </p:spPr>
        <p:txBody>
          <a:bodyPr vert="horz" wrap="square" lIns="0" tIns="0" rIns="0" bIns="0" rtlCol="0">
            <a:spAutoFit/>
          </a:bodyPr>
          <a:lstStyle/>
          <a:p>
            <a:pPr marL="38100" marR="0" lvl="0" indent="0" algn="l"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srgbClr val="666666"/>
                </a:solidFill>
                <a:effectLst/>
                <a:uLnTx/>
                <a:uFillTx/>
                <a:latin typeface="Calibri"/>
                <a:ea typeface="+mn-ea"/>
                <a:cs typeface="Calibri"/>
              </a:rPr>
              <a:pPr marL="38100" marR="0" lvl="0" indent="0" algn="l" defTabSz="457200" rtl="0" eaLnBrk="1" fontAlgn="auto" latinLnBrk="0" hangingPunct="1">
                <a:lnSpc>
                  <a:spcPts val="124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object 3"/>
          <p:cNvSpPr txBox="1"/>
          <p:nvPr/>
        </p:nvSpPr>
        <p:spPr>
          <a:xfrm>
            <a:off x="1143000" y="1752600"/>
            <a:ext cx="10591800" cy="1987082"/>
          </a:xfrm>
          <a:prstGeom prst="rect">
            <a:avLst/>
          </a:prstGeom>
        </p:spPr>
        <p:txBody>
          <a:bodyPr vert="horz" wrap="square" lIns="0" tIns="12065" rIns="0" bIns="0" rtlCol="0">
            <a:spAutoFit/>
          </a:bodyPr>
          <a:lstStyle/>
          <a:p>
            <a:pPr marL="12700" marR="199390" lvl="0" indent="0" algn="l" defTabSz="457200" rtl="0" eaLnBrk="1" fontAlgn="auto" latinLnBrk="0" hangingPunct="1">
              <a:lnSpc>
                <a:spcPct val="100000"/>
              </a:lnSpc>
              <a:spcBef>
                <a:spcPts val="95"/>
              </a:spcBef>
              <a:spcAft>
                <a:spcPts val="0"/>
              </a:spcAft>
              <a:buClrTx/>
              <a:buSzTx/>
              <a:buFontTx/>
              <a:buNone/>
              <a:tabLst>
                <a:tab pos="354965" algn="l"/>
                <a:tab pos="355600" algn="l"/>
              </a:tabLst>
              <a:defRPr/>
            </a:pPr>
            <a:r>
              <a:rPr kumimoji="0" lang="es-E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Los enteros y los reales se representan como cabría esperar. </a:t>
            </a:r>
            <a:r>
              <a:rPr kumimoji="0" lang="es-ES"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Las cadenas también lo son, excepto que requieren comillas simples. Cualquier valor puede ser NULL. A menos que el atributo tenga la restricción NOT NULL</a:t>
            </a:r>
            <a:endParaRPr kumimoji="0"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756285" marR="0" lvl="0" indent="0" algn="l" defTabSz="457200" rtl="0" eaLnBrk="1" fontAlgn="auto" latinLnBrk="0" hangingPunct="1">
              <a:lnSpc>
                <a:spcPct val="100000"/>
              </a:lnSpc>
              <a:spcBef>
                <a:spcPts val="530"/>
              </a:spcBef>
              <a:spcAft>
                <a:spcPts val="0"/>
              </a:spcAft>
              <a:buClrTx/>
              <a:buSzTx/>
              <a:buFontTx/>
              <a:buNone/>
              <a:tabLst/>
              <a:defRPr/>
            </a:pPr>
            <a:endParaRPr kumimoji="0" lang="es-ES"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756285" marR="0" lvl="0" indent="0" algn="l" defTabSz="457200" rtl="0" eaLnBrk="1" fontAlgn="auto" latinLnBrk="0" hangingPunct="1">
              <a:lnSpc>
                <a:spcPct val="100000"/>
              </a:lnSpc>
              <a:spcBef>
                <a:spcPts val="53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a:t>
            </a:r>
            <a:r>
              <a:rPr kumimoji="0" lang="es-ES"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j</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sz="2400" b="0" i="0" u="none" strike="noStrike" kern="1200" cap="none" spc="-1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price</a:t>
            </a:r>
            <a:r>
              <a:rPr kumimoji="0"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REAL</a:t>
            </a:r>
            <a:r>
              <a:rPr kumimoji="0" sz="2400" b="0" i="0" u="none" strike="noStrike" kern="1200" cap="none" spc="-8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1"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NOT</a:t>
            </a:r>
            <a:r>
              <a:rPr kumimoji="0" sz="2400" b="1" i="0" u="none" strike="noStrike" kern="1200" cap="none" spc="1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1"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NULL</a:t>
            </a:r>
            <a:endParaRPr kumimoji="0"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913225"/>
            <a:ext cx="4874260" cy="639791"/>
          </a:xfrm>
          <a:prstGeom prst="rect">
            <a:avLst/>
          </a:prstGeom>
        </p:spPr>
        <p:txBody>
          <a:bodyPr vert="horz" wrap="square" lIns="0" tIns="13335" rIns="0" bIns="0" rtlCol="0">
            <a:spAutoFit/>
          </a:bodyPr>
          <a:lstStyle/>
          <a:p>
            <a:pPr marL="12700">
              <a:spcBef>
                <a:spcPts val="105"/>
              </a:spcBef>
            </a:pPr>
            <a:r>
              <a:rPr spc="-5" dirty="0">
                <a:solidFill>
                  <a:srgbClr val="FF0000"/>
                </a:solidFill>
                <a:latin typeface="Aharoni" panose="02010803020104030203" pitchFamily="2" charset="-79"/>
                <a:cs typeface="Aharoni" panose="02010803020104030203" pitchFamily="2" charset="-79"/>
              </a:rPr>
              <a:t>Dates</a:t>
            </a:r>
            <a:r>
              <a:rPr spc="-25" dirty="0">
                <a:solidFill>
                  <a:srgbClr val="FF0000"/>
                </a:solidFill>
                <a:latin typeface="Aharoni" panose="02010803020104030203" pitchFamily="2" charset="-79"/>
                <a:cs typeface="Aharoni" panose="02010803020104030203" pitchFamily="2" charset="-79"/>
              </a:rPr>
              <a:t> </a:t>
            </a:r>
            <a:r>
              <a:rPr lang="es-ES" spc="-5" dirty="0">
                <a:solidFill>
                  <a:srgbClr val="FF0000"/>
                </a:solidFill>
                <a:latin typeface="Aharoni" panose="02010803020104030203" pitchFamily="2" charset="-79"/>
                <a:cs typeface="Aharoni" panose="02010803020104030203" pitchFamily="2" charset="-79"/>
              </a:rPr>
              <a:t>y</a:t>
            </a:r>
            <a:r>
              <a:rPr spc="-100" dirty="0">
                <a:solidFill>
                  <a:srgbClr val="FF0000"/>
                </a:solidFill>
                <a:latin typeface="Aharoni" panose="02010803020104030203" pitchFamily="2" charset="-79"/>
                <a:cs typeface="Aharoni" panose="02010803020104030203" pitchFamily="2" charset="-79"/>
              </a:rPr>
              <a:t> </a:t>
            </a:r>
            <a:r>
              <a:rPr spc="-30" dirty="0">
                <a:solidFill>
                  <a:srgbClr val="FF0000"/>
                </a:solidFill>
                <a:latin typeface="Aharoni" panose="02010803020104030203" pitchFamily="2" charset="-79"/>
                <a:cs typeface="Aharoni" panose="02010803020104030203" pitchFamily="2" charset="-79"/>
              </a:rPr>
              <a:t>Times</a:t>
            </a:r>
          </a:p>
        </p:txBody>
      </p:sp>
      <p:sp>
        <p:nvSpPr>
          <p:cNvPr id="4" name="object 4"/>
          <p:cNvSpPr txBox="1"/>
          <p:nvPr/>
        </p:nvSpPr>
        <p:spPr>
          <a:xfrm>
            <a:off x="9960609" y="6446926"/>
            <a:ext cx="153670" cy="156068"/>
          </a:xfrm>
          <a:prstGeom prst="rect">
            <a:avLst/>
          </a:prstGeom>
        </p:spPr>
        <p:txBody>
          <a:bodyPr vert="horz" wrap="square" lIns="0" tIns="0" rIns="0" bIns="0" rtlCol="0">
            <a:spAutoFit/>
          </a:bodyPr>
          <a:lstStyle/>
          <a:p>
            <a:pPr marL="38100" marR="0" lvl="0" indent="0" algn="l"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srgbClr val="666666"/>
                </a:solidFill>
                <a:effectLst/>
                <a:uLnTx/>
                <a:uFillTx/>
                <a:latin typeface="Calibri"/>
                <a:ea typeface="+mn-ea"/>
                <a:cs typeface="Calibri"/>
              </a:rPr>
              <a:pPr marL="38100" marR="0" lvl="0" indent="0" algn="l" defTabSz="457200" rtl="0" eaLnBrk="1" fontAlgn="auto" latinLnBrk="0" hangingPunct="1">
                <a:lnSpc>
                  <a:spcPts val="124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object 3"/>
          <p:cNvSpPr txBox="1"/>
          <p:nvPr/>
        </p:nvSpPr>
        <p:spPr>
          <a:xfrm>
            <a:off x="1066800" y="1624339"/>
            <a:ext cx="10515600" cy="2685992"/>
          </a:xfrm>
          <a:prstGeom prst="rect">
            <a:avLst/>
          </a:prstGeom>
        </p:spPr>
        <p:txBody>
          <a:bodyPr vert="horz" wrap="square" lIns="0" tIns="48895" rIns="0" bIns="0" rtlCol="0">
            <a:spAutoFit/>
          </a:bodyPr>
          <a:lstStyle/>
          <a:p>
            <a:pPr marL="12700" marR="0" lvl="0" indent="0" algn="l" defTabSz="457200" rtl="0" eaLnBrk="1" fontAlgn="auto" latinLnBrk="0" hangingPunct="1">
              <a:lnSpc>
                <a:spcPct val="100000"/>
              </a:lnSpc>
              <a:spcBef>
                <a:spcPts val="385"/>
              </a:spcBef>
              <a:spcAft>
                <a:spcPts val="0"/>
              </a:spcAft>
              <a:buClrTx/>
              <a:buSzTx/>
              <a:buFontTx/>
              <a:buNone/>
              <a:tabLst>
                <a:tab pos="354965" algn="l"/>
                <a:tab pos="355600" algn="l"/>
              </a:tabLst>
              <a:defRPr/>
            </a:pPr>
            <a:r>
              <a:rPr kumimoji="0" lang="es-ES" sz="2400" b="0" i="0" u="none" strike="noStrike" kern="1200" cap="none" spc="-5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DATE y TIME son tipos en SQL.
</a:t>
            </a:r>
            <a:r>
              <a:rPr kumimoji="0" lang="es-ES"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La forma de un valor de fecha es</a:t>
            </a:r>
            <a:r>
              <a:rPr kumimoji="0"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0" i="0" u="none" strike="noStrike" kern="1200" cap="none" spc="-5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DATE</a:t>
            </a:r>
            <a:r>
              <a:rPr kumimoji="0" sz="2400" b="0" i="0" u="none" strike="noStrike" kern="1200" cap="none" spc="2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0" i="0" u="none" strike="noStrike" kern="1200" cap="none" spc="-1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sz="2400" b="0" i="0" u="none" strike="noStrike" kern="1200" cap="none" spc="-1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yyyy</a:t>
            </a:r>
            <a:r>
              <a:rPr kumimoji="0" sz="2400" b="0" i="0" u="none" strike="noStrike" kern="1200" cap="none" spc="-1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-mm-dd’</a:t>
            </a:r>
            <a:r>
              <a:rPr kumimoji="0" lang="es-ES" sz="2400" b="0" i="0" u="none" strike="noStrike" kern="1200" cap="none" spc="-1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Ejemplo</a:t>
            </a:r>
            <a:r>
              <a:rPr kumimoji="0" sz="2400" b="0" i="0" u="none" strike="noStrike" kern="1200" cap="none" spc="2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(Oct. 19, </a:t>
            </a:r>
            <a:r>
              <a:rPr kumimoji="0" sz="2400" b="0" i="0" u="none" strike="noStrike" kern="1200" cap="none" spc="-3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2011):</a:t>
            </a:r>
            <a:r>
              <a:rPr kumimoji="0" lang="es-ES" sz="2400" b="0" i="0" u="none" strike="noStrike" kern="1200" cap="none" spc="-3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1" i="0" u="none" strike="noStrike" kern="1200" cap="none" spc="-5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DATE</a:t>
            </a:r>
            <a:r>
              <a:rPr kumimoji="0" sz="2400" b="1" i="0" u="none" strike="noStrike" kern="1200" cap="none" spc="-1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1" i="0" u="none" strike="noStrike" kern="1200" cap="none" spc="-1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‘2011-10-19’</a:t>
            </a:r>
            <a:endParaRPr kumimoji="0"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469265" marR="5080" lvl="1" indent="0" algn="l" defTabSz="457200" rtl="0" eaLnBrk="1" fontAlgn="auto" latinLnBrk="0" hangingPunct="1">
              <a:lnSpc>
                <a:spcPct val="100099"/>
              </a:lnSpc>
              <a:spcBef>
                <a:spcPts val="0"/>
              </a:spcBef>
              <a:spcAft>
                <a:spcPts val="0"/>
              </a:spcAft>
              <a:buClrTx/>
              <a:buSzTx/>
              <a:buFontTx/>
              <a:buNone/>
              <a:tabLst>
                <a:tab pos="756920" algn="l"/>
                <a:tab pos="6414135" algn="l"/>
              </a:tabLst>
              <a:defRPr/>
            </a:pPr>
            <a:endParaRPr kumimoji="0" lang="es-E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12065" marR="5080" lvl="0" indent="0" algn="l" defTabSz="457200" rtl="0" eaLnBrk="1" fontAlgn="auto" latinLnBrk="0" hangingPunct="1">
              <a:lnSpc>
                <a:spcPct val="100099"/>
              </a:lnSpc>
              <a:spcBef>
                <a:spcPts val="0"/>
              </a:spcBef>
              <a:spcAft>
                <a:spcPts val="0"/>
              </a:spcAft>
              <a:buClrTx/>
              <a:buSzTx/>
              <a:buFontTx/>
              <a:buNone/>
              <a:tabLst>
                <a:tab pos="756920" algn="l"/>
                <a:tab pos="6414135" algn="l"/>
              </a:tabLst>
              <a:defRPr/>
            </a:pPr>
            <a:r>
              <a:rPr kumimoji="0" lang="es-ES"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La forma de un valor de tiempo es</a:t>
            </a:r>
            <a:r>
              <a:rPr kumimoji="0"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sz="2400" b="0" i="0" u="none" strike="noStrike" kern="1200" cap="none" spc="-4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TIME</a:t>
            </a:r>
            <a:r>
              <a:rPr kumimoji="0" sz="2400" b="0" i="0" u="none" strike="noStrike" kern="1200" cap="none" spc="3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sz="2400" b="0" i="0" u="none" strike="noStrike" kern="1200" cap="none" spc="-5"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hh:mm:ss</a:t>
            </a:r>
            <a:r>
              <a:rPr kumimoji="0"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lang="es-ES" sz="2400" b="0" i="0" u="none" strike="noStrike" kern="1200" cap="none" spc="-5"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 </a:t>
            </a:r>
            <a:r>
              <a:rPr kumimoji="0" lang="es-ES" sz="2400" b="0"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 un punto decimal opcional y fracciones de segundo siguientes.  Ejemplo (durante dos segundos y medio después de las 6:40 PM):</a:t>
            </a:r>
            <a:r>
              <a:rPr kumimoji="0" sz="2400" b="1"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TIME</a:t>
            </a:r>
            <a:r>
              <a:rPr kumimoji="0" sz="24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sz="2400" b="1" i="0" u="none" strike="noStrike" kern="1200" cap="none" spc="-5"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‘18:40:02.5’</a:t>
            </a:r>
            <a:endParaRPr kumimoji="0"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8817" y="2802528"/>
            <a:ext cx="5214620" cy="468975"/>
          </a:xfrm>
          <a:prstGeom prst="rect">
            <a:avLst/>
          </a:prstGeom>
        </p:spPr>
        <p:txBody>
          <a:bodyPr vert="horz" wrap="square" lIns="0" tIns="13335" rIns="0" bIns="0" rtlCol="0">
            <a:spAutoFit/>
          </a:bodyPr>
          <a:lstStyle/>
          <a:p>
            <a:pPr marL="12700">
              <a:spcBef>
                <a:spcPts val="105"/>
              </a:spcBef>
            </a:pPr>
            <a:r>
              <a:rPr dirty="0">
                <a:solidFill>
                  <a:srgbClr val="FF0000"/>
                </a:solidFill>
                <a:latin typeface="Aharoni" panose="02010803020104030203" pitchFamily="2" charset="-79"/>
                <a:cs typeface="Aharoni" panose="02010803020104030203" pitchFamily="2" charset="-79"/>
              </a:rPr>
              <a:t>INTEGRITY</a:t>
            </a:r>
            <a:r>
              <a:rPr spc="-130" dirty="0">
                <a:solidFill>
                  <a:srgbClr val="FF0000"/>
                </a:solidFill>
                <a:latin typeface="Aharoni" panose="02010803020104030203" pitchFamily="2" charset="-79"/>
                <a:cs typeface="Aharoni" panose="02010803020104030203" pitchFamily="2" charset="-79"/>
              </a:rPr>
              <a:t> </a:t>
            </a:r>
            <a:r>
              <a:rPr dirty="0">
                <a:solidFill>
                  <a:srgbClr val="FF0000"/>
                </a:solidFill>
                <a:latin typeface="Aharoni" panose="02010803020104030203" pitchFamily="2" charset="-79"/>
                <a:cs typeface="Aharoni" panose="02010803020104030203" pitchFamily="2" charset="-79"/>
              </a:rPr>
              <a:t>CONSTRAINTS</a:t>
            </a:r>
          </a:p>
        </p:txBody>
      </p:sp>
      <p:sp>
        <p:nvSpPr>
          <p:cNvPr id="3" name="object 3"/>
          <p:cNvSpPr txBox="1"/>
          <p:nvPr/>
        </p:nvSpPr>
        <p:spPr>
          <a:xfrm>
            <a:off x="8309230" y="401192"/>
            <a:ext cx="180975" cy="197490"/>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1200" b="0" i="0" u="none" strike="noStrike" kern="1200" cap="none" spc="0" normalizeH="0" baseline="0" noProof="0" dirty="0">
                <a:ln>
                  <a:noFill/>
                </a:ln>
                <a:solidFill>
                  <a:srgbClr val="666666"/>
                </a:solidFill>
                <a:effectLst/>
                <a:uLnTx/>
                <a:uFillTx/>
                <a:latin typeface="Calibri"/>
                <a:ea typeface="+mn-ea"/>
                <a:cs typeface="Calibri"/>
              </a:rPr>
              <a:t>10</a:t>
            </a:r>
            <a:endParaRPr kumimoji="0" sz="1200" b="0" i="0" u="none" strike="noStrike" kern="1200" cap="none" spc="0" normalizeH="0" baseline="0" noProof="0">
              <a:ln>
                <a:noFill/>
              </a:ln>
              <a:solidFill>
                <a:prstClr val="white"/>
              </a:solidFill>
              <a:effectLst/>
              <a:uLnTx/>
              <a:uFillTx/>
              <a:latin typeface="Calibri"/>
              <a:ea typeface="+mn-ea"/>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692307"/>
            <a:ext cx="7763509" cy="1262012"/>
          </a:xfrm>
          <a:prstGeom prst="rect">
            <a:avLst/>
          </a:prstGeom>
        </p:spPr>
        <p:txBody>
          <a:bodyPr vert="horz" wrap="square" lIns="0" tIns="13335" rIns="0" bIns="0" rtlCol="0">
            <a:spAutoFit/>
          </a:bodyPr>
          <a:lstStyle/>
          <a:p>
            <a:pPr marL="12700">
              <a:spcBef>
                <a:spcPts val="105"/>
              </a:spcBef>
            </a:pPr>
            <a:r>
              <a:rPr lang="es-CL" spc="-5" dirty="0">
                <a:solidFill>
                  <a:srgbClr val="FF0000"/>
                </a:solidFill>
                <a:latin typeface="Aharoni" panose="02010803020104030203" pitchFamily="2" charset="-79"/>
                <a:cs typeface="Aharoni" panose="02010803020104030203" pitchFamily="2" charset="-79"/>
              </a:rPr>
              <a:t>Ejemplo de ejecución
</a:t>
            </a:r>
            <a:endParaRPr spc="-5" dirty="0">
              <a:solidFill>
                <a:srgbClr val="FF0000"/>
              </a:solidFill>
              <a:latin typeface="Aharoni" panose="02010803020104030203" pitchFamily="2" charset="-79"/>
              <a:cs typeface="Aharoni" panose="02010803020104030203" pitchFamily="2" charset="-79"/>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11</a:t>
            </a:fld>
            <a:endPar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endParaRPr>
          </a:p>
        </p:txBody>
      </p:sp>
      <p:sp>
        <p:nvSpPr>
          <p:cNvPr id="3" name="object 3"/>
          <p:cNvSpPr txBox="1"/>
          <p:nvPr/>
        </p:nvSpPr>
        <p:spPr>
          <a:xfrm>
            <a:off x="990600" y="1600200"/>
            <a:ext cx="10668000" cy="4045723"/>
          </a:xfrm>
          <a:prstGeom prst="rect">
            <a:avLst/>
          </a:prstGeom>
        </p:spPr>
        <p:txBody>
          <a:bodyPr vert="horz" wrap="square" lIns="0" tIns="12700" rIns="0" bIns="0" rtlCol="0">
            <a:spAutoFit/>
          </a:bodyPr>
          <a:lstStyle/>
          <a:p>
            <a:pPr marL="12700" marR="3862704"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Beers(</a:t>
            </a:r>
            <a:r>
              <a:rPr kumimoji="0" sz="2400" b="0" i="0" u="heavy" strike="noStrike" kern="1200" cap="none" spc="-5" normalizeH="0" baseline="0" noProof="0" dirty="0">
                <a:ln>
                  <a:noFill/>
                </a:ln>
                <a:solidFill>
                  <a:prstClr val="white"/>
                </a:solidFill>
                <a:effectLst/>
                <a:uLnTx/>
                <a:uFill>
                  <a:solidFill>
                    <a:srgbClr val="CC00CC"/>
                  </a:solidFill>
                </a:uFill>
                <a:latin typeface="Arial MT"/>
                <a:ea typeface="+mn-ea"/>
                <a:cs typeface="Arial MT"/>
              </a:rPr>
              <a:t>name</a:t>
            </a:r>
            <a:r>
              <a:rPr kumimoji="0" sz="2400" b="0" i="0" u="none" strike="noStrike" kern="1200" cap="none" spc="-5" normalizeH="0" baseline="0" noProof="0" dirty="0">
                <a:ln>
                  <a:noFill/>
                </a:ln>
                <a:solidFill>
                  <a:prstClr val="white"/>
                </a:solidFill>
                <a:effectLst/>
                <a:uLnTx/>
                <a:uFillTx/>
                <a:latin typeface="Arial MT"/>
                <a:ea typeface="+mn-ea"/>
                <a:cs typeface="Arial MT"/>
              </a:rPr>
              <a:t>,</a:t>
            </a:r>
            <a:r>
              <a:rPr kumimoji="0" sz="2400" b="0" i="0" u="none" strike="noStrike" kern="1200" cap="none" spc="0" normalizeH="0" baseline="0" noProof="0" dirty="0">
                <a:ln>
                  <a:noFill/>
                </a:ln>
                <a:solidFill>
                  <a:prstClr val="white"/>
                </a:solidFill>
                <a:effectLst/>
                <a:uLnTx/>
                <a:uFillTx/>
                <a:latin typeface="Arial MT"/>
                <a:ea typeface="+mn-ea"/>
                <a:cs typeface="Arial MT"/>
              </a:rPr>
              <a:t> manf) </a:t>
            </a:r>
            <a:r>
              <a:rPr kumimoji="0" sz="2400" b="0" i="0" u="none" strike="noStrike" kern="1200" cap="none" spc="5" normalizeH="0" baseline="0" noProof="0" dirty="0">
                <a:ln>
                  <a:noFill/>
                </a:ln>
                <a:solidFill>
                  <a:prstClr val="white"/>
                </a:solidFill>
                <a:effectLst/>
                <a:uLnTx/>
                <a:uFillTx/>
                <a:latin typeface="Arial MT"/>
                <a:ea typeface="+mn-ea"/>
                <a:cs typeface="Arial MT"/>
              </a:rPr>
              <a:t> </a:t>
            </a:r>
            <a:endParaRPr kumimoji="0" lang="es-ES" sz="2400" b="0" i="0" u="none" strike="noStrike" kern="1200" cap="none" spc="5" normalizeH="0" baseline="0" noProof="0" dirty="0">
              <a:ln>
                <a:noFill/>
              </a:ln>
              <a:solidFill>
                <a:prstClr val="white"/>
              </a:solidFill>
              <a:effectLst/>
              <a:uLnTx/>
              <a:uFillTx/>
              <a:latin typeface="Arial MT"/>
              <a:ea typeface="+mn-ea"/>
              <a:cs typeface="Arial MT"/>
            </a:endParaRPr>
          </a:p>
          <a:p>
            <a:pPr marL="12700" marR="3862704"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Bars(</a:t>
            </a:r>
            <a:r>
              <a:rPr kumimoji="0" sz="2400" b="0" i="0" u="heavy" strike="noStrike" kern="1200" cap="none" spc="-5" normalizeH="0" baseline="0" noProof="0" dirty="0">
                <a:ln>
                  <a:noFill/>
                </a:ln>
                <a:solidFill>
                  <a:prstClr val="white"/>
                </a:solidFill>
                <a:effectLst/>
                <a:uLnTx/>
                <a:uFill>
                  <a:solidFill>
                    <a:srgbClr val="CC00CC"/>
                  </a:solidFill>
                </a:uFill>
                <a:latin typeface="Arial MT"/>
                <a:ea typeface="+mn-ea"/>
                <a:cs typeface="Arial MT"/>
              </a:rPr>
              <a:t>name</a:t>
            </a:r>
            <a:r>
              <a:rPr kumimoji="0" sz="2400" b="0" i="0" u="none" strike="noStrike" kern="1200" cap="none" spc="-5" normalizeH="0" baseline="0" noProof="0" dirty="0">
                <a:ln>
                  <a:noFill/>
                </a:ln>
                <a:solidFill>
                  <a:prstClr val="white"/>
                </a:solidFill>
                <a:effectLst/>
                <a:uLnTx/>
                <a:uFillTx/>
                <a:latin typeface="Arial MT"/>
                <a:ea typeface="+mn-ea"/>
                <a:cs typeface="Arial MT"/>
              </a:rPr>
              <a:t>,</a:t>
            </a:r>
            <a:r>
              <a:rPr kumimoji="0" sz="2400" b="0" i="0" u="none" strike="noStrike" kern="1200" cap="none" spc="0" normalizeH="0" baseline="0" noProof="0" dirty="0">
                <a:ln>
                  <a:noFill/>
                </a:ln>
                <a:solidFill>
                  <a:prstClr val="white"/>
                </a:solidFill>
                <a:effectLst/>
                <a:uLnTx/>
                <a:uFillTx/>
                <a:latin typeface="Arial MT"/>
                <a:ea typeface="+mn-ea"/>
                <a:cs typeface="Arial MT"/>
              </a:rPr>
              <a:t> </a:t>
            </a:r>
            <a:r>
              <a:rPr kumimoji="0" sz="2400" b="0" i="0" u="none" strike="noStrike" kern="1200" cap="none" spc="-30" normalizeH="0" baseline="0" noProof="0" dirty="0">
                <a:ln>
                  <a:noFill/>
                </a:ln>
                <a:solidFill>
                  <a:prstClr val="white"/>
                </a:solidFill>
                <a:effectLst/>
                <a:uLnTx/>
                <a:uFillTx/>
                <a:latin typeface="Arial MT"/>
                <a:ea typeface="+mn-ea"/>
                <a:cs typeface="Arial MT"/>
              </a:rPr>
              <a:t>addr,</a:t>
            </a:r>
            <a:r>
              <a:rPr kumimoji="0" sz="2400" b="0" i="0" u="none" strike="noStrike" kern="1200" cap="none" spc="-5" normalizeH="0" baseline="0" noProof="0" dirty="0">
                <a:ln>
                  <a:noFill/>
                </a:ln>
                <a:solidFill>
                  <a:prstClr val="white"/>
                </a:solidFill>
                <a:effectLst/>
                <a:uLnTx/>
                <a:uFillTx/>
                <a:latin typeface="Arial MT"/>
                <a:ea typeface="+mn-ea"/>
                <a:cs typeface="Arial MT"/>
              </a:rPr>
              <a:t> license) </a:t>
            </a:r>
            <a:endParaRPr kumimoji="0" lang="es-ES" sz="2400" b="0" i="0" u="none" strike="noStrike" kern="1200" cap="none" spc="-5" normalizeH="0" baseline="0" noProof="0" dirty="0">
              <a:ln>
                <a:noFill/>
              </a:ln>
              <a:solidFill>
                <a:prstClr val="white"/>
              </a:solidFill>
              <a:effectLst/>
              <a:uLnTx/>
              <a:uFillTx/>
              <a:latin typeface="Arial MT"/>
              <a:ea typeface="+mn-ea"/>
              <a:cs typeface="Arial MT"/>
            </a:endParaRPr>
          </a:p>
          <a:p>
            <a:pPr marL="12700" marR="3862704"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Drinkers(</a:t>
            </a:r>
            <a:r>
              <a:rPr kumimoji="0" sz="2400" b="0" i="0" u="heavy" strike="noStrike" kern="1200" cap="none" spc="-5" normalizeH="0" baseline="0" noProof="0" dirty="0">
                <a:ln>
                  <a:noFill/>
                </a:ln>
                <a:solidFill>
                  <a:prstClr val="white"/>
                </a:solidFill>
                <a:effectLst/>
                <a:uLnTx/>
                <a:uFill>
                  <a:solidFill>
                    <a:srgbClr val="CC00CC"/>
                  </a:solidFill>
                </a:uFill>
                <a:latin typeface="Arial MT"/>
                <a:ea typeface="+mn-ea"/>
                <a:cs typeface="Arial MT"/>
              </a:rPr>
              <a:t>name</a:t>
            </a:r>
            <a:r>
              <a:rPr kumimoji="0" sz="2400" b="0" i="0" u="none" strike="noStrike" kern="1200" cap="none" spc="-5" normalizeH="0" baseline="0" noProof="0" dirty="0">
                <a:ln>
                  <a:noFill/>
                </a:ln>
                <a:solidFill>
                  <a:prstClr val="white"/>
                </a:solidFill>
                <a:effectLst/>
                <a:uLnTx/>
                <a:uFillTx/>
                <a:latin typeface="Arial MT"/>
                <a:ea typeface="+mn-ea"/>
                <a:cs typeface="Arial MT"/>
              </a:rPr>
              <a:t>,</a:t>
            </a:r>
            <a:r>
              <a:rPr kumimoji="0" sz="2400" b="0" i="0" u="none" strike="noStrike" kern="1200" cap="none" spc="5" normalizeH="0" baseline="0" noProof="0" dirty="0">
                <a:ln>
                  <a:noFill/>
                </a:ln>
                <a:solidFill>
                  <a:prstClr val="white"/>
                </a:solidFill>
                <a:effectLst/>
                <a:uLnTx/>
                <a:uFillTx/>
                <a:latin typeface="Arial MT"/>
                <a:ea typeface="+mn-ea"/>
                <a:cs typeface="Arial MT"/>
              </a:rPr>
              <a:t> </a:t>
            </a:r>
            <a:r>
              <a:rPr kumimoji="0" sz="2400" b="0" i="0" u="none" strike="noStrike" kern="1200" cap="none" spc="-30" normalizeH="0" baseline="0" noProof="0" dirty="0">
                <a:ln>
                  <a:noFill/>
                </a:ln>
                <a:solidFill>
                  <a:prstClr val="white"/>
                </a:solidFill>
                <a:effectLst/>
                <a:uLnTx/>
                <a:uFillTx/>
                <a:latin typeface="Arial MT"/>
                <a:ea typeface="+mn-ea"/>
                <a:cs typeface="Arial MT"/>
              </a:rPr>
              <a:t>addr,</a:t>
            </a:r>
            <a:r>
              <a:rPr kumimoji="0" sz="2400" b="0" i="0" u="none" strike="noStrike" kern="1200" cap="none" spc="-1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phone) </a:t>
            </a:r>
            <a:endParaRPr kumimoji="0" lang="es-ES" sz="2400" b="0" i="0" u="none" strike="noStrike" kern="1200" cap="none" spc="-5" normalizeH="0" baseline="0" noProof="0" dirty="0">
              <a:ln>
                <a:noFill/>
              </a:ln>
              <a:solidFill>
                <a:prstClr val="white"/>
              </a:solidFill>
              <a:effectLst/>
              <a:uLnTx/>
              <a:uFillTx/>
              <a:latin typeface="Arial MT"/>
              <a:ea typeface="+mn-ea"/>
              <a:cs typeface="Arial MT"/>
            </a:endParaRPr>
          </a:p>
          <a:p>
            <a:pPr marL="12700" marR="3862704"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650" normalizeH="0" baseline="0" noProof="0" dirty="0">
                <a:ln>
                  <a:noFill/>
                </a:ln>
                <a:solidFill>
                  <a:prstClr val="white"/>
                </a:solidFill>
                <a:effectLst/>
                <a:uLnTx/>
                <a:uFillTx/>
                <a:latin typeface="Arial MT"/>
                <a:ea typeface="+mn-ea"/>
                <a:cs typeface="Arial MT"/>
              </a:rPr>
              <a:t> </a:t>
            </a:r>
            <a:r>
              <a:rPr kumimoji="0" sz="2400" b="0" i="0" u="none" strike="noStrike" kern="1200" cap="none" spc="-15" normalizeH="0" baseline="0" noProof="0" dirty="0">
                <a:ln>
                  <a:noFill/>
                </a:ln>
                <a:solidFill>
                  <a:prstClr val="white"/>
                </a:solidFill>
                <a:effectLst/>
                <a:uLnTx/>
                <a:uFillTx/>
                <a:latin typeface="Arial MT"/>
                <a:ea typeface="+mn-ea"/>
                <a:cs typeface="Arial MT"/>
              </a:rPr>
              <a:t>Likes(</a:t>
            </a:r>
            <a:r>
              <a:rPr kumimoji="0" sz="2400" b="0" i="0" u="heavy" strike="noStrike" kern="1200" cap="none" spc="-15" normalizeH="0" baseline="0" noProof="0" dirty="0">
                <a:ln>
                  <a:noFill/>
                </a:ln>
                <a:solidFill>
                  <a:prstClr val="white"/>
                </a:solidFill>
                <a:effectLst/>
                <a:uLnTx/>
                <a:uFill>
                  <a:solidFill>
                    <a:srgbClr val="CC00CC"/>
                  </a:solidFill>
                </a:uFill>
                <a:latin typeface="Arial MT"/>
                <a:ea typeface="+mn-ea"/>
                <a:cs typeface="Arial MT"/>
              </a:rPr>
              <a:t>drinker</a:t>
            </a:r>
            <a:r>
              <a:rPr kumimoji="0" sz="2400" b="0" i="0" u="none" strike="noStrike" kern="1200" cap="none" spc="-15" normalizeH="0" baseline="0" noProof="0" dirty="0">
                <a:ln>
                  <a:noFill/>
                </a:ln>
                <a:solidFill>
                  <a:prstClr val="white"/>
                </a:solidFill>
                <a:effectLst/>
                <a:uLnTx/>
                <a:uFillTx/>
                <a:latin typeface="Arial MT"/>
                <a:ea typeface="+mn-ea"/>
                <a:cs typeface="Arial MT"/>
              </a:rPr>
              <a:t>,</a:t>
            </a:r>
            <a:r>
              <a:rPr kumimoji="0" sz="2400" b="0" i="0" u="none" strike="noStrike" kern="1200" cap="none" spc="635" normalizeH="0" baseline="0" noProof="0" dirty="0">
                <a:ln>
                  <a:noFill/>
                </a:ln>
                <a:solidFill>
                  <a:prstClr val="white"/>
                </a:solidFill>
                <a:effectLst/>
                <a:uLnTx/>
                <a:uFillTx/>
                <a:latin typeface="Arial MT"/>
                <a:ea typeface="+mn-ea"/>
                <a:cs typeface="Arial MT"/>
              </a:rPr>
              <a:t> </a:t>
            </a:r>
            <a:r>
              <a:rPr kumimoji="0" sz="2400" b="0" i="0" u="heavy" strike="noStrike" kern="1200" cap="none" spc="-5" normalizeH="0" baseline="0" noProof="0" dirty="0">
                <a:ln>
                  <a:noFill/>
                </a:ln>
                <a:solidFill>
                  <a:prstClr val="white"/>
                </a:solidFill>
                <a:effectLst/>
                <a:uLnTx/>
                <a:uFill>
                  <a:solidFill>
                    <a:srgbClr val="CC00CC"/>
                  </a:solidFill>
                </a:uFill>
                <a:latin typeface="Arial MT"/>
                <a:ea typeface="+mn-ea"/>
                <a:cs typeface="Arial MT"/>
              </a:rPr>
              <a:t>beer</a:t>
            </a:r>
            <a:r>
              <a:rPr kumimoji="0" sz="2400" b="0" i="0" u="none" strike="noStrike" kern="1200" cap="none" spc="-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 </a:t>
            </a:r>
            <a:endParaRPr kumimoji="0" lang="es-ES" sz="2400" b="0" i="0" u="none" strike="noStrike" kern="1200" cap="none" spc="0" normalizeH="0" baseline="0" noProof="0" dirty="0">
              <a:ln>
                <a:noFill/>
              </a:ln>
              <a:solidFill>
                <a:prstClr val="white"/>
              </a:solidFill>
              <a:effectLst/>
              <a:uLnTx/>
              <a:uFillTx/>
              <a:latin typeface="Arial MT"/>
              <a:ea typeface="+mn-ea"/>
              <a:cs typeface="Arial MT"/>
            </a:endParaRPr>
          </a:p>
          <a:p>
            <a:pPr marL="12700" marR="3862704"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20" normalizeH="0" baseline="0" noProof="0" dirty="0">
                <a:ln>
                  <a:noFill/>
                </a:ln>
                <a:solidFill>
                  <a:prstClr val="white"/>
                </a:solidFill>
                <a:effectLst/>
                <a:uLnTx/>
                <a:uFillTx/>
                <a:latin typeface="Arial MT"/>
                <a:ea typeface="+mn-ea"/>
                <a:cs typeface="Arial MT"/>
              </a:rPr>
              <a:t>Sells(</a:t>
            </a:r>
            <a:r>
              <a:rPr kumimoji="0" sz="2400" b="0" i="0" u="heavy" strike="noStrike" kern="1200" cap="none" spc="-20" normalizeH="0" baseline="0" noProof="0" dirty="0">
                <a:ln>
                  <a:noFill/>
                </a:ln>
                <a:solidFill>
                  <a:prstClr val="white"/>
                </a:solidFill>
                <a:effectLst/>
                <a:uLnTx/>
                <a:uFill>
                  <a:solidFill>
                    <a:srgbClr val="CC00CC"/>
                  </a:solidFill>
                </a:uFill>
                <a:latin typeface="Arial MT"/>
                <a:ea typeface="+mn-ea"/>
                <a:cs typeface="Arial MT"/>
              </a:rPr>
              <a:t>bar</a:t>
            </a:r>
            <a:r>
              <a:rPr kumimoji="0" sz="2400" b="0" i="0" u="none" strike="noStrike" kern="1200" cap="none" spc="-20" normalizeH="0" baseline="0" noProof="0" dirty="0">
                <a:ln>
                  <a:noFill/>
                </a:ln>
                <a:solidFill>
                  <a:prstClr val="white"/>
                </a:solidFill>
                <a:effectLst/>
                <a:uLnTx/>
                <a:uFillTx/>
                <a:latin typeface="Arial MT"/>
                <a:ea typeface="+mn-ea"/>
                <a:cs typeface="Arial MT"/>
              </a:rPr>
              <a:t>,</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0" i="0" u="heavy" strike="noStrike" kern="1200" cap="none" spc="-30" normalizeH="0" baseline="0" noProof="0" dirty="0">
                <a:ln>
                  <a:noFill/>
                </a:ln>
                <a:solidFill>
                  <a:prstClr val="white"/>
                </a:solidFill>
                <a:effectLst/>
                <a:uLnTx/>
                <a:uFill>
                  <a:solidFill>
                    <a:srgbClr val="CC00CC"/>
                  </a:solidFill>
                </a:uFill>
                <a:latin typeface="Arial MT"/>
                <a:ea typeface="+mn-ea"/>
                <a:cs typeface="Arial MT"/>
              </a:rPr>
              <a:t>beer</a:t>
            </a:r>
            <a:r>
              <a:rPr kumimoji="0" sz="2400" b="0" i="0" u="none" strike="noStrike" kern="1200" cap="none" spc="-30" normalizeH="0" baseline="0" noProof="0" dirty="0">
                <a:ln>
                  <a:noFill/>
                </a:ln>
                <a:solidFill>
                  <a:prstClr val="white"/>
                </a:solidFill>
                <a:effectLst/>
                <a:uLnTx/>
                <a:uFillTx/>
                <a:latin typeface="Arial MT"/>
                <a:ea typeface="+mn-ea"/>
                <a:cs typeface="Arial MT"/>
              </a:rPr>
              <a:t>,</a:t>
            </a:r>
            <a:r>
              <a:rPr kumimoji="0" sz="2400" b="0" i="0" u="none" strike="noStrike" kern="1200" cap="none" spc="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price) </a:t>
            </a:r>
            <a:r>
              <a:rPr kumimoji="0" sz="2400" b="0" i="0" u="none" strike="noStrike" kern="1200" cap="none" spc="0" normalizeH="0" baseline="0" noProof="0" dirty="0">
                <a:ln>
                  <a:noFill/>
                </a:ln>
                <a:solidFill>
                  <a:prstClr val="white"/>
                </a:solidFill>
                <a:effectLst/>
                <a:uLnTx/>
                <a:uFillTx/>
                <a:latin typeface="Arial MT"/>
                <a:ea typeface="+mn-ea"/>
                <a:cs typeface="Arial MT"/>
              </a:rPr>
              <a:t> </a:t>
            </a:r>
            <a:endParaRPr kumimoji="0" lang="es-ES" sz="2400" b="0" i="0" u="none" strike="noStrike" kern="1200" cap="none" spc="0" normalizeH="0" baseline="0" noProof="0" dirty="0">
              <a:ln>
                <a:noFill/>
              </a:ln>
              <a:solidFill>
                <a:prstClr val="white"/>
              </a:solidFill>
              <a:effectLst/>
              <a:uLnTx/>
              <a:uFillTx/>
              <a:latin typeface="Arial MT"/>
              <a:ea typeface="+mn-ea"/>
              <a:cs typeface="Arial MT"/>
            </a:endParaRPr>
          </a:p>
          <a:p>
            <a:pPr marL="12700" marR="3862704"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10" normalizeH="0" baseline="0" noProof="0" dirty="0">
                <a:ln>
                  <a:noFill/>
                </a:ln>
                <a:solidFill>
                  <a:prstClr val="white"/>
                </a:solidFill>
                <a:effectLst/>
                <a:uLnTx/>
                <a:uFillTx/>
                <a:latin typeface="Arial MT"/>
                <a:ea typeface="+mn-ea"/>
                <a:cs typeface="Arial MT"/>
              </a:rPr>
              <a:t>Frequents(</a:t>
            </a:r>
            <a:r>
              <a:rPr kumimoji="0" sz="2400" b="0" i="0" u="heavy" strike="noStrike" kern="1200" cap="none" spc="-10" normalizeH="0" baseline="0" noProof="0" dirty="0">
                <a:ln>
                  <a:noFill/>
                </a:ln>
                <a:solidFill>
                  <a:prstClr val="white"/>
                </a:solidFill>
                <a:effectLst/>
                <a:uLnTx/>
                <a:uFill>
                  <a:solidFill>
                    <a:srgbClr val="CC00CC"/>
                  </a:solidFill>
                </a:uFill>
                <a:latin typeface="Arial MT"/>
                <a:ea typeface="+mn-ea"/>
                <a:cs typeface="Arial MT"/>
              </a:rPr>
              <a:t>drinker</a:t>
            </a:r>
            <a:r>
              <a:rPr kumimoji="0" sz="2400" b="0" i="0" u="none" strike="noStrike" kern="1200" cap="none" spc="-10" normalizeH="0" baseline="0" noProof="0" dirty="0">
                <a:ln>
                  <a:noFill/>
                </a:ln>
                <a:solidFill>
                  <a:prstClr val="white"/>
                </a:solidFill>
                <a:effectLst/>
                <a:uLnTx/>
                <a:uFillTx/>
                <a:latin typeface="Arial MT"/>
                <a:ea typeface="+mn-ea"/>
                <a:cs typeface="Arial MT"/>
              </a:rPr>
              <a:t>,</a:t>
            </a:r>
            <a:r>
              <a:rPr kumimoji="0" sz="2400" b="0" i="0" u="none" strike="noStrike" kern="1200" cap="none" spc="10" normalizeH="0" baseline="0" noProof="0" dirty="0">
                <a:ln>
                  <a:noFill/>
                </a:ln>
                <a:solidFill>
                  <a:prstClr val="white"/>
                </a:solidFill>
                <a:effectLst/>
                <a:uLnTx/>
                <a:uFillTx/>
                <a:latin typeface="Arial MT"/>
                <a:ea typeface="+mn-ea"/>
                <a:cs typeface="Arial MT"/>
              </a:rPr>
              <a:t> </a:t>
            </a:r>
            <a:r>
              <a:rPr kumimoji="0" sz="2400" b="0" i="0" u="heavy" strike="noStrike" kern="1200" cap="none" spc="-5" normalizeH="0" baseline="0" noProof="0" dirty="0">
                <a:ln>
                  <a:noFill/>
                </a:ln>
                <a:solidFill>
                  <a:prstClr val="white"/>
                </a:solidFill>
                <a:effectLst/>
                <a:uLnTx/>
                <a:uFill>
                  <a:solidFill>
                    <a:srgbClr val="CC00CC"/>
                  </a:solidFill>
                </a:uFill>
                <a:latin typeface="Arial MT"/>
                <a:ea typeface="+mn-ea"/>
                <a:cs typeface="Arial MT"/>
              </a:rPr>
              <a:t>bar</a:t>
            </a:r>
            <a:r>
              <a:rPr kumimoji="0" sz="2400" b="0" i="0" u="none" strike="noStrike" kern="1200" cap="none" spc="-5"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0" marR="0" lvl="0" indent="0" algn="l" defTabSz="457200" rtl="0" eaLnBrk="1" fontAlgn="auto" latinLnBrk="0" hangingPunct="1">
              <a:lnSpc>
                <a:spcPct val="100000"/>
              </a:lnSpc>
              <a:spcBef>
                <a:spcPts val="45"/>
              </a:spcBef>
              <a:spcAft>
                <a:spcPts val="0"/>
              </a:spcAft>
              <a:buClrTx/>
              <a:buSzTx/>
              <a:buFontTx/>
              <a:buNone/>
              <a:tabLst/>
              <a:defRPr/>
            </a:pPr>
            <a:endParaRPr kumimoji="0" sz="3250" b="0" i="0" u="none" strike="noStrike" kern="1200" cap="none" spc="0" normalizeH="0" baseline="0" noProof="0" dirty="0">
              <a:ln>
                <a:noFill/>
              </a:ln>
              <a:solidFill>
                <a:prstClr val="white"/>
              </a:solidFill>
              <a:effectLst/>
              <a:uLnTx/>
              <a:uFillTx/>
              <a:latin typeface="Arial MT"/>
              <a:ea typeface="+mn-ea"/>
              <a:cs typeface="Arial MT"/>
            </a:endParaRPr>
          </a:p>
          <a:p>
            <a:pPr marL="12700" marR="5080" lvl="0" indent="0" algn="l" defTabSz="457200" rtl="0" eaLnBrk="1" fontAlgn="auto" latinLnBrk="0" hangingPunct="1">
              <a:lnSpc>
                <a:spcPts val="2590"/>
              </a:lnSpc>
              <a:spcBef>
                <a:spcPts val="5"/>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Underline</a:t>
            </a:r>
            <a:r>
              <a:rPr kumimoji="0" sz="2400" b="0" i="0" u="none" strike="noStrike" kern="1200" cap="none" spc="4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a:t>
            </a:r>
            <a:r>
              <a:rPr kumimoji="0" sz="2400" b="0" i="0" u="none" strike="noStrike" kern="1200" cap="none" spc="-25" normalizeH="0" baseline="0" noProof="0" dirty="0">
                <a:ln>
                  <a:noFill/>
                </a:ln>
                <a:solidFill>
                  <a:prstClr val="white"/>
                </a:solidFill>
                <a:effectLst/>
                <a:uLnTx/>
                <a:uFillTx/>
                <a:latin typeface="Arial MT"/>
                <a:ea typeface="+mn-ea"/>
                <a:cs typeface="Arial MT"/>
              </a:rPr>
              <a:t> </a:t>
            </a:r>
            <a:r>
              <a:rPr kumimoji="0" sz="2400" b="0" i="1" u="none" strike="noStrike" kern="1200" cap="none" spc="0" normalizeH="0" baseline="0" noProof="0" dirty="0">
                <a:ln>
                  <a:noFill/>
                </a:ln>
                <a:solidFill>
                  <a:srgbClr val="FF0066"/>
                </a:solidFill>
                <a:effectLst/>
                <a:uLnTx/>
                <a:uFillTx/>
                <a:latin typeface="Arial"/>
                <a:ea typeface="+mn-ea"/>
                <a:cs typeface="Arial"/>
              </a:rPr>
              <a:t>key</a:t>
            </a:r>
            <a:r>
              <a:rPr kumimoji="0" sz="2400" b="0" i="1" u="none" strike="noStrike" kern="1200" cap="none" spc="15" normalizeH="0" baseline="0" noProof="0" dirty="0">
                <a:ln>
                  <a:noFill/>
                </a:ln>
                <a:solidFill>
                  <a:srgbClr val="FF0066"/>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a:t>
            </a:r>
            <a:r>
              <a:rPr kumimoji="0" lang="es-ES" sz="2400" b="0" i="0" u="none" strike="noStrike" kern="1200" cap="none" spc="-5" normalizeH="0" baseline="0" noProof="0" dirty="0">
                <a:ln>
                  <a:noFill/>
                </a:ln>
                <a:solidFill>
                  <a:prstClr val="white"/>
                </a:solidFill>
                <a:effectLst/>
                <a:uLnTx/>
                <a:uFillTx/>
                <a:latin typeface="Arial MT"/>
                <a:ea typeface="+mn-ea"/>
                <a:cs typeface="Arial MT"/>
              </a:rPr>
              <a:t>Las tuplas no pueden tener el mismo valor en todos los atributos clave</a:t>
            </a:r>
            <a:r>
              <a:rPr kumimoji="0" sz="2400" b="0" i="0" u="none" strike="noStrike" kern="1200" cap="none" spc="0" normalizeH="0" baseline="0" noProof="0" dirty="0">
                <a:ln>
                  <a:noFill/>
                </a:ln>
                <a:solidFill>
                  <a:prstClr val="white"/>
                </a:solidFill>
                <a:effectLst/>
                <a:uLnTx/>
                <a:uFillTx/>
                <a:latin typeface="Arial MT"/>
                <a:ea typeface="+mn-ea"/>
                <a:cs typeface="Arial MT"/>
              </a:rPr>
              <a:t>)</a:t>
            </a:r>
          </a:p>
          <a:p>
            <a:pPr marL="127000" marR="0" lvl="0" indent="0" algn="l" defTabSz="457200" rtl="0" eaLnBrk="1" fontAlgn="auto" latinLnBrk="0" hangingPunct="1">
              <a:lnSpc>
                <a:spcPct val="100000"/>
              </a:lnSpc>
              <a:spcBef>
                <a:spcPts val="220"/>
              </a:spcBef>
              <a:spcAft>
                <a:spcPts val="0"/>
              </a:spcAft>
              <a:buClrTx/>
              <a:buSzTx/>
              <a:buFontTx/>
              <a:buNone/>
              <a:tabLst/>
              <a:defRPr/>
            </a:pP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685800"/>
            <a:ext cx="8072118" cy="1262012"/>
          </a:xfrm>
          <a:prstGeom prst="rect">
            <a:avLst/>
          </a:prstGeom>
        </p:spPr>
        <p:txBody>
          <a:bodyPr vert="horz" wrap="square" lIns="0" tIns="13335" rIns="0" bIns="0" rtlCol="0">
            <a:spAutoFit/>
          </a:bodyPr>
          <a:lstStyle/>
          <a:p>
            <a:pPr marL="12700">
              <a:spcBef>
                <a:spcPts val="105"/>
              </a:spcBef>
            </a:pPr>
            <a:r>
              <a:rPr lang="es-CL" spc="-5" dirty="0">
                <a:solidFill>
                  <a:srgbClr val="FF0000"/>
                </a:solidFill>
                <a:latin typeface="Aharoni" panose="02010803020104030203" pitchFamily="2" charset="-79"/>
                <a:cs typeface="Aharoni" panose="02010803020104030203" pitchFamily="2" charset="-79"/>
              </a:rPr>
              <a:t>Tipos de restricciones
</a:t>
            </a:r>
            <a:endParaRPr dirty="0">
              <a:solidFill>
                <a:srgbClr val="FF0000"/>
              </a:solidFill>
              <a:latin typeface="Aharoni" panose="02010803020104030203" pitchFamily="2" charset="-79"/>
              <a:cs typeface="Aharoni" panose="02010803020104030203" pitchFamily="2" charset="-79"/>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12</a:t>
            </a:fld>
            <a:endPar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endParaRPr>
          </a:p>
        </p:txBody>
      </p:sp>
      <p:sp>
        <p:nvSpPr>
          <p:cNvPr id="3" name="object 3"/>
          <p:cNvSpPr txBox="1"/>
          <p:nvPr/>
        </p:nvSpPr>
        <p:spPr>
          <a:xfrm>
            <a:off x="1143000" y="1482460"/>
            <a:ext cx="8610600" cy="3449021"/>
          </a:xfrm>
          <a:prstGeom prst="rect">
            <a:avLst/>
          </a:prstGeom>
        </p:spPr>
        <p:txBody>
          <a:bodyPr vert="horz" wrap="square" lIns="0" tIns="85725" rIns="0" bIns="0" rtlCol="0">
            <a:spAutoFit/>
          </a:bodyPr>
          <a:lstStyle/>
          <a:p>
            <a:pPr marL="12700" marR="0" lvl="0" indent="0" algn="l" defTabSz="457200" rtl="0" eaLnBrk="1" fontAlgn="auto" latinLnBrk="0" hangingPunct="1">
              <a:lnSpc>
                <a:spcPct val="100000"/>
              </a:lnSpc>
              <a:spcBef>
                <a:spcPts val="675"/>
              </a:spcBef>
              <a:spcAft>
                <a:spcPts val="0"/>
              </a:spcAft>
              <a:buClrTx/>
              <a:buSzTx/>
              <a:buFontTx/>
              <a:buNone/>
              <a:tabLst>
                <a:tab pos="354965" algn="l"/>
                <a:tab pos="355600" algn="l"/>
              </a:tabLst>
              <a:defRPr/>
            </a:pPr>
            <a:r>
              <a:rPr kumimoji="0" sz="2400" b="0" i="0" u="none" strike="noStrike" kern="1200" cap="none" spc="0" normalizeH="0" baseline="0" noProof="0" dirty="0">
                <a:ln>
                  <a:noFill/>
                </a:ln>
                <a:solidFill>
                  <a:srgbClr val="FF0066"/>
                </a:solidFill>
                <a:effectLst/>
                <a:uLnTx/>
                <a:uFillTx/>
                <a:latin typeface="Arial MT"/>
                <a:ea typeface="+mn-ea"/>
                <a:cs typeface="Arial MT"/>
              </a:rPr>
              <a:t>Keys</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12700" marR="0" lvl="0" indent="0" algn="l" defTabSz="457200" rtl="0" eaLnBrk="1" fontAlgn="auto" latinLnBrk="0" hangingPunct="1">
              <a:lnSpc>
                <a:spcPct val="100000"/>
              </a:lnSpc>
              <a:spcBef>
                <a:spcPts val="575"/>
              </a:spcBef>
              <a:spcAft>
                <a:spcPts val="0"/>
              </a:spcAft>
              <a:buClrTx/>
              <a:buSzTx/>
              <a:buFontTx/>
              <a:buNone/>
              <a:tabLst>
                <a:tab pos="354965" algn="l"/>
                <a:tab pos="355600" algn="l"/>
              </a:tabLst>
              <a:defRPr/>
            </a:pPr>
            <a:r>
              <a:rPr kumimoji="0" sz="2400" b="0" i="0" u="none" strike="noStrike" kern="1200" cap="none" spc="-5" normalizeH="0" baseline="0" noProof="0" dirty="0">
                <a:ln>
                  <a:noFill/>
                </a:ln>
                <a:solidFill>
                  <a:srgbClr val="FF0066"/>
                </a:solidFill>
                <a:effectLst/>
                <a:uLnTx/>
                <a:uFillTx/>
                <a:latin typeface="Arial MT"/>
                <a:ea typeface="+mn-ea"/>
                <a:cs typeface="Arial MT"/>
              </a:rPr>
              <a:t>Foreign-key</a:t>
            </a:r>
            <a:r>
              <a:rPr kumimoji="0" sz="2400" b="0" i="0" u="none" strike="noStrike" kern="1200" cap="none" spc="55" normalizeH="0" baseline="0" noProof="0" dirty="0">
                <a:ln>
                  <a:noFill/>
                </a:ln>
                <a:solidFill>
                  <a:srgbClr val="FF0066"/>
                </a:solidFill>
                <a:effectLst/>
                <a:uLnTx/>
                <a:uFillTx/>
                <a:latin typeface="Arial MT"/>
                <a:ea typeface="+mn-ea"/>
                <a:cs typeface="Arial MT"/>
              </a:rPr>
              <a:t> </a:t>
            </a:r>
            <a:r>
              <a:rPr kumimoji="0" lang="es-ES" sz="2400" b="0" i="0" u="none" strike="noStrike" kern="1200" cap="none" spc="-5" normalizeH="0" baseline="0" noProof="0" dirty="0">
                <a:ln>
                  <a:noFill/>
                </a:ln>
                <a:solidFill>
                  <a:prstClr val="white"/>
                </a:solidFill>
                <a:effectLst/>
                <a:uLnTx/>
                <a:uFillTx/>
                <a:latin typeface="Arial MT"/>
                <a:ea typeface="+mn-ea"/>
                <a:cs typeface="Arial MT"/>
              </a:rPr>
              <a:t>o restricciones de integridad referencial</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525"/>
              </a:spcBef>
              <a:spcAft>
                <a:spcPts val="0"/>
              </a:spcAft>
              <a:buClrTx/>
              <a:buSzTx/>
              <a:buFontTx/>
              <a:buChar char="–"/>
              <a:tabLst>
                <a:tab pos="756920" algn="l"/>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Restricciones de interrelación</a:t>
            </a:r>
          </a:p>
          <a:p>
            <a:pPr marL="12065" marR="0" lvl="0" indent="0" algn="l" defTabSz="457200" rtl="0" eaLnBrk="1" fontAlgn="auto" latinLnBrk="0" hangingPunct="1">
              <a:lnSpc>
                <a:spcPct val="100000"/>
              </a:lnSpc>
              <a:spcBef>
                <a:spcPts val="525"/>
              </a:spcBef>
              <a:spcAft>
                <a:spcPts val="0"/>
              </a:spcAft>
              <a:buClrTx/>
              <a:buSzTx/>
              <a:buFontTx/>
              <a:buNone/>
              <a:tabLst>
                <a:tab pos="756920" algn="l"/>
              </a:tabLst>
              <a:defRPr/>
            </a:pPr>
            <a:r>
              <a:rPr kumimoji="0" lang="es-ES" sz="2400" b="0" i="0" u="none" strike="noStrike" kern="1200" cap="none" spc="-20" normalizeH="0" baseline="0" noProof="0" dirty="0">
                <a:ln>
                  <a:noFill/>
                </a:ln>
                <a:solidFill>
                  <a:srgbClr val="FF0066"/>
                </a:solidFill>
                <a:effectLst/>
                <a:uLnTx/>
                <a:uFillTx/>
                <a:latin typeface="Arial MT"/>
                <a:ea typeface="+mn-ea"/>
                <a:cs typeface="Arial MT"/>
              </a:rPr>
              <a:t>Restricciones basadas en el valor</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525"/>
              </a:spcBef>
              <a:spcAft>
                <a:spcPts val="0"/>
              </a:spcAft>
              <a:buClrTx/>
              <a:buSzTx/>
              <a:buFontTx/>
              <a:buChar char="–"/>
              <a:tabLst>
                <a:tab pos="756920" algn="l"/>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Restringir valores de un atributo determinado</a:t>
            </a:r>
          </a:p>
          <a:p>
            <a:pPr marL="12065" marR="0" lvl="0" indent="0" algn="l" defTabSz="457200" rtl="0" eaLnBrk="1" fontAlgn="auto" latinLnBrk="0" hangingPunct="1">
              <a:lnSpc>
                <a:spcPct val="100000"/>
              </a:lnSpc>
              <a:spcBef>
                <a:spcPts val="525"/>
              </a:spcBef>
              <a:spcAft>
                <a:spcPts val="0"/>
              </a:spcAft>
              <a:buClrTx/>
              <a:buSzTx/>
              <a:buFontTx/>
              <a:buNone/>
              <a:tabLst>
                <a:tab pos="756920" algn="l"/>
              </a:tabLst>
              <a:defRPr/>
            </a:pPr>
            <a:r>
              <a:rPr kumimoji="0" lang="es-CL" sz="2400" b="0" i="0" u="none" strike="noStrike" kern="1200" cap="none" spc="-10" normalizeH="0" baseline="0" noProof="0" dirty="0">
                <a:ln>
                  <a:noFill/>
                </a:ln>
                <a:solidFill>
                  <a:srgbClr val="FF0066"/>
                </a:solidFill>
                <a:effectLst/>
                <a:uLnTx/>
                <a:uFillTx/>
                <a:latin typeface="Arial MT"/>
                <a:ea typeface="+mn-ea"/>
                <a:cs typeface="Arial MT"/>
              </a:rPr>
              <a:t>Restricciones basadas en tuplas</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530"/>
              </a:spcBef>
              <a:spcAft>
                <a:spcPts val="0"/>
              </a:spcAft>
              <a:buClrTx/>
              <a:buSzTx/>
              <a:buFontTx/>
              <a:buChar char="–"/>
              <a:tabLst>
                <a:tab pos="756920" algn="l"/>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Relación entre componentes
</a:t>
            </a:r>
            <a:r>
              <a:rPr kumimoji="0" lang="es-CL" sz="2400" b="0" i="0" u="none" strike="noStrike" kern="1200" cap="none" spc="-5" normalizeH="0" baseline="0" noProof="0" dirty="0">
                <a:ln>
                  <a:noFill/>
                </a:ln>
                <a:solidFill>
                  <a:srgbClr val="FF0066"/>
                </a:solidFill>
                <a:effectLst/>
                <a:uLnTx/>
                <a:uFillTx/>
                <a:latin typeface="Arial MT"/>
                <a:ea typeface="+mn-ea"/>
                <a:cs typeface="Arial MT"/>
              </a:rPr>
              <a:t>Afirmaciones</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9078" y="533400"/>
            <a:ext cx="7617459" cy="1245084"/>
          </a:xfrm>
          <a:prstGeom prst="rect">
            <a:avLst/>
          </a:prstGeom>
        </p:spPr>
        <p:txBody>
          <a:bodyPr vert="horz" wrap="square" lIns="0" tIns="13335" rIns="0" bIns="0" rtlCol="0">
            <a:spAutoFit/>
          </a:bodyPr>
          <a:lstStyle/>
          <a:p>
            <a:pPr marL="12700">
              <a:spcBef>
                <a:spcPts val="105"/>
              </a:spcBef>
            </a:pPr>
            <a:r>
              <a:rPr lang="es-CL" spc="-5" dirty="0">
                <a:solidFill>
                  <a:srgbClr val="FF0000"/>
                </a:solidFill>
                <a:latin typeface="Aharoni" panose="02010803020104030203" pitchFamily="2" charset="-79"/>
                <a:cs typeface="Aharoni" panose="02010803020104030203" pitchFamily="2" charset="-79"/>
              </a:rPr>
              <a:t>Declaración de claves</a:t>
            </a:r>
            <a:r>
              <a:rPr lang="es-CL" spc="-5" dirty="0">
                <a:solidFill>
                  <a:srgbClr val="FF0000"/>
                </a:solidFill>
              </a:rPr>
              <a:t>
</a:t>
            </a:r>
            <a:endParaRPr dirty="0">
              <a:solidFill>
                <a:srgbClr val="FF0000"/>
              </a:solidFill>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13</a:t>
            </a:fld>
            <a:endPar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endParaRPr>
          </a:p>
        </p:txBody>
      </p:sp>
      <p:sp>
        <p:nvSpPr>
          <p:cNvPr id="3" name="object 3"/>
          <p:cNvSpPr txBox="1"/>
          <p:nvPr/>
        </p:nvSpPr>
        <p:spPr>
          <a:xfrm>
            <a:off x="965870" y="1676400"/>
            <a:ext cx="10472987" cy="3736920"/>
          </a:xfrm>
          <a:prstGeom prst="rect">
            <a:avLst/>
          </a:prstGeom>
        </p:spPr>
        <p:txBody>
          <a:bodyPr vert="horz" wrap="square" lIns="0" tIns="12700" rIns="0" bIns="0" rtlCol="0">
            <a:spAutoFit/>
          </a:bodyPr>
          <a:lstStyle/>
          <a:p>
            <a:pPr marL="12700" marR="0" lvl="0" indent="0" algn="l" defTabSz="457200" rtl="0" eaLnBrk="1" fontAlgn="auto" latinLnBrk="0" hangingPunct="1">
              <a:lnSpc>
                <a:spcPts val="2735"/>
              </a:lnSpc>
              <a:spcBef>
                <a:spcPts val="100"/>
              </a:spcBef>
              <a:spcAft>
                <a:spcPts val="0"/>
              </a:spcAft>
              <a:buClrTx/>
              <a:buSzTx/>
              <a:buFontTx/>
              <a:buNone/>
              <a:tabLst>
                <a:tab pos="354965" algn="l"/>
                <a:tab pos="355600" algn="l"/>
              </a:tabLst>
              <a:defRPr/>
            </a:pPr>
            <a:r>
              <a:rPr kumimoji="0" lang="es-ES" sz="2400" b="0" i="0" u="none" strike="noStrike" kern="1200" cap="none" spc="-5" normalizeH="0" baseline="0" noProof="0" dirty="0">
                <a:ln>
                  <a:noFill/>
                </a:ln>
                <a:solidFill>
                  <a:prstClr val="white"/>
                </a:solidFill>
                <a:effectLst/>
                <a:uLnTx/>
                <a:uFillTx/>
                <a:latin typeface="Arial MT"/>
                <a:ea typeface="+mn-ea"/>
                <a:cs typeface="Arial MT"/>
              </a:rPr>
              <a:t>Se puede declarar un atributo o una lista de atributos</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ts val="2735"/>
              </a:lnSpc>
              <a:spcBef>
                <a:spcPts val="0"/>
              </a:spcBef>
              <a:spcAft>
                <a:spcPts val="0"/>
              </a:spcAft>
              <a:buClrTx/>
              <a:buSzTx/>
              <a:buFontTx/>
              <a:buNone/>
              <a:tabLst/>
              <a:defRPr/>
            </a:pPr>
            <a:r>
              <a:rPr kumimoji="0" sz="2400" b="1" i="0" u="none" strike="noStrike" kern="1200" cap="none" spc="-15" normalizeH="0" baseline="0" noProof="0" dirty="0">
                <a:ln>
                  <a:noFill/>
                </a:ln>
                <a:solidFill>
                  <a:prstClr val="white"/>
                </a:solidFill>
                <a:effectLst/>
                <a:uLnTx/>
                <a:uFillTx/>
                <a:latin typeface="Arial"/>
                <a:ea typeface="+mn-ea"/>
                <a:cs typeface="Arial"/>
              </a:rPr>
              <a:t>PRIMARY</a:t>
            </a:r>
            <a:r>
              <a:rPr kumimoji="0" sz="2400" b="1" i="0" u="none" strike="noStrike" kern="1200" cap="none" spc="-55" normalizeH="0" baseline="0" noProof="0" dirty="0">
                <a:ln>
                  <a:noFill/>
                </a:ln>
                <a:solidFill>
                  <a:prstClr val="white"/>
                </a:solidFill>
                <a:effectLst/>
                <a:uLnTx/>
                <a:uFillTx/>
                <a:latin typeface="Arial"/>
                <a:ea typeface="+mn-ea"/>
                <a:cs typeface="Arial"/>
              </a:rPr>
              <a:t> </a:t>
            </a:r>
            <a:r>
              <a:rPr kumimoji="0" sz="2400" b="1" i="0" u="none" strike="noStrike" kern="1200" cap="none" spc="0" normalizeH="0" baseline="0" noProof="0" dirty="0">
                <a:ln>
                  <a:noFill/>
                </a:ln>
                <a:solidFill>
                  <a:prstClr val="white"/>
                </a:solidFill>
                <a:effectLst/>
                <a:uLnTx/>
                <a:uFillTx/>
                <a:latin typeface="Arial"/>
                <a:ea typeface="+mn-ea"/>
                <a:cs typeface="Arial"/>
              </a:rPr>
              <a:t>KEY</a:t>
            </a:r>
            <a:r>
              <a:rPr kumimoji="0" sz="2400" b="1" i="0" u="none" strike="noStrike" kern="1200" cap="none" spc="-15"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o</a:t>
            </a:r>
            <a:r>
              <a:rPr kumimoji="0" sz="2400" b="0" i="0" u="none" strike="noStrike" kern="1200" cap="none" spc="-20" normalizeH="0" baseline="0" noProof="0" dirty="0">
                <a:ln>
                  <a:noFill/>
                </a:ln>
                <a:solidFill>
                  <a:prstClr val="white"/>
                </a:solidFill>
                <a:effectLst/>
                <a:uLnTx/>
                <a:uFillTx/>
                <a:latin typeface="Arial MT"/>
                <a:ea typeface="+mn-ea"/>
                <a:cs typeface="Arial MT"/>
              </a:rPr>
              <a:t> </a:t>
            </a:r>
            <a:r>
              <a:rPr kumimoji="0" sz="2400" b="1" i="0" u="none" strike="noStrike" kern="1200" cap="none" spc="-5" normalizeH="0" baseline="0" noProof="0" dirty="0">
                <a:ln>
                  <a:noFill/>
                </a:ln>
                <a:solidFill>
                  <a:prstClr val="white"/>
                </a:solidFill>
                <a:effectLst/>
                <a:uLnTx/>
                <a:uFillTx/>
                <a:latin typeface="Arial"/>
                <a:ea typeface="+mn-ea"/>
                <a:cs typeface="Arial"/>
              </a:rPr>
              <a:t>UNIQUE</a:t>
            </a:r>
            <a:endParaRPr kumimoji="0" sz="2400" b="0" i="0" u="none" strike="noStrike" kern="1200" cap="none" spc="0" normalizeH="0" baseline="0" noProof="0" dirty="0">
              <a:ln>
                <a:noFill/>
              </a:ln>
              <a:solidFill>
                <a:prstClr val="white"/>
              </a:solidFill>
              <a:effectLst/>
              <a:uLnTx/>
              <a:uFillTx/>
              <a:latin typeface="Arial"/>
              <a:ea typeface="+mn-ea"/>
              <a:cs typeface="Arial"/>
            </a:endParaRPr>
          </a:p>
          <a:p>
            <a:pPr marL="756285" marR="0" lvl="1" indent="-287020" algn="l" defTabSz="457200" rtl="0" eaLnBrk="1" fontAlgn="auto" latinLnBrk="0" hangingPunct="1">
              <a:lnSpc>
                <a:spcPts val="2510"/>
              </a:lnSpc>
              <a:spcBef>
                <a:spcPts val="259"/>
              </a:spcBef>
              <a:spcAft>
                <a:spcPts val="0"/>
              </a:spcAft>
              <a:buClrTx/>
              <a:buSzTx/>
              <a:buFontTx/>
              <a:buChar char="–"/>
              <a:tabLst>
                <a:tab pos="75692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Cualquiera de los dos dice que no hay dos tuplas de la relación que puedan estar de acuerdo en todos los atributos de la lista
Hay algunas distinciones que se mencionarán más adelante</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756285" marR="464184" lvl="1" indent="-287020" algn="l" defTabSz="457200" rtl="0" eaLnBrk="1" fontAlgn="auto" latinLnBrk="0" hangingPunct="1">
              <a:lnSpc>
                <a:spcPts val="2380"/>
              </a:lnSpc>
              <a:spcBef>
                <a:spcPts val="560"/>
              </a:spcBef>
              <a:spcAft>
                <a:spcPts val="0"/>
              </a:spcAft>
              <a:buClrTx/>
              <a:buSzTx/>
              <a:buFontTx/>
              <a:buChar char="–"/>
              <a:tabLst>
                <a:tab pos="75692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Coloque PRIMARY KEY o UNIQUE después del tipo en la declaración del atributo</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0" marR="0" lvl="0" indent="0" algn="l" defTabSz="457200" rtl="0" eaLnBrk="1" fontAlgn="auto" latinLnBrk="0" hangingPunct="1">
              <a:lnSpc>
                <a:spcPct val="100000"/>
              </a:lnSpc>
              <a:spcBef>
                <a:spcPts val="30"/>
              </a:spcBef>
              <a:spcAft>
                <a:spcPts val="0"/>
              </a:spcAft>
              <a:buClrTx/>
              <a:buSzTx/>
              <a:buFontTx/>
              <a:buNone/>
              <a:tabLst/>
              <a:defRPr/>
            </a:pPr>
            <a:endParaRPr kumimoji="0" sz="2450" b="0" i="0" u="none" strike="noStrike" kern="1200" cap="none" spc="0" normalizeH="0" baseline="0" noProof="0" dirty="0">
              <a:ln>
                <a:noFill/>
              </a:ln>
              <a:solidFill>
                <a:prstClr val="white"/>
              </a:solidFill>
              <a:effectLst/>
              <a:uLnTx/>
              <a:uFillTx/>
              <a:latin typeface="Arial MT"/>
              <a:ea typeface="+mn-ea"/>
              <a:cs typeface="Arial MT"/>
            </a:endParaRPr>
          </a:p>
          <a:p>
            <a:pPr marL="927100" marR="0" lvl="0" indent="0" algn="l" defTabSz="457200" rtl="0" eaLnBrk="1" fontAlgn="auto" latinLnBrk="0" hangingPunct="1">
              <a:lnSpc>
                <a:spcPct val="100000"/>
              </a:lnSpc>
              <a:spcBef>
                <a:spcPts val="5"/>
              </a:spcBef>
              <a:spcAft>
                <a:spcPts val="0"/>
              </a:spcAft>
              <a:buClrTx/>
              <a:buSzTx/>
              <a:buFontTx/>
              <a:buNone/>
              <a:tabLst/>
              <a:defRPr/>
            </a:pPr>
            <a:r>
              <a:rPr kumimoji="0" sz="2000" b="1" i="0" u="none" strike="noStrike" kern="1200" cap="none" spc="-25" normalizeH="0" baseline="0" noProof="0" dirty="0">
                <a:ln>
                  <a:noFill/>
                </a:ln>
                <a:solidFill>
                  <a:prstClr val="white"/>
                </a:solidFill>
                <a:effectLst/>
                <a:uLnTx/>
                <a:uFillTx/>
                <a:latin typeface="Space Mono" panose="02000509040000020004" pitchFamily="49" charset="0"/>
                <a:ea typeface="+mn-ea"/>
                <a:cs typeface="Arial"/>
              </a:rPr>
              <a:t>CREATE</a:t>
            </a:r>
            <a:r>
              <a:rPr kumimoji="0" sz="2000" b="1" i="0" u="none" strike="noStrike" kern="1200" cap="none" spc="-20" normalizeH="0" baseline="0" noProof="0" dirty="0">
                <a:ln>
                  <a:noFill/>
                </a:ln>
                <a:solidFill>
                  <a:prstClr val="white"/>
                </a:solidFill>
                <a:effectLst/>
                <a:uLnTx/>
                <a:uFillTx/>
                <a:latin typeface="Space Mono" panose="02000509040000020004" pitchFamily="49" charset="0"/>
                <a:ea typeface="+mn-ea"/>
                <a:cs typeface="Arial"/>
              </a:rPr>
              <a:t> </a:t>
            </a:r>
            <a:r>
              <a:rPr kumimoji="0" sz="2000" b="1" i="0" u="none" strike="noStrike" kern="1200" cap="none" spc="-30" normalizeH="0" baseline="0" noProof="0" dirty="0">
                <a:ln>
                  <a:noFill/>
                </a:ln>
                <a:solidFill>
                  <a:prstClr val="white"/>
                </a:solidFill>
                <a:effectLst/>
                <a:uLnTx/>
                <a:uFillTx/>
                <a:latin typeface="Space Mono" panose="02000509040000020004" pitchFamily="49" charset="0"/>
                <a:ea typeface="+mn-ea"/>
                <a:cs typeface="Arial"/>
              </a:rPr>
              <a:t>TABLE</a:t>
            </a:r>
            <a:r>
              <a:rPr kumimoji="0" sz="2000" b="1" i="0" u="none" strike="noStrike" kern="1200" cap="none" spc="-15" normalizeH="0" baseline="0" noProof="0" dirty="0">
                <a:ln>
                  <a:noFill/>
                </a:ln>
                <a:solidFill>
                  <a:prstClr val="white"/>
                </a:solidFill>
                <a:effectLst/>
                <a:uLnTx/>
                <a:uFillTx/>
                <a:latin typeface="Space Mono" panose="02000509040000020004" pitchFamily="49" charset="0"/>
                <a:ea typeface="+mn-ea"/>
                <a:cs typeface="Arial"/>
              </a:rPr>
              <a:t> </a:t>
            </a:r>
            <a:r>
              <a:rPr kumimoji="0"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Arial MT"/>
              </a:rPr>
              <a:t>Beers</a:t>
            </a:r>
            <a:r>
              <a:rPr kumimoji="0" sz="2000" b="0" i="0" u="none" strike="noStrike" kern="1200" cap="none" spc="-35" normalizeH="0" baseline="0" noProof="0" dirty="0">
                <a:ln>
                  <a:noFill/>
                </a:ln>
                <a:solidFill>
                  <a:prstClr val="white"/>
                </a:solidFill>
                <a:effectLst/>
                <a:uLnTx/>
                <a:uFillTx/>
                <a:latin typeface="Space Mono" panose="02000509040000020004" pitchFamily="49" charset="0"/>
                <a:ea typeface="+mn-ea"/>
                <a:cs typeface="Arial MT"/>
              </a:rPr>
              <a:t> </a:t>
            </a:r>
            <a:r>
              <a:rPr kumimoji="0"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Arial MT"/>
              </a:rPr>
              <a:t>(</a:t>
            </a:r>
            <a:endParaRPr kumimoji="0" lang="es-ES"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Arial MT"/>
            </a:endParaRPr>
          </a:p>
          <a:p>
            <a:pPr marL="927100" marR="0" lvl="0" indent="0" algn="l" defTabSz="457200" rtl="0" eaLnBrk="1" fontAlgn="auto" latinLnBrk="0" hangingPunct="1">
              <a:lnSpc>
                <a:spcPct val="100000"/>
              </a:lnSpc>
              <a:spcBef>
                <a:spcPts val="5"/>
              </a:spcBef>
              <a:spcAft>
                <a:spcPts val="0"/>
              </a:spcAft>
              <a:buClrTx/>
              <a:buSzTx/>
              <a:buFontTx/>
              <a:buNone/>
              <a:tabLst/>
              <a:defRPr/>
            </a:pPr>
            <a:r>
              <a:rPr kumimoji="0" lang="es-CL" sz="2000" b="0" i="0" u="none" strike="noStrike" kern="1200" cap="none" spc="0" normalizeH="0" baseline="0" noProof="0" dirty="0" err="1">
                <a:ln>
                  <a:noFill/>
                </a:ln>
                <a:solidFill>
                  <a:prstClr val="white"/>
                </a:solidFill>
                <a:effectLst/>
                <a:uLnTx/>
                <a:uFillTx/>
                <a:latin typeface="Space Mono" panose="02000509040000020004" pitchFamily="49" charset="0"/>
                <a:ea typeface="+mn-ea"/>
                <a:cs typeface="Arial MT"/>
              </a:rPr>
              <a:t>name</a:t>
            </a:r>
            <a:r>
              <a:rPr kumimoji="0" lang="es-CL"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Arial MT"/>
              </a:rPr>
              <a:t> CHAR CHAR(20)</a:t>
            </a:r>
            <a:r>
              <a:rPr kumimoji="0" lang="es-CL" sz="2000" b="0" i="0" u="none" strike="noStrike" kern="1200" cap="none" spc="-50" normalizeH="0" baseline="0" noProof="0" dirty="0">
                <a:ln>
                  <a:noFill/>
                </a:ln>
                <a:solidFill>
                  <a:prstClr val="white"/>
                </a:solidFill>
                <a:effectLst/>
                <a:uLnTx/>
                <a:uFillTx/>
                <a:latin typeface="Space Mono" panose="02000509040000020004" pitchFamily="49" charset="0"/>
                <a:ea typeface="+mn-ea"/>
                <a:cs typeface="Arial MT"/>
              </a:rPr>
              <a:t> </a:t>
            </a:r>
            <a:r>
              <a:rPr kumimoji="0" lang="es-CL" sz="2000" b="1" i="0" u="none" strike="noStrike" kern="1200" cap="none" spc="-10" normalizeH="0" baseline="0" noProof="0" dirty="0">
                <a:ln>
                  <a:noFill/>
                </a:ln>
                <a:solidFill>
                  <a:prstClr val="white"/>
                </a:solidFill>
                <a:effectLst/>
                <a:uLnTx/>
                <a:uFillTx/>
                <a:latin typeface="Space Mono" panose="02000509040000020004" pitchFamily="49" charset="0"/>
                <a:ea typeface="+mn-ea"/>
                <a:cs typeface="Arial"/>
              </a:rPr>
              <a:t>PRIMARY</a:t>
            </a:r>
            <a:r>
              <a:rPr kumimoji="0" lang="es-CL" sz="2000" b="1" i="0" u="none" strike="noStrike" kern="1200" cap="none" spc="-85" normalizeH="0" baseline="0" noProof="0" dirty="0">
                <a:ln>
                  <a:noFill/>
                </a:ln>
                <a:solidFill>
                  <a:prstClr val="white"/>
                </a:solidFill>
                <a:effectLst/>
                <a:uLnTx/>
                <a:uFillTx/>
                <a:latin typeface="Space Mono" panose="02000509040000020004" pitchFamily="49" charset="0"/>
                <a:ea typeface="+mn-ea"/>
                <a:cs typeface="Arial"/>
              </a:rPr>
              <a:t> </a:t>
            </a:r>
            <a:r>
              <a:rPr kumimoji="0" lang="es-CL" sz="2000" b="1" i="0" u="none" strike="noStrike" kern="1200" cap="none" spc="0" normalizeH="0" baseline="0" noProof="0" dirty="0">
                <a:ln>
                  <a:noFill/>
                </a:ln>
                <a:solidFill>
                  <a:prstClr val="white"/>
                </a:solidFill>
                <a:effectLst/>
                <a:uLnTx/>
                <a:uFillTx/>
                <a:latin typeface="Space Mono" panose="02000509040000020004" pitchFamily="49" charset="0"/>
                <a:ea typeface="+mn-ea"/>
                <a:cs typeface="Arial"/>
              </a:rPr>
              <a:t>KEY</a:t>
            </a:r>
            <a:r>
              <a:rPr kumimoji="0" lang="es-CL"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Arial MT"/>
              </a:rPr>
              <a:t>,</a:t>
            </a:r>
          </a:p>
          <a:p>
            <a:pPr marL="927100" marR="0" lvl="0" indent="0" algn="l" defTabSz="457200" rtl="0" eaLnBrk="1" fontAlgn="auto" latinLnBrk="0" hangingPunct="1">
              <a:lnSpc>
                <a:spcPct val="100000"/>
              </a:lnSpc>
              <a:spcBef>
                <a:spcPts val="5"/>
              </a:spcBef>
              <a:spcAft>
                <a:spcPts val="0"/>
              </a:spcAft>
              <a:buClrTx/>
              <a:buSzTx/>
              <a:buFontTx/>
              <a:buNone/>
              <a:tabLst/>
              <a:defRPr/>
            </a:pPr>
            <a:r>
              <a:rPr kumimoji="0" lang="es-CL" sz="2000" b="0" i="0" u="none" strike="noStrike" kern="1200" cap="none" spc="0" normalizeH="0" baseline="0" noProof="0" dirty="0" err="1">
                <a:ln>
                  <a:noFill/>
                </a:ln>
                <a:solidFill>
                  <a:prstClr val="white"/>
                </a:solidFill>
                <a:effectLst/>
                <a:uLnTx/>
                <a:uFillTx/>
                <a:latin typeface="Space Mono" panose="02000509040000020004" pitchFamily="49" charset="0"/>
                <a:ea typeface="+mn-ea"/>
                <a:cs typeface="Arial MT"/>
              </a:rPr>
              <a:t>Manf</a:t>
            </a:r>
            <a:r>
              <a:rPr kumimoji="0" lang="es-CL"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Arial MT"/>
              </a:rPr>
              <a:t> CHAR(20));</a:t>
            </a:r>
            <a:endParaRPr kumimoji="0"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914400"/>
            <a:ext cx="7922260" cy="1871410"/>
          </a:xfrm>
          <a:prstGeom prst="rect">
            <a:avLst/>
          </a:prstGeom>
        </p:spPr>
        <p:txBody>
          <a:bodyPr vert="horz" wrap="square" lIns="0" tIns="13335" rIns="0" bIns="0" rtlCol="0">
            <a:spAutoFit/>
          </a:bodyPr>
          <a:lstStyle/>
          <a:p>
            <a:pPr marL="12700">
              <a:spcBef>
                <a:spcPts val="105"/>
              </a:spcBef>
            </a:pPr>
            <a:r>
              <a:rPr lang="es-ES" spc="-5" dirty="0">
                <a:solidFill>
                  <a:srgbClr val="FF0000"/>
                </a:solidFill>
                <a:latin typeface="Aharoni" panose="02010803020104030203" pitchFamily="2" charset="-79"/>
                <a:cs typeface="Aharoni" panose="02010803020104030203" pitchFamily="2" charset="-79"/>
              </a:rPr>
              <a:t>Declaración de claves de varios atributos
</a:t>
            </a:r>
            <a:endParaRPr dirty="0">
              <a:solidFill>
                <a:srgbClr val="FF0000"/>
              </a:solidFill>
              <a:latin typeface="Aharoni" panose="02010803020104030203" pitchFamily="2" charset="-79"/>
              <a:cs typeface="Aharoni" panose="02010803020104030203" pitchFamily="2" charset="-79"/>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14</a:t>
            </a:fld>
            <a:endPar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endParaRPr>
          </a:p>
        </p:txBody>
      </p:sp>
      <p:sp>
        <p:nvSpPr>
          <p:cNvPr id="3" name="object 3"/>
          <p:cNvSpPr txBox="1"/>
          <p:nvPr/>
        </p:nvSpPr>
        <p:spPr>
          <a:xfrm>
            <a:off x="1143000" y="2399897"/>
            <a:ext cx="9906000" cy="4087016"/>
          </a:xfrm>
          <a:prstGeom prst="rect">
            <a:avLst/>
          </a:prstGeom>
        </p:spPr>
        <p:txBody>
          <a:bodyPr vert="horz" wrap="square" lIns="0" tIns="49530" rIns="0" bIns="0" rtlCol="0">
            <a:spAutoFit/>
          </a:bodyPr>
          <a:lstStyle/>
          <a:p>
            <a:pPr marL="12700" marR="5080" lvl="0" indent="0" algn="l" defTabSz="457200" rtl="0" eaLnBrk="1" fontAlgn="auto" latinLnBrk="0" hangingPunct="1">
              <a:lnSpc>
                <a:spcPct val="150000"/>
              </a:lnSpc>
              <a:spcBef>
                <a:spcPts val="390"/>
              </a:spcBef>
              <a:spcAft>
                <a:spcPts val="0"/>
              </a:spcAft>
              <a:buClrTx/>
              <a:buSzTx/>
              <a:buFontTx/>
              <a:buNone/>
              <a:tabLst>
                <a:tab pos="354965" algn="l"/>
                <a:tab pos="35560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Una declaración clave puede aparecer como elemento en la lista de elementos de una instrucción CREATE TABLE. Este formulario es esencial si la clave consta de más de un atributo.</a:t>
            </a:r>
          </a:p>
          <a:p>
            <a:pPr marL="12700" marR="5080" lvl="0" indent="0" algn="l" defTabSz="457200" rtl="0" eaLnBrk="1" fontAlgn="auto" latinLnBrk="0" hangingPunct="1">
              <a:lnSpc>
                <a:spcPts val="2380"/>
              </a:lnSpc>
              <a:spcBef>
                <a:spcPts val="390"/>
              </a:spcBef>
              <a:spcAft>
                <a:spcPts val="0"/>
              </a:spcAft>
              <a:buClrTx/>
              <a:buSzTx/>
              <a:buFontTx/>
              <a:buNone/>
              <a:tabLst>
                <a:tab pos="354965" algn="l"/>
                <a:tab pos="355600" algn="l"/>
              </a:tabLst>
              <a:defRPr/>
            </a:pPr>
            <a:endParaRPr kumimoji="0" lang="es-ES" sz="2200" b="0" i="0" u="none" strike="noStrike" kern="1200" cap="none" spc="-5" normalizeH="0" baseline="0" noProof="0" dirty="0">
              <a:ln>
                <a:noFill/>
              </a:ln>
              <a:solidFill>
                <a:prstClr val="white"/>
              </a:solidFill>
              <a:effectLst/>
              <a:uLnTx/>
              <a:uFillTx/>
              <a:latin typeface="Arial MT"/>
              <a:ea typeface="+mn-ea"/>
              <a:cs typeface="Arial MT"/>
            </a:endParaRPr>
          </a:p>
          <a:p>
            <a:pPr marL="12700" marR="5080" lvl="0" indent="0" algn="l" defTabSz="457200" rtl="0" eaLnBrk="1" fontAlgn="auto" latinLnBrk="0" hangingPunct="1">
              <a:lnSpc>
                <a:spcPts val="2380"/>
              </a:lnSpc>
              <a:spcBef>
                <a:spcPts val="390"/>
              </a:spcBef>
              <a:spcAft>
                <a:spcPts val="0"/>
              </a:spcAft>
              <a:buClrTx/>
              <a:buSzTx/>
              <a:buFontTx/>
              <a:buNone/>
              <a:tabLst>
                <a:tab pos="354965" algn="l"/>
                <a:tab pos="355600" algn="l"/>
              </a:tabLst>
              <a:defRPr/>
            </a:pPr>
            <a:r>
              <a:rPr kumimoji="0" lang="en-US" sz="2200" b="0" i="0" u="none" strike="noStrike" kern="1200" cap="none" spc="-5" normalizeH="0" baseline="0" noProof="0" dirty="0">
                <a:ln>
                  <a:noFill/>
                </a:ln>
                <a:solidFill>
                  <a:prstClr val="white"/>
                </a:solidFill>
                <a:effectLst/>
                <a:uLnTx/>
                <a:uFillTx/>
                <a:latin typeface="Space Mono" panose="02000509040000020004" pitchFamily="49" charset="0"/>
                <a:ea typeface="+mn-ea"/>
                <a:cs typeface="Arial MT"/>
              </a:rPr>
              <a:t>CREATE TABLE Sells (</a:t>
            </a:r>
          </a:p>
          <a:p>
            <a:pPr marL="12700" marR="5080" lvl="0" indent="0" algn="l" defTabSz="457200" rtl="0" eaLnBrk="1" fontAlgn="auto" latinLnBrk="0" hangingPunct="1">
              <a:lnSpc>
                <a:spcPts val="2380"/>
              </a:lnSpc>
              <a:spcBef>
                <a:spcPts val="390"/>
              </a:spcBef>
              <a:spcAft>
                <a:spcPts val="0"/>
              </a:spcAft>
              <a:buClrTx/>
              <a:buSzTx/>
              <a:buFontTx/>
              <a:buNone/>
              <a:tabLst>
                <a:tab pos="354965" algn="l"/>
                <a:tab pos="355600" algn="l"/>
              </a:tabLst>
              <a:defRPr/>
            </a:pPr>
            <a:r>
              <a:rPr kumimoji="0" lang="en-US" sz="2200" b="0" i="0" u="none" strike="noStrike" kern="1200" cap="none" spc="-5" normalizeH="0" baseline="0" noProof="0" dirty="0">
                <a:ln>
                  <a:noFill/>
                </a:ln>
                <a:solidFill>
                  <a:prstClr val="white"/>
                </a:solidFill>
                <a:effectLst/>
                <a:uLnTx/>
                <a:uFillTx/>
                <a:latin typeface="Space Mono" panose="02000509040000020004" pitchFamily="49" charset="0"/>
                <a:ea typeface="+mn-ea"/>
                <a:cs typeface="Arial MT"/>
              </a:rPr>
              <a:t>bar    CHAR(20),  </a:t>
            </a:r>
          </a:p>
          <a:p>
            <a:pPr marL="12700" marR="5080" lvl="0" indent="0" algn="l" defTabSz="457200" rtl="0" eaLnBrk="1" fontAlgn="auto" latinLnBrk="0" hangingPunct="1">
              <a:lnSpc>
                <a:spcPts val="2380"/>
              </a:lnSpc>
              <a:spcBef>
                <a:spcPts val="390"/>
              </a:spcBef>
              <a:spcAft>
                <a:spcPts val="0"/>
              </a:spcAft>
              <a:buClrTx/>
              <a:buSzTx/>
              <a:buFontTx/>
              <a:buNone/>
              <a:tabLst>
                <a:tab pos="354965" algn="l"/>
                <a:tab pos="355600" algn="l"/>
              </a:tabLst>
              <a:defRPr/>
            </a:pPr>
            <a:r>
              <a:rPr kumimoji="0" lang="en-US" sz="2200" b="0" i="0" u="none" strike="noStrike" kern="1200" cap="none" spc="-5" normalizeH="0" baseline="0" noProof="0" dirty="0">
                <a:ln>
                  <a:noFill/>
                </a:ln>
                <a:solidFill>
                  <a:prstClr val="white"/>
                </a:solidFill>
                <a:effectLst/>
                <a:uLnTx/>
                <a:uFillTx/>
                <a:latin typeface="Space Mono" panose="02000509040000020004" pitchFamily="49" charset="0"/>
                <a:ea typeface="+mn-ea"/>
                <a:cs typeface="Arial MT"/>
              </a:rPr>
              <a:t>beer   VARCHAR(20),</a:t>
            </a:r>
          </a:p>
          <a:p>
            <a:pPr marL="12700" marR="5080" lvl="0" indent="0" algn="l" defTabSz="457200" rtl="0" eaLnBrk="1" fontAlgn="auto" latinLnBrk="0" hangingPunct="1">
              <a:lnSpc>
                <a:spcPts val="2380"/>
              </a:lnSpc>
              <a:spcBef>
                <a:spcPts val="390"/>
              </a:spcBef>
              <a:spcAft>
                <a:spcPts val="0"/>
              </a:spcAft>
              <a:buClrTx/>
              <a:buSzTx/>
              <a:buFontTx/>
              <a:buNone/>
              <a:tabLst>
                <a:tab pos="354965" algn="l"/>
                <a:tab pos="355600" algn="l"/>
              </a:tabLst>
              <a:defRPr/>
            </a:pPr>
            <a:r>
              <a:rPr kumimoji="0" lang="en-US" sz="2200" b="0" i="0" u="none" strike="noStrike" kern="1200" cap="none" spc="-5" normalizeH="0" baseline="0" noProof="0" dirty="0">
                <a:ln>
                  <a:noFill/>
                </a:ln>
                <a:solidFill>
                  <a:prstClr val="white"/>
                </a:solidFill>
                <a:effectLst/>
                <a:uLnTx/>
                <a:uFillTx/>
                <a:latin typeface="Space Mono" panose="02000509040000020004" pitchFamily="49" charset="0"/>
                <a:ea typeface="+mn-ea"/>
                <a:cs typeface="Arial MT"/>
              </a:rPr>
              <a:t>price  REAL,</a:t>
            </a:r>
          </a:p>
          <a:p>
            <a:pPr marL="12700" marR="5080" lvl="0" indent="0" algn="l" defTabSz="457200" rtl="0" eaLnBrk="1" fontAlgn="auto" latinLnBrk="0" hangingPunct="1">
              <a:lnSpc>
                <a:spcPts val="2380"/>
              </a:lnSpc>
              <a:spcBef>
                <a:spcPts val="390"/>
              </a:spcBef>
              <a:spcAft>
                <a:spcPts val="0"/>
              </a:spcAft>
              <a:buClrTx/>
              <a:buSzTx/>
              <a:buFontTx/>
              <a:buNone/>
              <a:tabLst>
                <a:tab pos="354965" algn="l"/>
                <a:tab pos="355600" algn="l"/>
              </a:tabLst>
              <a:defRPr/>
            </a:pPr>
            <a:r>
              <a:rPr kumimoji="0" lang="en-US" sz="2200" b="0" i="0" u="none" strike="noStrike" kern="1200" cap="none" spc="-5" normalizeH="0" baseline="0" noProof="0" dirty="0">
                <a:ln>
                  <a:noFill/>
                </a:ln>
                <a:solidFill>
                  <a:prstClr val="white"/>
                </a:solidFill>
                <a:effectLst/>
                <a:uLnTx/>
                <a:uFillTx/>
                <a:latin typeface="Space Mono" panose="02000509040000020004" pitchFamily="49" charset="0"/>
                <a:ea typeface="+mn-ea"/>
                <a:cs typeface="Arial MT"/>
              </a:rPr>
              <a:t>PRIMARY KEY (</a:t>
            </a:r>
            <a:r>
              <a:rPr kumimoji="0" lang="en-US" sz="2200" b="0" i="0" u="none" strike="noStrike" kern="1200" cap="none" spc="-5" normalizeH="0" baseline="0" noProof="0" dirty="0" err="1">
                <a:ln>
                  <a:noFill/>
                </a:ln>
                <a:solidFill>
                  <a:prstClr val="white"/>
                </a:solidFill>
                <a:effectLst/>
                <a:uLnTx/>
                <a:uFillTx/>
                <a:latin typeface="Space Mono" panose="02000509040000020004" pitchFamily="49" charset="0"/>
                <a:ea typeface="+mn-ea"/>
                <a:cs typeface="Arial MT"/>
              </a:rPr>
              <a:t>bar,beer</a:t>
            </a:r>
            <a:r>
              <a:rPr kumimoji="0" lang="en-US" sz="2200" b="0" i="0" u="none" strike="noStrike" kern="1200" cap="none" spc="-5" normalizeH="0" baseline="0" noProof="0" dirty="0">
                <a:ln>
                  <a:noFill/>
                </a:ln>
                <a:solidFill>
                  <a:prstClr val="white"/>
                </a:solidFill>
                <a:effectLst/>
                <a:uLnTx/>
                <a:uFillTx/>
                <a:latin typeface="Space Mono" panose="02000509040000020004" pitchFamily="49" charset="0"/>
                <a:ea typeface="+mn-ea"/>
                <a:cs typeface="Arial MT"/>
              </a:rPr>
              <a:t>));</a:t>
            </a:r>
            <a:r>
              <a:rPr kumimoji="0" lang="es-ES" sz="2200" b="0" i="0" u="none" strike="noStrike" kern="1200" cap="none" spc="-5" normalizeH="0" baseline="0" noProof="0" dirty="0">
                <a:ln>
                  <a:noFill/>
                </a:ln>
                <a:solidFill>
                  <a:prstClr val="white"/>
                </a:solidFill>
                <a:effectLst/>
                <a:uLnTx/>
                <a:uFillTx/>
                <a:latin typeface="Arial MT"/>
                <a:ea typeface="+mn-ea"/>
                <a:cs typeface="Arial MT"/>
              </a:rPr>
              <a:t>
</a:t>
            </a:r>
            <a:endParaRPr kumimoji="0" sz="235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838200"/>
            <a:ext cx="9293859" cy="1262012"/>
          </a:xfrm>
          <a:prstGeom prst="rect">
            <a:avLst/>
          </a:prstGeom>
        </p:spPr>
        <p:txBody>
          <a:bodyPr vert="horz" wrap="square" lIns="0" tIns="13335" rIns="0" bIns="0" rtlCol="0">
            <a:spAutoFit/>
          </a:bodyPr>
          <a:lstStyle/>
          <a:p>
            <a:pPr marL="12700">
              <a:spcBef>
                <a:spcPts val="105"/>
              </a:spcBef>
            </a:pPr>
            <a:r>
              <a:rPr lang="es-CL" spc="-10" dirty="0">
                <a:solidFill>
                  <a:srgbClr val="FF0000"/>
                </a:solidFill>
                <a:latin typeface="Aharoni" panose="02010803020104030203" pitchFamily="2" charset="-79"/>
                <a:cs typeface="Aharoni" panose="02010803020104030203" pitchFamily="2" charset="-79"/>
              </a:rPr>
              <a:t>CLAVE PRIMARIA vs. ÚNICA
</a:t>
            </a:r>
            <a:endParaRPr dirty="0">
              <a:solidFill>
                <a:srgbClr val="FF0000"/>
              </a:solidFill>
              <a:latin typeface="Aharoni" panose="02010803020104030203" pitchFamily="2" charset="-79"/>
              <a:cs typeface="Aharoni" panose="02010803020104030203" pitchFamily="2" charset="-79"/>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15</a:t>
            </a:fld>
            <a:endPar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endParaRPr>
          </a:p>
        </p:txBody>
      </p:sp>
      <p:sp>
        <p:nvSpPr>
          <p:cNvPr id="3" name="object 3"/>
          <p:cNvSpPr txBox="1"/>
          <p:nvPr/>
        </p:nvSpPr>
        <p:spPr>
          <a:xfrm>
            <a:off x="1166260" y="2073743"/>
            <a:ext cx="10339939" cy="2727157"/>
          </a:xfrm>
          <a:prstGeom prst="rect">
            <a:avLst/>
          </a:prstGeom>
        </p:spPr>
        <p:txBody>
          <a:bodyPr vert="horz" wrap="square" lIns="0" tIns="12700" rIns="0" bIns="0" rtlCol="0">
            <a:spAutoFit/>
          </a:bodyPr>
          <a:lstStyle/>
          <a:p>
            <a:pPr marL="12065" marR="5080" lvl="0" indent="0" algn="l" defTabSz="457200" rtl="0" eaLnBrk="1" fontAlgn="auto" latinLnBrk="0" hangingPunct="1">
              <a:lnSpc>
                <a:spcPct val="150000"/>
              </a:lnSpc>
              <a:spcBef>
                <a:spcPts val="100"/>
              </a:spcBef>
              <a:spcAft>
                <a:spcPts val="0"/>
              </a:spcAft>
              <a:buClrTx/>
              <a:buSzTx/>
              <a:buFontTx/>
              <a:buNone/>
              <a:tabLst>
                <a:tab pos="622300" algn="l"/>
                <a:tab pos="622935" algn="l"/>
              </a:tabLst>
              <a:defRPr/>
            </a:pPr>
            <a:r>
              <a:rPr kumimoji="0" lang="es-ES" sz="2400" b="0" i="0" u="none" strike="noStrike" kern="1200" cap="none" spc="-5" normalizeH="0" baseline="0" noProof="0" dirty="0">
                <a:ln>
                  <a:noFill/>
                </a:ln>
                <a:solidFill>
                  <a:prstClr val="white"/>
                </a:solidFill>
                <a:effectLst/>
                <a:uLnTx/>
                <a:uFillTx/>
                <a:latin typeface="Arial MT"/>
                <a:ea typeface="+mn-ea"/>
                <a:cs typeface="Arial MT"/>
              </a:rPr>
              <a:t>Solo puede haber una CLAVE PRIMARIA para una relación, pero varios atributos ÚNICOS. Ningún atributo de una CLAVE PRIMARIA puede ser NULO en ninguna tupla. Pero los atributos declarados ÚNICOS pueden tener NULL, y puede haber varias tuplas con NULL.
</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762000"/>
            <a:ext cx="5788659" cy="1262012"/>
          </a:xfrm>
          <a:prstGeom prst="rect">
            <a:avLst/>
          </a:prstGeom>
        </p:spPr>
        <p:txBody>
          <a:bodyPr vert="horz" wrap="square" lIns="0" tIns="13335" rIns="0" bIns="0" rtlCol="0">
            <a:spAutoFit/>
          </a:bodyPr>
          <a:lstStyle/>
          <a:p>
            <a:pPr marL="12700">
              <a:spcBef>
                <a:spcPts val="105"/>
              </a:spcBef>
            </a:pPr>
            <a:r>
              <a:rPr lang="es-CL" spc="-5" dirty="0">
                <a:solidFill>
                  <a:srgbClr val="FF0000"/>
                </a:solidFill>
                <a:latin typeface="Aharoni" panose="02010803020104030203" pitchFamily="2" charset="-79"/>
                <a:cs typeface="Aharoni" panose="02010803020104030203" pitchFamily="2" charset="-79"/>
              </a:rPr>
              <a:t>Claves externas
</a:t>
            </a:r>
            <a:endParaRPr dirty="0">
              <a:solidFill>
                <a:srgbClr val="FF0000"/>
              </a:solidFill>
              <a:latin typeface="Aharoni" panose="02010803020104030203" pitchFamily="2" charset="-79"/>
              <a:cs typeface="Aharoni" panose="02010803020104030203" pitchFamily="2" charset="-79"/>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16</a:t>
            </a:fld>
            <a:endPar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endParaRPr>
          </a:p>
        </p:txBody>
      </p:sp>
      <p:sp>
        <p:nvSpPr>
          <p:cNvPr id="3" name="object 3"/>
          <p:cNvSpPr txBox="1"/>
          <p:nvPr/>
        </p:nvSpPr>
        <p:spPr>
          <a:xfrm>
            <a:off x="1009048" y="1676400"/>
            <a:ext cx="10573352" cy="3211135"/>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00000"/>
              </a:lnSpc>
              <a:spcBef>
                <a:spcPts val="100"/>
              </a:spcBef>
              <a:spcAft>
                <a:spcPts val="0"/>
              </a:spcAft>
              <a:buClrTx/>
              <a:buSzTx/>
              <a:buFontTx/>
              <a:buNone/>
              <a:tabLst>
                <a:tab pos="354965" algn="l"/>
                <a:tab pos="355600" algn="l"/>
              </a:tabLst>
              <a:defRPr/>
            </a:pPr>
            <a:r>
              <a:rPr kumimoji="0" lang="es-ES" sz="2400" b="0" i="0" u="none" strike="noStrike" kern="1200" cap="none" spc="-35" normalizeH="0" baseline="0" noProof="0" dirty="0">
                <a:ln>
                  <a:noFill/>
                </a:ln>
                <a:solidFill>
                  <a:prstClr val="white"/>
                </a:solidFill>
                <a:effectLst/>
                <a:uLnTx/>
                <a:uFillTx/>
                <a:latin typeface="Arial MT"/>
                <a:ea typeface="+mn-ea"/>
                <a:cs typeface="Arial MT"/>
              </a:rPr>
              <a:t>Los valores que aparecen en los atributos de una relación deben aparecer juntos en ciertos atributos de otra relación.
</a:t>
            </a:r>
            <a:endParaRPr kumimoji="0" sz="35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5"/>
              </a:spcBef>
              <a:spcAft>
                <a:spcPts val="0"/>
              </a:spcAft>
              <a:buClrTx/>
              <a:buSzTx/>
              <a:buFontTx/>
              <a:buNone/>
              <a:tabLst/>
              <a:defRPr/>
            </a:pPr>
            <a:r>
              <a:rPr kumimoji="0" lang="es-CL" sz="2400" b="0" i="0" u="none" strike="noStrike" kern="1200" cap="none" spc="-5" normalizeH="0" baseline="0" noProof="0" dirty="0">
                <a:ln>
                  <a:noFill/>
                </a:ln>
                <a:solidFill>
                  <a:srgbClr val="CC0000"/>
                </a:solidFill>
                <a:effectLst/>
                <a:uLnTx/>
                <a:uFillTx/>
                <a:latin typeface="Arial MT"/>
                <a:ea typeface="+mn-ea"/>
                <a:cs typeface="Arial MT"/>
              </a:rPr>
              <a:t>Ejemplo</a:t>
            </a:r>
            <a:r>
              <a:rPr kumimoji="0" sz="2400" b="0" i="0" u="none" strike="noStrike" kern="1200" cap="none" spc="-5"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355600" marR="219075" lvl="0" indent="0" algn="l" defTabSz="457200" rtl="0" eaLnBrk="1" fontAlgn="auto" latinLnBrk="0" hangingPunct="1">
              <a:lnSpc>
                <a:spcPct val="100000"/>
              </a:lnSpc>
              <a:spcBef>
                <a:spcPts val="575"/>
              </a:spcBef>
              <a:spcAft>
                <a:spcPts val="0"/>
              </a:spcAft>
              <a:buClrTx/>
              <a:buSzTx/>
              <a:buFontTx/>
              <a:buNone/>
              <a:tabLst/>
              <a:defRPr/>
            </a:pPr>
            <a:r>
              <a:rPr kumimoji="0" lang="es-ES" sz="2400" b="0" i="0" u="none" strike="noStrike" kern="1200" cap="none" spc="-25" normalizeH="0" baseline="0" noProof="0" dirty="0">
                <a:ln>
                  <a:noFill/>
                </a:ln>
                <a:solidFill>
                  <a:prstClr val="white"/>
                </a:solidFill>
                <a:effectLst/>
                <a:uLnTx/>
                <a:uFillTx/>
                <a:latin typeface="Arial MT"/>
                <a:ea typeface="+mn-ea"/>
                <a:cs typeface="Arial MT"/>
              </a:rPr>
              <a:t>Podríamos esperar que un valor en </a:t>
            </a:r>
            <a:r>
              <a:rPr kumimoji="0" lang="es-ES" sz="2400" b="0" i="0" u="none" strike="noStrike" kern="1200" cap="none" spc="-25" normalizeH="0" baseline="0" noProof="0" dirty="0" err="1">
                <a:ln>
                  <a:noFill/>
                </a:ln>
                <a:solidFill>
                  <a:prstClr val="white"/>
                </a:solidFill>
                <a:effectLst/>
                <a:uLnTx/>
                <a:uFillTx/>
                <a:latin typeface="Arial MT"/>
                <a:ea typeface="+mn-ea"/>
                <a:cs typeface="Arial MT"/>
              </a:rPr>
              <a:t>Sells.beer</a:t>
            </a:r>
            <a:r>
              <a:rPr kumimoji="0" lang="es-ES" sz="2400" b="0" i="0" u="none" strike="noStrike" kern="1200" cap="none" spc="-25" normalizeH="0" baseline="0" noProof="0" dirty="0">
                <a:ln>
                  <a:noFill/>
                </a:ln>
                <a:solidFill>
                  <a:prstClr val="white"/>
                </a:solidFill>
                <a:effectLst/>
                <a:uLnTx/>
                <a:uFillTx/>
                <a:latin typeface="Arial MT"/>
                <a:ea typeface="+mn-ea"/>
                <a:cs typeface="Arial MT"/>
              </a:rPr>
              <a:t> también aparezca como valor en Beers.name
</a:t>
            </a:r>
            <a:r>
              <a:rPr kumimoji="0" sz="2400" b="1" i="0" u="none" strike="noStrike" kern="1200" cap="none" spc="-5" normalizeH="0" baseline="0" noProof="0" dirty="0">
                <a:ln>
                  <a:noFill/>
                </a:ln>
                <a:solidFill>
                  <a:prstClr val="white"/>
                </a:solidFill>
                <a:effectLst/>
                <a:uLnTx/>
                <a:uFillTx/>
                <a:latin typeface="Arial"/>
                <a:ea typeface="+mn-ea"/>
                <a:cs typeface="Arial"/>
              </a:rPr>
              <a:t>Beers</a:t>
            </a:r>
            <a:r>
              <a:rPr kumimoji="0" sz="2400" b="0" i="0" u="none" strike="noStrike" kern="1200" cap="none" spc="-5" normalizeH="0" baseline="0" noProof="0" dirty="0">
                <a:ln>
                  <a:noFill/>
                </a:ln>
                <a:solidFill>
                  <a:prstClr val="white"/>
                </a:solidFill>
                <a:effectLst/>
                <a:uLnTx/>
                <a:uFillTx/>
                <a:latin typeface="Arial MT"/>
                <a:ea typeface="+mn-ea"/>
                <a:cs typeface="Arial MT"/>
              </a:rPr>
              <a:t>(name,</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manf)</a:t>
            </a:r>
          </a:p>
          <a:p>
            <a:pPr marL="355600" marR="0" lvl="0" indent="0" algn="l" defTabSz="457200" rtl="0" eaLnBrk="1" fontAlgn="auto" latinLnBrk="0" hangingPunct="1">
              <a:lnSpc>
                <a:spcPct val="100000"/>
              </a:lnSpc>
              <a:spcBef>
                <a:spcPts val="575"/>
              </a:spcBef>
              <a:spcAft>
                <a:spcPts val="0"/>
              </a:spcAft>
              <a:buClrTx/>
              <a:buSzTx/>
              <a:buFontTx/>
              <a:buNone/>
              <a:tabLst/>
              <a:defRPr/>
            </a:pPr>
            <a:r>
              <a:rPr kumimoji="0" sz="2400" b="1" i="0" u="none" strike="noStrike" kern="1200" cap="none" spc="-15" normalizeH="0" baseline="0" noProof="0" dirty="0">
                <a:ln>
                  <a:noFill/>
                </a:ln>
                <a:solidFill>
                  <a:prstClr val="white"/>
                </a:solidFill>
                <a:effectLst/>
                <a:uLnTx/>
                <a:uFillTx/>
                <a:latin typeface="Arial"/>
                <a:ea typeface="+mn-ea"/>
                <a:cs typeface="Arial"/>
              </a:rPr>
              <a:t>Sells</a:t>
            </a:r>
            <a:r>
              <a:rPr kumimoji="0" sz="2400" b="0" i="0" u="none" strike="noStrike" kern="1200" cap="none" spc="-15" normalizeH="0" baseline="0" noProof="0" dirty="0">
                <a:ln>
                  <a:noFill/>
                </a:ln>
                <a:solidFill>
                  <a:prstClr val="white"/>
                </a:solidFill>
                <a:effectLst/>
                <a:uLnTx/>
                <a:uFillTx/>
                <a:latin typeface="Arial MT"/>
                <a:ea typeface="+mn-ea"/>
                <a:cs typeface="Arial MT"/>
              </a:rPr>
              <a:t>(bar,</a:t>
            </a:r>
            <a:r>
              <a:rPr kumimoji="0" sz="2400" b="0" i="0" u="none" strike="noStrike" kern="1200" cap="none" spc="-30" normalizeH="0" baseline="0" noProof="0" dirty="0">
                <a:ln>
                  <a:noFill/>
                </a:ln>
                <a:solidFill>
                  <a:prstClr val="white"/>
                </a:solidFill>
                <a:effectLst/>
                <a:uLnTx/>
                <a:uFillTx/>
                <a:latin typeface="Arial MT"/>
                <a:ea typeface="+mn-ea"/>
                <a:cs typeface="Arial MT"/>
              </a:rPr>
              <a:t> beer,</a:t>
            </a:r>
            <a:r>
              <a:rPr kumimoji="0" sz="2400" b="0" i="0" u="none" strike="noStrike" kern="1200" cap="none" spc="-1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price)</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838200"/>
            <a:ext cx="8912860" cy="1262012"/>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Expresión de claves externas
</a:t>
            </a:r>
            <a:endParaRPr dirty="0">
              <a:solidFill>
                <a:srgbClr val="000000"/>
              </a:solidFill>
              <a:latin typeface="Aharoni" panose="02010803020104030203" pitchFamily="2" charset="-79"/>
              <a:cs typeface="Aharoni" panose="02010803020104030203" pitchFamily="2" charset="-79"/>
            </a:endParaRPr>
          </a:p>
        </p:txBody>
      </p:sp>
      <p:sp>
        <p:nvSpPr>
          <p:cNvPr id="3" name="object 3"/>
          <p:cNvSpPr txBox="1"/>
          <p:nvPr/>
        </p:nvSpPr>
        <p:spPr>
          <a:xfrm>
            <a:off x="2059941" y="1552949"/>
            <a:ext cx="8684259" cy="4262064"/>
          </a:xfrm>
          <a:prstGeom prst="rect">
            <a:avLst/>
          </a:prstGeom>
        </p:spPr>
        <p:txBody>
          <a:bodyPr vert="horz" wrap="square" lIns="0" tIns="85725" rIns="0" bIns="0" rtlCol="0">
            <a:spAutoFit/>
          </a:bodyPr>
          <a:lstStyle/>
          <a:p>
            <a:pPr marL="355600" marR="0" lvl="0" indent="-342900" algn="l" defTabSz="457200" rtl="0" eaLnBrk="1" fontAlgn="auto" latinLnBrk="0" hangingPunct="1">
              <a:lnSpc>
                <a:spcPct val="100000"/>
              </a:lnSpc>
              <a:spcBef>
                <a:spcPts val="675"/>
              </a:spcBef>
              <a:spcAft>
                <a:spcPts val="0"/>
              </a:spcAft>
              <a:buClrTx/>
              <a:buSzTx/>
              <a:buFontTx/>
              <a:buChar char="•"/>
              <a:tabLst>
                <a:tab pos="354965" algn="l"/>
                <a:tab pos="355600" algn="l"/>
              </a:tabLst>
              <a:defRPr/>
            </a:pPr>
            <a:r>
              <a:rPr kumimoji="0" lang="es-CL" sz="2400" b="0" i="0" u="none" strike="noStrike" kern="1200" cap="none" spc="-5" normalizeH="0" baseline="0" noProof="0" dirty="0">
                <a:ln>
                  <a:noFill/>
                </a:ln>
                <a:solidFill>
                  <a:prstClr val="white"/>
                </a:solidFill>
                <a:effectLst/>
                <a:uLnTx/>
                <a:uFillTx/>
                <a:latin typeface="Arial MT"/>
                <a:ea typeface="+mn-ea"/>
                <a:cs typeface="Arial MT"/>
              </a:rPr>
              <a:t>Usar palabra clave </a:t>
            </a:r>
            <a:r>
              <a:rPr kumimoji="0" sz="2400" b="1" i="0" u="none" strike="noStrike" kern="1200" cap="none" spc="-5" normalizeH="0" baseline="0" noProof="0" dirty="0">
                <a:ln>
                  <a:noFill/>
                </a:ln>
                <a:solidFill>
                  <a:prstClr val="white"/>
                </a:solidFill>
                <a:effectLst/>
                <a:uLnTx/>
                <a:uFillTx/>
                <a:latin typeface="Arial"/>
                <a:ea typeface="+mn-ea"/>
                <a:cs typeface="Arial"/>
              </a:rPr>
              <a:t>REFERENCES</a:t>
            </a:r>
            <a:r>
              <a:rPr kumimoji="0" sz="2400" b="0" i="0" u="none" strike="noStrike" kern="1200" cap="none" spc="-5" normalizeH="0" baseline="0" noProof="0" dirty="0">
                <a:ln>
                  <a:noFill/>
                </a:ln>
                <a:solidFill>
                  <a:prstClr val="white"/>
                </a:solidFill>
                <a:effectLst/>
                <a:uLnTx/>
                <a:uFillTx/>
                <a:latin typeface="Arial MT"/>
                <a:ea typeface="+mn-ea"/>
                <a:cs typeface="Arial MT"/>
              </a:rPr>
              <a:t>,</a:t>
            </a:r>
            <a:r>
              <a:rPr kumimoji="0" sz="2400" b="0" i="0" u="none" strike="noStrike" kern="1200" cap="none" spc="40" normalizeH="0" baseline="0" noProof="0" dirty="0">
                <a:ln>
                  <a:noFill/>
                </a:ln>
                <a:solidFill>
                  <a:prstClr val="white"/>
                </a:solidFill>
                <a:effectLst/>
                <a:uLnTx/>
                <a:uFillTx/>
                <a:latin typeface="Arial MT"/>
                <a:ea typeface="+mn-ea"/>
                <a:cs typeface="Arial MT"/>
              </a:rPr>
              <a:t> </a:t>
            </a:r>
            <a:r>
              <a:rPr kumimoji="0" lang="es-ES" sz="2400" b="0" i="0" u="none" strike="noStrike" kern="1200" cap="none" spc="-5" normalizeH="0" baseline="0" noProof="0" dirty="0">
                <a:ln>
                  <a:noFill/>
                </a:ln>
                <a:solidFill>
                  <a:prstClr val="white"/>
                </a:solidFill>
                <a:effectLst/>
                <a:uLnTx/>
                <a:uFillTx/>
                <a:latin typeface="Arial MT"/>
                <a:ea typeface="+mn-ea"/>
                <a:cs typeface="Arial MT"/>
              </a:rPr>
              <a:t>ya sea</a:t>
            </a:r>
            <a:r>
              <a:rPr kumimoji="0" sz="2400" b="0" i="0" u="none" strike="noStrike" kern="1200" cap="none" spc="-5"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287020" marR="2166620" lvl="1" indent="-287020" algn="r" defTabSz="457200" rtl="0" eaLnBrk="1" fontAlgn="auto" latinLnBrk="0" hangingPunct="1">
              <a:lnSpc>
                <a:spcPct val="100000"/>
              </a:lnSpc>
              <a:spcBef>
                <a:spcPts val="525"/>
              </a:spcBef>
              <a:spcAft>
                <a:spcPts val="0"/>
              </a:spcAft>
              <a:buClrTx/>
              <a:buSzTx/>
              <a:buFontTx/>
              <a:buChar char="–"/>
              <a:tabLst>
                <a:tab pos="287020" algn="l"/>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Después de un atributo </a:t>
            </a:r>
            <a:r>
              <a:rPr kumimoji="0" sz="2200" b="0" i="0" u="none" strike="noStrike" kern="1200" cap="none" spc="-5" normalizeH="0" baseline="0" noProof="0" dirty="0">
                <a:ln>
                  <a:noFill/>
                </a:ln>
                <a:solidFill>
                  <a:prstClr val="white"/>
                </a:solidFill>
                <a:effectLst/>
                <a:uLnTx/>
                <a:uFillTx/>
                <a:latin typeface="Arial MT"/>
                <a:ea typeface="+mn-ea"/>
                <a:cs typeface="Arial MT"/>
              </a:rPr>
              <a:t>(for</a:t>
            </a:r>
            <a:r>
              <a:rPr kumimoji="0" sz="2200" b="0" i="0" u="none" strike="noStrike" kern="1200" cap="none" spc="5" normalizeH="0" baseline="0" noProof="0" dirty="0">
                <a:ln>
                  <a:noFill/>
                </a:ln>
                <a:solidFill>
                  <a:prstClr val="white"/>
                </a:solidFill>
                <a:effectLst/>
                <a:uLnTx/>
                <a:uFillTx/>
                <a:latin typeface="Arial MT"/>
                <a:ea typeface="+mn-ea"/>
                <a:cs typeface="Arial MT"/>
              </a:rPr>
              <a:t> </a:t>
            </a:r>
            <a:r>
              <a:rPr kumimoji="0" sz="2200" b="0" i="0" u="none" strike="noStrike" kern="1200" cap="none" spc="0" normalizeH="0" baseline="0" noProof="0" dirty="0">
                <a:ln>
                  <a:noFill/>
                </a:ln>
                <a:solidFill>
                  <a:prstClr val="white"/>
                </a:solidFill>
                <a:effectLst/>
                <a:uLnTx/>
                <a:uFillTx/>
                <a:latin typeface="Arial MT"/>
                <a:ea typeface="+mn-ea"/>
                <a:cs typeface="Arial MT"/>
              </a:rPr>
              <a:t>one-attribute</a:t>
            </a:r>
            <a:r>
              <a:rPr kumimoji="0" sz="2200" b="0" i="0" u="none" strike="noStrike" kern="1200" cap="none" spc="25"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keys)</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0" marR="2160270" lvl="0" indent="0" algn="r" defTabSz="457200" rtl="0" eaLnBrk="1" fontAlgn="auto" latinLnBrk="0" hangingPunct="1">
              <a:lnSpc>
                <a:spcPct val="100000"/>
              </a:lnSpc>
              <a:spcBef>
                <a:spcPts val="530"/>
              </a:spcBef>
              <a:spcAft>
                <a:spcPts val="0"/>
              </a:spcAft>
              <a:buClrTx/>
              <a:buSzTx/>
              <a:buFontTx/>
              <a:buNone/>
              <a:tabLst/>
              <a:defRPr/>
            </a:pPr>
            <a:r>
              <a:rPr kumimoji="0" sz="2200" b="1" i="0" u="none" strike="noStrike" kern="1200" cap="none" spc="-5" normalizeH="0" baseline="0" noProof="0" dirty="0">
                <a:ln>
                  <a:noFill/>
                </a:ln>
                <a:solidFill>
                  <a:prstClr val="white"/>
                </a:solidFill>
                <a:effectLst/>
                <a:uLnTx/>
                <a:uFillTx/>
                <a:latin typeface="Arial"/>
                <a:ea typeface="+mn-ea"/>
                <a:cs typeface="Arial"/>
              </a:rPr>
              <a:t>REFERENCES</a:t>
            </a:r>
            <a:r>
              <a:rPr kumimoji="0" sz="2200" b="1" i="0" u="none" strike="noStrike" kern="1200" cap="none" spc="1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&lt;relation&gt;</a:t>
            </a:r>
            <a:r>
              <a:rPr kumimoji="0" sz="2200" b="0" i="0" u="none" strike="noStrike" kern="1200" cap="none" spc="1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(&lt;attributes&gt;)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0" marR="0" lvl="0" indent="0" algn="l" defTabSz="457200" rtl="0" eaLnBrk="1" fontAlgn="auto" latinLnBrk="0" hangingPunct="1">
              <a:lnSpc>
                <a:spcPct val="100000"/>
              </a:lnSpc>
              <a:spcBef>
                <a:spcPts val="15"/>
              </a:spcBef>
              <a:spcAft>
                <a:spcPts val="0"/>
              </a:spcAft>
              <a:buClrTx/>
              <a:buSzTx/>
              <a:buFontTx/>
              <a:buNone/>
              <a:tabLst/>
              <a:defRPr/>
            </a:pPr>
            <a:endParaRPr kumimoji="0" sz="3200" b="0" i="0" u="none" strike="noStrike" kern="1200" cap="none" spc="0" normalizeH="0" baseline="0" noProof="0" dirty="0">
              <a:ln>
                <a:noFill/>
              </a:ln>
              <a:solidFill>
                <a:prstClr val="white"/>
              </a:solidFill>
              <a:effectLst/>
              <a:uLnTx/>
              <a:uFillTx/>
              <a:latin typeface="Arial MT"/>
              <a:ea typeface="+mn-ea"/>
              <a:cs typeface="Arial MT"/>
            </a:endParaRPr>
          </a:p>
          <a:p>
            <a:pPr marL="756285" marR="0" lvl="1" indent="-287020" algn="l" defTabSz="457200" rtl="0" eaLnBrk="1" fontAlgn="auto" latinLnBrk="0" hangingPunct="1">
              <a:lnSpc>
                <a:spcPct val="100000"/>
              </a:lnSpc>
              <a:spcBef>
                <a:spcPts val="0"/>
              </a:spcBef>
              <a:spcAft>
                <a:spcPts val="0"/>
              </a:spcAft>
              <a:buClrTx/>
              <a:buSzTx/>
              <a:buFontTx/>
              <a:buChar char="–"/>
              <a:tabLst>
                <a:tab pos="756920" algn="l"/>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Como elemento del esquema</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927100" marR="0" lvl="0" indent="0" algn="l" defTabSz="457200" rtl="0" eaLnBrk="1" fontAlgn="auto" latinLnBrk="0" hangingPunct="1">
              <a:lnSpc>
                <a:spcPct val="100000"/>
              </a:lnSpc>
              <a:spcBef>
                <a:spcPts val="580"/>
              </a:spcBef>
              <a:spcAft>
                <a:spcPts val="0"/>
              </a:spcAft>
              <a:buClrTx/>
              <a:buSzTx/>
              <a:buFontTx/>
              <a:buNone/>
              <a:tabLst/>
              <a:defRPr/>
            </a:pPr>
            <a:r>
              <a:rPr kumimoji="0" sz="2400" b="1" i="0" u="none" strike="noStrike" kern="1200" cap="none" spc="-5" normalizeH="0" baseline="0" noProof="0" dirty="0">
                <a:ln>
                  <a:noFill/>
                </a:ln>
                <a:solidFill>
                  <a:prstClr val="white"/>
                </a:solidFill>
                <a:effectLst/>
                <a:uLnTx/>
                <a:uFillTx/>
                <a:latin typeface="Arial"/>
                <a:ea typeface="+mn-ea"/>
                <a:cs typeface="Arial"/>
              </a:rPr>
              <a:t>FOREIGN</a:t>
            </a:r>
            <a:r>
              <a:rPr kumimoji="0" sz="2400" b="1" i="0" u="none" strike="noStrike" kern="1200" cap="none" spc="-20" normalizeH="0" baseline="0" noProof="0" dirty="0">
                <a:ln>
                  <a:noFill/>
                </a:ln>
                <a:solidFill>
                  <a:prstClr val="white"/>
                </a:solidFill>
                <a:effectLst/>
                <a:uLnTx/>
                <a:uFillTx/>
                <a:latin typeface="Arial"/>
                <a:ea typeface="+mn-ea"/>
                <a:cs typeface="Arial"/>
              </a:rPr>
              <a:t> </a:t>
            </a:r>
            <a:r>
              <a:rPr kumimoji="0" sz="2400" b="1" i="0" u="none" strike="noStrike" kern="1200" cap="none" spc="-5" normalizeH="0" baseline="0" noProof="0" dirty="0">
                <a:ln>
                  <a:noFill/>
                </a:ln>
                <a:solidFill>
                  <a:prstClr val="white"/>
                </a:solidFill>
                <a:effectLst/>
                <a:uLnTx/>
                <a:uFillTx/>
                <a:latin typeface="Arial"/>
                <a:ea typeface="+mn-ea"/>
                <a:cs typeface="Arial"/>
              </a:rPr>
              <a:t>KEY</a:t>
            </a:r>
            <a:r>
              <a:rPr kumimoji="0" sz="2400" b="1" i="0" u="none" strike="noStrike" kern="1200" cap="none" spc="-35" normalizeH="0" baseline="0" noProof="0" dirty="0">
                <a:ln>
                  <a:noFill/>
                </a:ln>
                <a:solidFill>
                  <a:prstClr val="white"/>
                </a:solidFill>
                <a:effectLst/>
                <a:uLnTx/>
                <a:uFillTx/>
                <a:latin typeface="Arial"/>
                <a:ea typeface="+mn-ea"/>
                <a:cs typeface="Arial"/>
              </a:rPr>
              <a:t> </a:t>
            </a:r>
            <a:r>
              <a:rPr kumimoji="0" sz="2400" b="0" i="0" u="none" strike="noStrike" kern="1200" cap="none" spc="0" normalizeH="0" baseline="0" noProof="0" dirty="0">
                <a:ln>
                  <a:noFill/>
                </a:ln>
                <a:solidFill>
                  <a:prstClr val="white"/>
                </a:solidFill>
                <a:effectLst/>
                <a:uLnTx/>
                <a:uFillTx/>
                <a:latin typeface="Arial MT"/>
                <a:ea typeface="+mn-ea"/>
                <a:cs typeface="Arial MT"/>
              </a:rPr>
              <a:t>(&lt;list of</a:t>
            </a:r>
            <a:r>
              <a:rPr kumimoji="0" sz="2400" b="0" i="0" u="none" strike="noStrike" kern="1200" cap="none" spc="-1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attributes&gt;)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927100" marR="0" lvl="0" indent="0" algn="l" defTabSz="457200" rtl="0" eaLnBrk="1" fontAlgn="auto" latinLnBrk="0" hangingPunct="1">
              <a:lnSpc>
                <a:spcPct val="100000"/>
              </a:lnSpc>
              <a:spcBef>
                <a:spcPts val="580"/>
              </a:spcBef>
              <a:spcAft>
                <a:spcPts val="0"/>
              </a:spcAft>
              <a:buClrTx/>
              <a:buSzTx/>
              <a:buFontTx/>
              <a:buNone/>
              <a:tabLst/>
              <a:defRPr/>
            </a:pPr>
            <a:r>
              <a:rPr kumimoji="0" sz="2400" b="1" i="0" u="none" strike="noStrike" kern="1200" cap="none" spc="-5" normalizeH="0" baseline="0" noProof="0" dirty="0">
                <a:ln>
                  <a:noFill/>
                </a:ln>
                <a:solidFill>
                  <a:prstClr val="white"/>
                </a:solidFill>
                <a:effectLst/>
                <a:uLnTx/>
                <a:uFillTx/>
                <a:latin typeface="Arial"/>
                <a:ea typeface="+mn-ea"/>
                <a:cs typeface="Arial"/>
              </a:rPr>
              <a:t>REFERENCES</a:t>
            </a:r>
            <a:r>
              <a:rPr kumimoji="0" sz="2400" b="1" i="0" u="none" strike="noStrike" kern="1200" cap="none" spc="55"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&lt;relation&gt;</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(&lt;attributes&gt;)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0" marR="0" lvl="0" indent="0" algn="l" defTabSz="457200" rtl="0" eaLnBrk="1" fontAlgn="auto" latinLnBrk="0" hangingPunct="1">
              <a:lnSpc>
                <a:spcPct val="100000"/>
              </a:lnSpc>
              <a:spcBef>
                <a:spcPts val="5"/>
              </a:spcBef>
              <a:spcAft>
                <a:spcPts val="0"/>
              </a:spcAft>
              <a:buClrTx/>
              <a:buSzTx/>
              <a:buFontTx/>
              <a:buNone/>
              <a:tabLst/>
              <a:defRPr/>
            </a:pPr>
            <a:endParaRPr kumimoji="0" sz="35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342900" algn="l" defTabSz="457200" rtl="0" eaLnBrk="1" fontAlgn="auto" latinLnBrk="0" hangingPunct="1">
              <a:lnSpc>
                <a:spcPct val="100000"/>
              </a:lnSpc>
              <a:spcBef>
                <a:spcPts val="0"/>
              </a:spcBef>
              <a:spcAft>
                <a:spcPts val="0"/>
              </a:spcAft>
              <a:buClrTx/>
              <a:buSzTx/>
              <a:buFontTx/>
              <a:buChar char="•"/>
              <a:tabLst>
                <a:tab pos="354965" algn="l"/>
                <a:tab pos="355600" algn="l"/>
              </a:tabLst>
              <a:defRPr/>
            </a:pPr>
            <a:r>
              <a:rPr kumimoji="0" lang="es-ES" sz="2400" b="0" i="0" u="none" strike="noStrike" kern="1200" cap="none" spc="0" normalizeH="0" baseline="0" noProof="0" dirty="0">
                <a:ln>
                  <a:noFill/>
                </a:ln>
                <a:solidFill>
                  <a:prstClr val="white"/>
                </a:solidFill>
                <a:effectLst/>
                <a:uLnTx/>
                <a:uFillTx/>
                <a:latin typeface="Arial MT"/>
                <a:ea typeface="+mn-ea"/>
                <a:cs typeface="Arial MT"/>
              </a:rPr>
              <a:t>Los atributos a los que se hace referencia deben declararse CLAVE PRIMARIA o ÚNICO</a:t>
            </a:r>
            <a:endParaRPr kumimoji="0" sz="2400" b="0" i="0" u="none" strike="noStrike" kern="1200" cap="none" spc="0" normalizeH="0" baseline="0" noProof="0" dirty="0">
              <a:ln>
                <a:noFill/>
              </a:ln>
              <a:solidFill>
                <a:prstClr val="white"/>
              </a:solidFill>
              <a:effectLst/>
              <a:uLnTx/>
              <a:uFillTx/>
              <a:latin typeface="Arial"/>
              <a:ea typeface="+mn-ea"/>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525189"/>
            <a:ext cx="7236459" cy="1262012"/>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Ejemplo: Con atributo
</a:t>
            </a:r>
            <a:endParaRPr spc="-5" dirty="0">
              <a:solidFill>
                <a:srgbClr val="FF0000"/>
              </a:solidFill>
              <a:latin typeface="Aharoni" panose="02010803020104030203" pitchFamily="2" charset="-79"/>
              <a:cs typeface="Aharoni" panose="02010803020104030203" pitchFamily="2" charset="-79"/>
            </a:endParaRP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18</a:t>
            </a:fld>
            <a:endPar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endParaRPr>
          </a:p>
        </p:txBody>
      </p:sp>
      <p:sp>
        <p:nvSpPr>
          <p:cNvPr id="3" name="object 3"/>
          <p:cNvSpPr txBox="1"/>
          <p:nvPr/>
        </p:nvSpPr>
        <p:spPr>
          <a:xfrm>
            <a:off x="1066800" y="1626234"/>
            <a:ext cx="3401060" cy="391160"/>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1" i="0" u="none" strike="noStrike" kern="1200" cap="none" spc="-35" normalizeH="0" baseline="0" noProof="0" dirty="0">
                <a:ln>
                  <a:noFill/>
                </a:ln>
                <a:solidFill>
                  <a:prstClr val="white"/>
                </a:solidFill>
                <a:effectLst/>
                <a:uLnTx/>
                <a:uFillTx/>
                <a:latin typeface="Arial"/>
                <a:ea typeface="+mn-ea"/>
                <a:cs typeface="Arial"/>
              </a:rPr>
              <a:t>CREATE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1" i="0" u="none" strike="noStrike" kern="1200" cap="none" spc="-40" normalizeH="0" baseline="0" noProof="0" dirty="0">
                <a:ln>
                  <a:noFill/>
                </a:ln>
                <a:solidFill>
                  <a:prstClr val="white"/>
                </a:solidFill>
                <a:effectLst/>
                <a:uLnTx/>
                <a:uFillTx/>
                <a:latin typeface="Arial"/>
                <a:ea typeface="+mn-ea"/>
                <a:cs typeface="Arial"/>
              </a:rPr>
              <a:t>TABLE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Beers</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a:t>
            </a:r>
          </a:p>
        </p:txBody>
      </p:sp>
      <p:sp>
        <p:nvSpPr>
          <p:cNvPr id="4" name="object 4"/>
          <p:cNvSpPr txBox="1"/>
          <p:nvPr/>
        </p:nvSpPr>
        <p:spPr>
          <a:xfrm>
            <a:off x="1409699" y="1991994"/>
            <a:ext cx="788670" cy="858440"/>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2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name  </a:t>
            </a:r>
            <a:r>
              <a:rPr kumimoji="0" sz="2400" b="0" i="0" u="none" strike="noStrike" kern="1200" cap="none" spc="0" normalizeH="0" baseline="0" noProof="0" dirty="0">
                <a:ln>
                  <a:noFill/>
                </a:ln>
                <a:solidFill>
                  <a:prstClr val="white"/>
                </a:solidFill>
                <a:effectLst/>
                <a:uLnTx/>
                <a:uFillTx/>
                <a:latin typeface="Arial MT"/>
                <a:ea typeface="+mn-ea"/>
                <a:cs typeface="Arial MT"/>
              </a:rPr>
              <a:t>manf</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5" name="object 5"/>
          <p:cNvSpPr txBox="1"/>
          <p:nvPr/>
        </p:nvSpPr>
        <p:spPr>
          <a:xfrm>
            <a:off x="2895855" y="1991994"/>
            <a:ext cx="3701415" cy="858440"/>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2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CHAR(20) </a:t>
            </a:r>
            <a:r>
              <a:rPr kumimoji="0" sz="2400" b="1" i="0" u="none" strike="noStrike" kern="1200" cap="none" spc="-15" normalizeH="0" baseline="0" noProof="0" dirty="0">
                <a:ln>
                  <a:noFill/>
                </a:ln>
                <a:solidFill>
                  <a:prstClr val="white"/>
                </a:solidFill>
                <a:effectLst/>
                <a:uLnTx/>
                <a:uFillTx/>
                <a:latin typeface="Arial"/>
                <a:ea typeface="+mn-ea"/>
                <a:cs typeface="Arial"/>
              </a:rPr>
              <a:t>PRIMARY</a:t>
            </a:r>
            <a:r>
              <a:rPr kumimoji="0" sz="2400" b="1" i="0" u="none" strike="noStrike" kern="1200" cap="none" spc="-70" normalizeH="0" baseline="0" noProof="0" dirty="0">
                <a:ln>
                  <a:noFill/>
                </a:ln>
                <a:solidFill>
                  <a:prstClr val="white"/>
                </a:solidFill>
                <a:effectLst/>
                <a:uLnTx/>
                <a:uFillTx/>
                <a:latin typeface="Arial"/>
                <a:ea typeface="+mn-ea"/>
                <a:cs typeface="Arial"/>
              </a:rPr>
              <a:t> </a:t>
            </a:r>
            <a:r>
              <a:rPr kumimoji="0" sz="2400" b="1" i="0" u="none" strike="noStrike" kern="1200" cap="none" spc="-5" normalizeH="0" baseline="0" noProof="0" dirty="0">
                <a:ln>
                  <a:noFill/>
                </a:ln>
                <a:solidFill>
                  <a:prstClr val="white"/>
                </a:solidFill>
                <a:effectLst/>
                <a:uLnTx/>
                <a:uFillTx/>
                <a:latin typeface="Arial"/>
                <a:ea typeface="+mn-ea"/>
                <a:cs typeface="Arial"/>
              </a:rPr>
              <a:t>KEY</a:t>
            </a:r>
            <a:r>
              <a:rPr kumimoji="0" sz="2400" b="0" i="0" u="none" strike="noStrike" kern="1200" cap="none" spc="-5" normalizeH="0" baseline="0" noProof="0" dirty="0">
                <a:ln>
                  <a:noFill/>
                </a:ln>
                <a:solidFill>
                  <a:prstClr val="white"/>
                </a:solidFill>
                <a:effectLst/>
                <a:uLnTx/>
                <a:uFillTx/>
                <a:latin typeface="Arial MT"/>
                <a:ea typeface="+mn-ea"/>
                <a:cs typeface="Arial MT"/>
              </a:rPr>
              <a:t>, </a:t>
            </a:r>
            <a:r>
              <a:rPr kumimoji="0" sz="2400" b="0" i="0" u="none" strike="noStrike" kern="1200" cap="none" spc="-65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CHAR(20)</a:t>
            </a:r>
            <a:r>
              <a:rPr kumimoji="0" sz="2400" b="0" i="0" u="none" strike="noStrike" kern="1200" cap="none" spc="2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6" name="object 6"/>
          <p:cNvSpPr txBox="1"/>
          <p:nvPr/>
        </p:nvSpPr>
        <p:spPr>
          <a:xfrm>
            <a:off x="1066801" y="3382136"/>
            <a:ext cx="3267075" cy="391160"/>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1" i="0" u="none" strike="noStrike" kern="1200" cap="none" spc="-35" normalizeH="0" baseline="0" noProof="0" dirty="0">
                <a:ln>
                  <a:noFill/>
                </a:ln>
                <a:solidFill>
                  <a:prstClr val="white"/>
                </a:solidFill>
                <a:effectLst/>
                <a:uLnTx/>
                <a:uFillTx/>
                <a:latin typeface="Arial"/>
                <a:ea typeface="+mn-ea"/>
                <a:cs typeface="Arial"/>
              </a:rPr>
              <a:t>CREATE</a:t>
            </a:r>
            <a:r>
              <a:rPr kumimoji="0" sz="2400" b="1" i="0" u="none" strike="noStrike" kern="1200" cap="none" spc="-15" normalizeH="0" baseline="0" noProof="0" dirty="0">
                <a:ln>
                  <a:noFill/>
                </a:ln>
                <a:solidFill>
                  <a:prstClr val="white"/>
                </a:solidFill>
                <a:effectLst/>
                <a:uLnTx/>
                <a:uFillTx/>
                <a:latin typeface="Arial"/>
                <a:ea typeface="+mn-ea"/>
                <a:cs typeface="Arial"/>
              </a:rPr>
              <a:t> </a:t>
            </a:r>
            <a:r>
              <a:rPr kumimoji="0" sz="2400" b="1" i="0" u="none" strike="noStrike" kern="1200" cap="none" spc="-40" normalizeH="0" baseline="0" noProof="0" dirty="0">
                <a:ln>
                  <a:noFill/>
                </a:ln>
                <a:solidFill>
                  <a:prstClr val="white"/>
                </a:solidFill>
                <a:effectLst/>
                <a:uLnTx/>
                <a:uFillTx/>
                <a:latin typeface="Arial"/>
                <a:ea typeface="+mn-ea"/>
                <a:cs typeface="Arial"/>
              </a:rPr>
              <a:t>TABLE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Sells</a:t>
            </a:r>
            <a:r>
              <a:rPr kumimoji="0" sz="2400" b="0" i="0" u="none" strike="noStrike" kern="1200" cap="none" spc="0" normalizeH="0" baseline="0" noProof="0" dirty="0">
                <a:ln>
                  <a:noFill/>
                </a:ln>
                <a:solidFill>
                  <a:prstClr val="white"/>
                </a:solidFill>
                <a:effectLst/>
                <a:uLnTx/>
                <a:uFillTx/>
                <a:latin typeface="Arial MT"/>
                <a:ea typeface="+mn-ea"/>
                <a:cs typeface="Arial MT"/>
              </a:rPr>
              <a:t> (</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7" name="object 7"/>
          <p:cNvSpPr txBox="1"/>
          <p:nvPr/>
        </p:nvSpPr>
        <p:spPr>
          <a:xfrm>
            <a:off x="1409700" y="3747198"/>
            <a:ext cx="686435" cy="1343660"/>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201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bar </a:t>
            </a:r>
            <a:r>
              <a:rPr kumimoji="0" sz="2400" b="0" i="0" u="none" strike="noStrike" kern="1200" cap="none" spc="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 </a:t>
            </a:r>
            <a:r>
              <a:rPr kumimoji="0" sz="2400" b="0" i="0" u="none" strike="noStrike" kern="1200" cap="none" spc="-655"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price</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8" name="object 8"/>
          <p:cNvSpPr txBox="1"/>
          <p:nvPr/>
        </p:nvSpPr>
        <p:spPr>
          <a:xfrm>
            <a:off x="2895855" y="3747198"/>
            <a:ext cx="5532755" cy="1343660"/>
          </a:xfrm>
          <a:prstGeom prst="rect">
            <a:avLst/>
          </a:prstGeom>
        </p:spPr>
        <p:txBody>
          <a:bodyPr vert="horz" wrap="square" lIns="0" tIns="86360" rIns="0" bIns="0" rtlCol="0">
            <a:spAutoFit/>
          </a:bodyPr>
          <a:lstStyle/>
          <a:p>
            <a:pPr marL="12700" marR="0" lvl="0" indent="0" algn="l" defTabSz="457200" rtl="0" eaLnBrk="1" fontAlgn="auto" latinLnBrk="0" hangingPunct="1">
              <a:lnSpc>
                <a:spcPct val="100000"/>
              </a:lnSpc>
              <a:spcBef>
                <a:spcPts val="68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CHAR(20),</a:t>
            </a:r>
            <a:endParaRPr kumimoji="0" sz="2400" b="0" i="0" u="none" strike="noStrike" kern="1200" cap="none" spc="0" normalizeH="0" baseline="0" noProof="0">
              <a:ln>
                <a:noFill/>
              </a:ln>
              <a:solidFill>
                <a:prstClr val="white"/>
              </a:solidFill>
              <a:effectLst/>
              <a:uLnTx/>
              <a:uFillTx/>
              <a:latin typeface="Arial MT"/>
              <a:ea typeface="+mn-ea"/>
              <a:cs typeface="Arial MT"/>
            </a:endParaRPr>
          </a:p>
          <a:p>
            <a:pPr marL="12700" marR="5080" lvl="0" indent="0" algn="l" defTabSz="457200" rtl="0" eaLnBrk="1" fontAlgn="auto" latinLnBrk="0" hangingPunct="1">
              <a:lnSpc>
                <a:spcPct val="120000"/>
              </a:lnSpc>
              <a:spcBef>
                <a:spcPts val="5"/>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CHAR(20)</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1" i="0" u="none" strike="noStrike" kern="1200" cap="none" spc="-5" normalizeH="0" baseline="0" noProof="0" dirty="0">
                <a:ln>
                  <a:noFill/>
                </a:ln>
                <a:solidFill>
                  <a:prstClr val="white"/>
                </a:solidFill>
                <a:effectLst/>
                <a:uLnTx/>
                <a:uFillTx/>
                <a:latin typeface="Arial"/>
                <a:ea typeface="+mn-ea"/>
                <a:cs typeface="Arial"/>
              </a:rPr>
              <a:t>REFERENCES</a:t>
            </a:r>
            <a:r>
              <a:rPr kumimoji="0" sz="2400" b="1" i="0" u="none" strike="noStrike" kern="1200" cap="none" spc="35"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Beers(name), </a:t>
            </a:r>
            <a:r>
              <a:rPr kumimoji="0" sz="2400" b="0" i="0" u="none" strike="noStrike" kern="1200" cap="none" spc="-655"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REAL</a:t>
            </a:r>
            <a:r>
              <a:rPr kumimoji="0" sz="2400" b="0" i="0" u="none" strike="noStrike" kern="1200" cap="none" spc="-8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566673"/>
            <a:ext cx="9522460" cy="1871410"/>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Ejemplo: Como elemento de esquema
</a:t>
            </a:r>
            <a:endParaRPr spc="-5" dirty="0">
              <a:solidFill>
                <a:srgbClr val="FF0000"/>
              </a:solidFill>
              <a:latin typeface="Aharoni" panose="02010803020104030203" pitchFamily="2" charset="-79"/>
              <a:cs typeface="Aharoni" panose="02010803020104030203" pitchFamily="2" charset="-79"/>
            </a:endParaRPr>
          </a:p>
        </p:txBody>
      </p:sp>
      <p:sp>
        <p:nvSpPr>
          <p:cNvPr id="3" name="object 3"/>
          <p:cNvSpPr txBox="1"/>
          <p:nvPr/>
        </p:nvSpPr>
        <p:spPr>
          <a:xfrm>
            <a:off x="914400" y="2180717"/>
            <a:ext cx="3401060" cy="391160"/>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1" i="0" u="none" strike="noStrike" kern="1200" cap="none" spc="-35" normalizeH="0" baseline="0" noProof="0" dirty="0">
                <a:ln>
                  <a:noFill/>
                </a:ln>
                <a:solidFill>
                  <a:prstClr val="white"/>
                </a:solidFill>
                <a:effectLst/>
                <a:uLnTx/>
                <a:uFillTx/>
                <a:latin typeface="Arial"/>
                <a:ea typeface="+mn-ea"/>
                <a:cs typeface="Arial"/>
              </a:rPr>
              <a:t>CREATE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1" i="0" u="none" strike="noStrike" kern="1200" cap="none" spc="-40" normalizeH="0" baseline="0" noProof="0" dirty="0">
                <a:ln>
                  <a:noFill/>
                </a:ln>
                <a:solidFill>
                  <a:prstClr val="white"/>
                </a:solidFill>
                <a:effectLst/>
                <a:uLnTx/>
                <a:uFillTx/>
                <a:latin typeface="Arial"/>
                <a:ea typeface="+mn-ea"/>
                <a:cs typeface="Arial"/>
              </a:rPr>
              <a:t>TABLE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Beers</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4" name="object 4"/>
          <p:cNvSpPr txBox="1"/>
          <p:nvPr/>
        </p:nvSpPr>
        <p:spPr>
          <a:xfrm>
            <a:off x="1257299" y="2546478"/>
            <a:ext cx="788670" cy="793807"/>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name  </a:t>
            </a:r>
            <a:r>
              <a:rPr kumimoji="0" sz="2400" b="0" i="0" u="none" strike="noStrike" kern="1200" cap="none" spc="0" normalizeH="0" baseline="0" noProof="0" dirty="0">
                <a:ln>
                  <a:noFill/>
                </a:ln>
                <a:solidFill>
                  <a:prstClr val="white"/>
                </a:solidFill>
                <a:effectLst/>
                <a:uLnTx/>
                <a:uFillTx/>
                <a:latin typeface="Arial MT"/>
                <a:ea typeface="+mn-ea"/>
                <a:cs typeface="Arial MT"/>
              </a:rPr>
              <a:t>manf</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5" name="object 5"/>
          <p:cNvSpPr txBox="1"/>
          <p:nvPr/>
        </p:nvSpPr>
        <p:spPr>
          <a:xfrm>
            <a:off x="2743455" y="2546478"/>
            <a:ext cx="3701415" cy="793807"/>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CHAR(20) </a:t>
            </a:r>
            <a:r>
              <a:rPr kumimoji="0" sz="2400" b="1" i="0" u="none" strike="noStrike" kern="1200" cap="none" spc="-15" normalizeH="0" baseline="0" noProof="0" dirty="0">
                <a:ln>
                  <a:noFill/>
                </a:ln>
                <a:solidFill>
                  <a:prstClr val="white"/>
                </a:solidFill>
                <a:effectLst/>
                <a:uLnTx/>
                <a:uFillTx/>
                <a:latin typeface="Arial"/>
                <a:ea typeface="+mn-ea"/>
                <a:cs typeface="Arial"/>
              </a:rPr>
              <a:t>PRIMARY</a:t>
            </a:r>
            <a:r>
              <a:rPr kumimoji="0" sz="2400" b="1" i="0" u="none" strike="noStrike" kern="1200" cap="none" spc="-70" normalizeH="0" baseline="0" noProof="0" dirty="0">
                <a:ln>
                  <a:noFill/>
                </a:ln>
                <a:solidFill>
                  <a:prstClr val="white"/>
                </a:solidFill>
                <a:effectLst/>
                <a:uLnTx/>
                <a:uFillTx/>
                <a:latin typeface="Arial"/>
                <a:ea typeface="+mn-ea"/>
                <a:cs typeface="Arial"/>
              </a:rPr>
              <a:t> </a:t>
            </a:r>
            <a:r>
              <a:rPr kumimoji="0" sz="2400" b="1" i="0" u="none" strike="noStrike" kern="1200" cap="none" spc="-5" normalizeH="0" baseline="0" noProof="0" dirty="0">
                <a:ln>
                  <a:noFill/>
                </a:ln>
                <a:solidFill>
                  <a:prstClr val="white"/>
                </a:solidFill>
                <a:effectLst/>
                <a:uLnTx/>
                <a:uFillTx/>
                <a:latin typeface="Arial"/>
                <a:ea typeface="+mn-ea"/>
                <a:cs typeface="Arial"/>
              </a:rPr>
              <a:t>KEY</a:t>
            </a:r>
            <a:r>
              <a:rPr kumimoji="0" sz="2400" b="0" i="0" u="none" strike="noStrike" kern="1200" cap="none" spc="-5" normalizeH="0" baseline="0" noProof="0" dirty="0">
                <a:ln>
                  <a:noFill/>
                </a:ln>
                <a:solidFill>
                  <a:prstClr val="white"/>
                </a:solidFill>
                <a:effectLst/>
                <a:uLnTx/>
                <a:uFillTx/>
                <a:latin typeface="Arial MT"/>
                <a:ea typeface="+mn-ea"/>
                <a:cs typeface="Arial MT"/>
              </a:rPr>
              <a:t>, </a:t>
            </a:r>
            <a:r>
              <a:rPr kumimoji="0" sz="2400" b="0" i="0" u="none" strike="noStrike" kern="1200" cap="none" spc="-65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CHAR(20)</a:t>
            </a:r>
            <a:r>
              <a:rPr kumimoji="0" sz="2400" b="0" i="0" u="none" strike="noStrike" kern="1200" cap="none" spc="25" normalizeH="0" baseline="0" noProof="0" dirty="0">
                <a:ln>
                  <a:noFill/>
                </a:ln>
                <a:solidFill>
                  <a:prstClr val="white"/>
                </a:solidFill>
                <a:effectLst/>
                <a:uLnTx/>
                <a:uFillTx/>
                <a:latin typeface="Arial MT"/>
                <a:ea typeface="+mn-ea"/>
                <a:cs typeface="Arial MT"/>
              </a:rPr>
              <a:t> </a:t>
            </a:r>
            <a:r>
              <a:rPr kumimoji="0" sz="2400" b="0" i="0" u="none" strike="noStrike" kern="1200" cap="none" spc="0"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6" name="object 6"/>
          <p:cNvSpPr txBox="1"/>
          <p:nvPr/>
        </p:nvSpPr>
        <p:spPr>
          <a:xfrm>
            <a:off x="914401" y="3790315"/>
            <a:ext cx="3267075" cy="391160"/>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1" i="0" u="none" strike="noStrike" kern="1200" cap="none" spc="-35" normalizeH="0" baseline="0" noProof="0" dirty="0">
                <a:ln>
                  <a:noFill/>
                </a:ln>
                <a:solidFill>
                  <a:prstClr val="white"/>
                </a:solidFill>
                <a:effectLst/>
                <a:uLnTx/>
                <a:uFillTx/>
                <a:latin typeface="Arial"/>
                <a:ea typeface="+mn-ea"/>
                <a:cs typeface="Arial"/>
              </a:rPr>
              <a:t>CREATE</a:t>
            </a:r>
            <a:r>
              <a:rPr kumimoji="0" sz="2400" b="1" i="0" u="none" strike="noStrike" kern="1200" cap="none" spc="-15" normalizeH="0" baseline="0" noProof="0" dirty="0">
                <a:ln>
                  <a:noFill/>
                </a:ln>
                <a:solidFill>
                  <a:prstClr val="white"/>
                </a:solidFill>
                <a:effectLst/>
                <a:uLnTx/>
                <a:uFillTx/>
                <a:latin typeface="Arial"/>
                <a:ea typeface="+mn-ea"/>
                <a:cs typeface="Arial"/>
              </a:rPr>
              <a:t> </a:t>
            </a:r>
            <a:r>
              <a:rPr kumimoji="0" sz="2400" b="1" i="0" u="none" strike="noStrike" kern="1200" cap="none" spc="-40" normalizeH="0" baseline="0" noProof="0" dirty="0">
                <a:ln>
                  <a:noFill/>
                </a:ln>
                <a:solidFill>
                  <a:prstClr val="white"/>
                </a:solidFill>
                <a:effectLst/>
                <a:uLnTx/>
                <a:uFillTx/>
                <a:latin typeface="Arial"/>
                <a:ea typeface="+mn-ea"/>
                <a:cs typeface="Arial"/>
              </a:rPr>
              <a:t>TABLE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Sells</a:t>
            </a:r>
            <a:r>
              <a:rPr kumimoji="0" sz="2400" b="0" i="0" u="none" strike="noStrike" kern="1200" cap="none" spc="0" normalizeH="0" baseline="0" noProof="0" dirty="0">
                <a:ln>
                  <a:noFill/>
                </a:ln>
                <a:solidFill>
                  <a:prstClr val="white"/>
                </a:solidFill>
                <a:effectLst/>
                <a:uLnTx/>
                <a:uFillTx/>
                <a:latin typeface="Arial MT"/>
                <a:ea typeface="+mn-ea"/>
                <a:cs typeface="Arial MT"/>
              </a:rPr>
              <a:t> (</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7" name="object 7"/>
          <p:cNvSpPr txBox="1"/>
          <p:nvPr/>
        </p:nvSpPr>
        <p:spPr>
          <a:xfrm>
            <a:off x="1257300" y="4155693"/>
            <a:ext cx="686435" cy="1233170"/>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101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bar </a:t>
            </a:r>
            <a:r>
              <a:rPr kumimoji="0" sz="2400" b="0" i="0" u="none" strike="noStrike" kern="1200" cap="none" spc="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 </a:t>
            </a:r>
            <a:r>
              <a:rPr kumimoji="0" sz="2400" b="0" i="0" u="none" strike="noStrike" kern="1200" cap="none" spc="-655"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price</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p:txBody>
      </p:sp>
      <p:sp>
        <p:nvSpPr>
          <p:cNvPr id="8" name="object 8"/>
          <p:cNvSpPr txBox="1"/>
          <p:nvPr/>
        </p:nvSpPr>
        <p:spPr>
          <a:xfrm>
            <a:off x="2743454" y="4155693"/>
            <a:ext cx="1515110" cy="1233170"/>
          </a:xfrm>
          <a:prstGeom prst="rect">
            <a:avLst/>
          </a:prstGeom>
        </p:spPr>
        <p:txBody>
          <a:bodyPr vert="horz" wrap="square" lIns="0" tIns="49530" rIns="0" bIns="0" rtlCol="0">
            <a:spAutoFit/>
          </a:bodyPr>
          <a:lstStyle/>
          <a:p>
            <a:pPr marL="12700" marR="0" lvl="0" indent="0" algn="l" defTabSz="457200" rtl="0" eaLnBrk="1" fontAlgn="auto" latinLnBrk="0" hangingPunct="1">
              <a:lnSpc>
                <a:spcPct val="100000"/>
              </a:lnSpc>
              <a:spcBef>
                <a:spcPts val="39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CHAR(20),</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12700" marR="5080" lvl="0" indent="0" algn="l" defTabSz="457200" rtl="0" eaLnBrk="1" fontAlgn="auto" latinLnBrk="0" hangingPunct="1">
              <a:lnSpc>
                <a:spcPct val="110000"/>
              </a:lnSpc>
              <a:spcBef>
                <a:spcPts val="5"/>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a:t>
            </a:r>
            <a:r>
              <a:rPr kumimoji="0" sz="2400" b="0" i="0" u="none" strike="noStrike" kern="1200" cap="none" spc="-15" normalizeH="0" baseline="0" noProof="0" dirty="0">
                <a:ln>
                  <a:noFill/>
                </a:ln>
                <a:solidFill>
                  <a:prstClr val="white"/>
                </a:solidFill>
                <a:effectLst/>
                <a:uLnTx/>
                <a:uFillTx/>
                <a:latin typeface="Arial MT"/>
                <a:ea typeface="+mn-ea"/>
                <a:cs typeface="Arial MT"/>
              </a:rPr>
              <a:t>H</a:t>
            </a:r>
            <a:r>
              <a:rPr kumimoji="0" sz="2400" b="0" i="0" u="none" strike="noStrike" kern="1200" cap="none" spc="-5" normalizeH="0" baseline="0" noProof="0" dirty="0">
                <a:ln>
                  <a:noFill/>
                </a:ln>
                <a:solidFill>
                  <a:prstClr val="white"/>
                </a:solidFill>
                <a:effectLst/>
                <a:uLnTx/>
                <a:uFillTx/>
                <a:latin typeface="Arial MT"/>
                <a:ea typeface="+mn-ea"/>
                <a:cs typeface="Arial MT"/>
              </a:rPr>
              <a:t>A</a:t>
            </a:r>
            <a:r>
              <a:rPr kumimoji="0" sz="2400" b="0" i="0" u="none" strike="noStrike" kern="1200" cap="none" spc="-15" normalizeH="0" baseline="0" noProof="0" dirty="0">
                <a:ln>
                  <a:noFill/>
                </a:ln>
                <a:solidFill>
                  <a:prstClr val="white"/>
                </a:solidFill>
                <a:effectLst/>
                <a:uLnTx/>
                <a:uFillTx/>
                <a:latin typeface="Arial MT"/>
                <a:ea typeface="+mn-ea"/>
                <a:cs typeface="Arial MT"/>
              </a:rPr>
              <a:t>R</a:t>
            </a:r>
            <a:r>
              <a:rPr kumimoji="0" sz="2400" b="0" i="0" u="none" strike="noStrike" kern="1200" cap="none" spc="-5" normalizeH="0" baseline="0" noProof="0" dirty="0">
                <a:ln>
                  <a:noFill/>
                </a:ln>
                <a:solidFill>
                  <a:prstClr val="white"/>
                </a:solidFill>
                <a:effectLst/>
                <a:uLnTx/>
                <a:uFillTx/>
                <a:latin typeface="Arial MT"/>
                <a:ea typeface="+mn-ea"/>
                <a:cs typeface="Arial MT"/>
              </a:rPr>
              <a:t>(20</a:t>
            </a:r>
            <a:r>
              <a:rPr kumimoji="0" sz="2400" b="0" i="0" u="none" strike="noStrike" kern="1200" cap="none" spc="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REAL,</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p:txBody>
      </p:sp>
      <p:sp>
        <p:nvSpPr>
          <p:cNvPr id="9" name="object 9"/>
          <p:cNvSpPr txBox="1"/>
          <p:nvPr/>
        </p:nvSpPr>
        <p:spPr>
          <a:xfrm>
            <a:off x="1257299" y="5400040"/>
            <a:ext cx="7142480" cy="391160"/>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1" i="0" u="none" strike="noStrike" kern="1200" cap="none" spc="0" normalizeH="0" baseline="0" noProof="0" dirty="0">
                <a:ln>
                  <a:noFill/>
                </a:ln>
                <a:solidFill>
                  <a:prstClr val="white"/>
                </a:solidFill>
                <a:effectLst/>
                <a:uLnTx/>
                <a:uFillTx/>
                <a:latin typeface="Arial"/>
                <a:ea typeface="+mn-ea"/>
                <a:cs typeface="Arial"/>
              </a:rPr>
              <a:t>FOREIGN</a:t>
            </a:r>
            <a:r>
              <a:rPr kumimoji="0" sz="2400" b="1" i="0" u="none" strike="noStrike" kern="1200" cap="none" spc="-20" normalizeH="0" baseline="0" noProof="0" dirty="0">
                <a:ln>
                  <a:noFill/>
                </a:ln>
                <a:solidFill>
                  <a:prstClr val="white"/>
                </a:solidFill>
                <a:effectLst/>
                <a:uLnTx/>
                <a:uFillTx/>
                <a:latin typeface="Arial"/>
                <a:ea typeface="+mn-ea"/>
                <a:cs typeface="Arial"/>
              </a:rPr>
              <a:t> </a:t>
            </a:r>
            <a:r>
              <a:rPr kumimoji="0" sz="2400" b="1" i="0" u="none" strike="noStrike" kern="1200" cap="none" spc="-5" normalizeH="0" baseline="0" noProof="0" dirty="0">
                <a:ln>
                  <a:noFill/>
                </a:ln>
                <a:solidFill>
                  <a:prstClr val="white"/>
                </a:solidFill>
                <a:effectLst/>
                <a:uLnTx/>
                <a:uFillTx/>
                <a:latin typeface="Arial"/>
                <a:ea typeface="+mn-ea"/>
                <a:cs typeface="Arial"/>
              </a:rPr>
              <a:t>KEY</a:t>
            </a:r>
            <a:r>
              <a:rPr kumimoji="0" sz="2400" b="0" i="0" u="none" strike="noStrike" kern="1200" cap="none" spc="-5" normalizeH="0" baseline="0" noProof="0" dirty="0">
                <a:ln>
                  <a:noFill/>
                </a:ln>
                <a:solidFill>
                  <a:prstClr val="white"/>
                </a:solidFill>
                <a:effectLst/>
                <a:uLnTx/>
                <a:uFillTx/>
                <a:latin typeface="Arial MT"/>
                <a:ea typeface="+mn-ea"/>
                <a:cs typeface="Arial MT"/>
              </a:rPr>
              <a:t>(beer)</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1" i="0" u="none" strike="noStrike" kern="1200" cap="none" spc="-5" normalizeH="0" baseline="0" noProof="0" dirty="0">
                <a:ln>
                  <a:noFill/>
                </a:ln>
                <a:solidFill>
                  <a:prstClr val="white"/>
                </a:solidFill>
                <a:effectLst/>
                <a:uLnTx/>
                <a:uFillTx/>
                <a:latin typeface="Arial"/>
                <a:ea typeface="+mn-ea"/>
                <a:cs typeface="Arial"/>
              </a:rPr>
              <a:t>REFERENCES</a:t>
            </a:r>
            <a:r>
              <a:rPr kumimoji="0" sz="2400" b="1" i="0" u="none" strike="noStrike" kern="1200" cap="none" spc="45"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Beers(name));</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0653" y="852598"/>
            <a:ext cx="9065259" cy="1854482"/>
          </a:xfrm>
          <a:prstGeom prst="rect">
            <a:avLst/>
          </a:prstGeom>
        </p:spPr>
        <p:txBody>
          <a:bodyPr vert="horz" wrap="square" lIns="0" tIns="13335" rIns="0" bIns="0" rtlCol="0">
            <a:spAutoFit/>
          </a:bodyPr>
          <a:lstStyle/>
          <a:p>
            <a:pPr marL="12700">
              <a:spcBef>
                <a:spcPts val="105"/>
              </a:spcBef>
            </a:pPr>
            <a:r>
              <a:rPr lang="es-ES" spc="-5" dirty="0">
                <a:solidFill>
                  <a:srgbClr val="FF0000"/>
                </a:solidFill>
                <a:latin typeface="Aharoni" panose="02010803020104030203" pitchFamily="2" charset="-79"/>
                <a:cs typeface="Aharoni" panose="02010803020104030203" pitchFamily="2" charset="-79"/>
              </a:rPr>
              <a:t>Aplicación de restricciones de clave externa</a:t>
            </a:r>
            <a:r>
              <a:rPr lang="es-ES" spc="-5" dirty="0">
                <a:solidFill>
                  <a:srgbClr val="FF0000"/>
                </a:solidFill>
              </a:rPr>
              <a:t>
</a:t>
            </a:r>
            <a:endParaRPr dirty="0">
              <a:solidFill>
                <a:srgbClr val="FF0000"/>
              </a:solidFill>
            </a:endParaRPr>
          </a:p>
        </p:txBody>
      </p:sp>
      <p:sp>
        <p:nvSpPr>
          <p:cNvPr id="3" name="object 3"/>
          <p:cNvSpPr txBox="1"/>
          <p:nvPr/>
        </p:nvSpPr>
        <p:spPr>
          <a:xfrm>
            <a:off x="990600" y="2438400"/>
            <a:ext cx="10591799" cy="3567002"/>
          </a:xfrm>
          <a:prstGeom prst="rect">
            <a:avLst/>
          </a:prstGeom>
        </p:spPr>
        <p:txBody>
          <a:bodyPr vert="horz" wrap="square" lIns="0" tIns="12065" rIns="0" bIns="0" rtlCol="0">
            <a:spAutoFit/>
          </a:bodyPr>
          <a:lstStyle/>
          <a:p>
            <a:pPr marL="12700" marR="96520" lvl="0" indent="0" algn="l" defTabSz="457200" rtl="0" eaLnBrk="1" fontAlgn="auto" latinLnBrk="0" hangingPunct="1">
              <a:lnSpc>
                <a:spcPct val="100000"/>
              </a:lnSpc>
              <a:spcBef>
                <a:spcPts val="95"/>
              </a:spcBef>
              <a:spcAft>
                <a:spcPts val="0"/>
              </a:spcAft>
              <a:buClrTx/>
              <a:buSzTx/>
              <a:buFontTx/>
              <a:buNone/>
              <a:tabLst>
                <a:tab pos="354965" algn="l"/>
                <a:tab pos="35560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Si hay una restricción de clave externa de la relación R a la relación S, son posibles dos transgresiones: (1) </a:t>
            </a:r>
            <a:r>
              <a:rPr kumimoji="0" lang="es-ES" sz="2000" b="0" i="0" u="none" strike="noStrike" kern="1200" cap="none" spc="0" normalizeH="0" baseline="0" noProof="0" dirty="0">
                <a:ln>
                  <a:noFill/>
                </a:ln>
                <a:solidFill>
                  <a:prstClr val="white"/>
                </a:solidFill>
                <a:effectLst/>
                <a:uLnTx/>
                <a:uFillTx/>
                <a:latin typeface="Arial MT"/>
                <a:ea typeface="+mn-ea"/>
                <a:cs typeface="Arial MT"/>
              </a:rPr>
              <a:t>Una inserción o actualización de R introduce valores que no se encuentran en S. (2) Una eliminación o actualización de S hace que algunas tuplas de R ‘cuelguen’.</a:t>
            </a:r>
          </a:p>
          <a:p>
            <a:pPr marL="355600" marR="96520" lvl="0" indent="-342900" algn="l" defTabSz="457200" rtl="0" eaLnBrk="1" fontAlgn="auto" latinLnBrk="0" hangingPunct="1">
              <a:lnSpc>
                <a:spcPct val="100000"/>
              </a:lnSpc>
              <a:spcBef>
                <a:spcPts val="95"/>
              </a:spcBef>
              <a:spcAft>
                <a:spcPts val="0"/>
              </a:spcAft>
              <a:buClrTx/>
              <a:buSzTx/>
              <a:buFontTx/>
              <a:buChar char="•"/>
              <a:tabLst>
                <a:tab pos="354965" algn="l"/>
                <a:tab pos="355600" algn="l"/>
              </a:tabLst>
              <a:defRPr/>
            </a:pPr>
            <a:endParaRPr kumimoji="0" sz="3200" b="0" i="0" u="none" strike="noStrike" kern="1200" cap="none" spc="0" normalizeH="0" baseline="0" noProof="0" dirty="0">
              <a:ln>
                <a:noFill/>
              </a:ln>
              <a:solidFill>
                <a:prstClr val="white"/>
              </a:solidFill>
              <a:effectLst/>
              <a:uLnTx/>
              <a:uFillTx/>
              <a:latin typeface="Arial MT"/>
              <a:ea typeface="+mn-ea"/>
              <a:cs typeface="Arial MT"/>
            </a:endParaRPr>
          </a:p>
          <a:p>
            <a:pPr marL="12700" marR="0" lvl="0" indent="0" algn="l" defTabSz="457200" rtl="0" eaLnBrk="1" fontAlgn="auto" latinLnBrk="0" hangingPunct="1">
              <a:lnSpc>
                <a:spcPct val="100000"/>
              </a:lnSpc>
              <a:spcBef>
                <a:spcPts val="5"/>
              </a:spcBef>
              <a:spcAft>
                <a:spcPts val="0"/>
              </a:spcAft>
              <a:buClrTx/>
              <a:buSzTx/>
              <a:buFontTx/>
              <a:buNone/>
              <a:tabLst/>
              <a:defRPr/>
            </a:pPr>
            <a:r>
              <a:rPr kumimoji="0" lang="es-CL" sz="2200" b="0" i="0" u="none" strike="noStrike" kern="1200" cap="none" spc="-5" normalizeH="0" baseline="0" noProof="0" dirty="0">
                <a:ln>
                  <a:noFill/>
                </a:ln>
                <a:solidFill>
                  <a:prstClr val="white"/>
                </a:solidFill>
                <a:effectLst/>
                <a:uLnTx/>
                <a:uFillTx/>
                <a:latin typeface="Arial MT"/>
                <a:ea typeface="+mn-ea"/>
                <a:cs typeface="Arial MT"/>
              </a:rPr>
              <a:t>Ejemplo: supongamos R = Ventas, S = Cervezas</a:t>
            </a:r>
            <a:endParaRPr kumimoji="0" sz="2200" b="0" i="0" u="none" strike="noStrike" kern="1200" cap="none" spc="0" normalizeH="0" baseline="0" noProof="0" dirty="0">
              <a:ln>
                <a:noFill/>
              </a:ln>
              <a:solidFill>
                <a:prstClr val="white"/>
              </a:solidFill>
              <a:effectLst/>
              <a:uLnTx/>
              <a:uFillTx/>
              <a:latin typeface="Arial"/>
              <a:ea typeface="+mn-ea"/>
              <a:cs typeface="Arial"/>
            </a:endParaRPr>
          </a:p>
          <a:p>
            <a:pPr marL="12700" marR="0" lvl="0" indent="0" algn="l" defTabSz="457200" rtl="0" eaLnBrk="1" fontAlgn="auto" latinLnBrk="0" hangingPunct="1">
              <a:lnSpc>
                <a:spcPct val="100000"/>
              </a:lnSpc>
              <a:spcBef>
                <a:spcPts val="525"/>
              </a:spcBef>
              <a:spcAft>
                <a:spcPts val="0"/>
              </a:spcAft>
              <a:buClrTx/>
              <a:buSzTx/>
              <a:buFontTx/>
              <a:buNone/>
              <a:tabLst>
                <a:tab pos="354965" algn="l"/>
                <a:tab pos="35560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Una inserción o actualización de Ventas que introduce una cerveza inexistente debe ser rechazada. Una eliminación o actualización de </a:t>
            </a:r>
            <a:r>
              <a:rPr kumimoji="0" lang="es-ES" sz="2200" b="0" i="0" u="none" strike="noStrike" kern="1200" cap="none" spc="-5" normalizeH="0" baseline="0" noProof="0" dirty="0" err="1">
                <a:ln>
                  <a:noFill/>
                </a:ln>
                <a:solidFill>
                  <a:prstClr val="white"/>
                </a:solidFill>
                <a:effectLst/>
                <a:uLnTx/>
                <a:uFillTx/>
                <a:latin typeface="Arial MT"/>
                <a:ea typeface="+mn-ea"/>
                <a:cs typeface="Arial MT"/>
              </a:rPr>
              <a:t>Beers</a:t>
            </a:r>
            <a:r>
              <a:rPr kumimoji="0" lang="es-ES" sz="2200" b="0" i="0" u="none" strike="noStrike" kern="1200" cap="none" spc="-5" normalizeH="0" baseline="0" noProof="0" dirty="0">
                <a:ln>
                  <a:noFill/>
                </a:ln>
                <a:solidFill>
                  <a:prstClr val="white"/>
                </a:solidFill>
                <a:effectLst/>
                <a:uLnTx/>
                <a:uFillTx/>
                <a:latin typeface="Arial MT"/>
                <a:ea typeface="+mn-ea"/>
                <a:cs typeface="Arial MT"/>
              </a:rPr>
              <a:t> que elimina un valor de cerveza que se encuentra en algunas tuplas de Ventas se puede manejar de tres maneras.</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838200"/>
            <a:ext cx="5864859" cy="1245084"/>
          </a:xfrm>
          <a:prstGeom prst="rect">
            <a:avLst/>
          </a:prstGeom>
        </p:spPr>
        <p:txBody>
          <a:bodyPr vert="horz" wrap="square" lIns="0" tIns="13335" rIns="0" bIns="0" rtlCol="0">
            <a:spAutoFit/>
          </a:bodyPr>
          <a:lstStyle/>
          <a:p>
            <a:pPr marL="12700">
              <a:spcBef>
                <a:spcPts val="105"/>
              </a:spcBef>
            </a:pPr>
            <a:r>
              <a:rPr lang="es-CL" spc="-5" dirty="0">
                <a:solidFill>
                  <a:srgbClr val="FF0000"/>
                </a:solidFill>
                <a:latin typeface="Aharoni" panose="02010803020104030203" pitchFamily="2" charset="-79"/>
                <a:cs typeface="Aharoni" panose="02010803020104030203" pitchFamily="2" charset="-79"/>
              </a:rPr>
              <a:t>Elegir una directiva</a:t>
            </a:r>
            <a:r>
              <a:rPr lang="es-CL" spc="-5" dirty="0">
                <a:solidFill>
                  <a:srgbClr val="FF0000"/>
                </a:solidFill>
              </a:rPr>
              <a:t>
</a:t>
            </a:r>
            <a:endParaRPr spc="-5" dirty="0">
              <a:solidFill>
                <a:srgbClr val="FF0000"/>
              </a:solidFill>
            </a:endParaRPr>
          </a:p>
        </p:txBody>
      </p:sp>
      <p:sp>
        <p:nvSpPr>
          <p:cNvPr id="3" name="object 3"/>
          <p:cNvSpPr txBox="1"/>
          <p:nvPr/>
        </p:nvSpPr>
        <p:spPr>
          <a:xfrm>
            <a:off x="1143000" y="1905000"/>
            <a:ext cx="8991600" cy="3901068"/>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00000"/>
              </a:lnSpc>
              <a:spcBef>
                <a:spcPts val="100"/>
              </a:spcBef>
              <a:spcAft>
                <a:spcPts val="0"/>
              </a:spcAft>
              <a:buClrTx/>
              <a:buSzTx/>
              <a:buFontTx/>
              <a:buNone/>
              <a:tabLst>
                <a:tab pos="354965" algn="l"/>
                <a:tab pos="355600" algn="l"/>
              </a:tabLst>
              <a:defRPr/>
            </a:pPr>
            <a:r>
              <a:rPr kumimoji="0" lang="es-ES" sz="2400" b="0" i="0" u="none" strike="noStrike" kern="1200" cap="none" spc="-5" normalizeH="0" baseline="0" noProof="0" dirty="0">
                <a:ln>
                  <a:noFill/>
                </a:ln>
                <a:solidFill>
                  <a:prstClr val="white"/>
                </a:solidFill>
                <a:effectLst/>
                <a:uLnTx/>
                <a:uFillTx/>
                <a:latin typeface="Arial MT"/>
                <a:ea typeface="+mn-ea"/>
                <a:cs typeface="Arial MT"/>
              </a:rPr>
              <a:t>Cuando declaramos una clave externa, podemos elegir las políticas SET NULL o CASCADE independientemente para eliminaciones y actualizaciones. Siga la declaración de clave externa de la siguiente manera:</a:t>
            </a:r>
          </a:p>
          <a:p>
            <a:pPr marL="12700" marR="5080" lvl="0" indent="0" algn="l" defTabSz="457200" rtl="0" eaLnBrk="1" fontAlgn="auto" latinLnBrk="0" hangingPunct="1">
              <a:lnSpc>
                <a:spcPct val="100000"/>
              </a:lnSpc>
              <a:spcBef>
                <a:spcPts val="100"/>
              </a:spcBef>
              <a:spcAft>
                <a:spcPts val="0"/>
              </a:spcAft>
              <a:buClrTx/>
              <a:buSzTx/>
              <a:buFontTx/>
              <a:buNone/>
              <a:tabLst>
                <a:tab pos="354965" algn="l"/>
                <a:tab pos="355600" algn="l"/>
              </a:tabLst>
              <a:defRPr/>
            </a:pPr>
            <a:endParaRPr kumimoji="0" lang="es-ES" sz="2400" b="1" i="0" u="none" strike="noStrike" kern="1200" cap="none" spc="-5" normalizeH="0" baseline="0" noProof="0" dirty="0">
              <a:ln>
                <a:noFill/>
              </a:ln>
              <a:solidFill>
                <a:prstClr val="white"/>
              </a:solidFill>
              <a:effectLst/>
              <a:uLnTx/>
              <a:uFillTx/>
              <a:latin typeface="Arial MT"/>
              <a:ea typeface="+mn-ea"/>
              <a:cs typeface="Arial"/>
            </a:endParaRPr>
          </a:p>
          <a:p>
            <a:pPr marL="12700" marR="5080" lvl="0" indent="0" algn="l" defTabSz="457200" rtl="0" eaLnBrk="1" fontAlgn="auto" latinLnBrk="0" hangingPunct="1">
              <a:lnSpc>
                <a:spcPct val="100000"/>
              </a:lnSpc>
              <a:spcBef>
                <a:spcPts val="100"/>
              </a:spcBef>
              <a:spcAft>
                <a:spcPts val="0"/>
              </a:spcAft>
              <a:buClrTx/>
              <a:buSzTx/>
              <a:buFontTx/>
              <a:buNone/>
              <a:tabLst>
                <a:tab pos="354965" algn="l"/>
                <a:tab pos="355600" algn="l"/>
              </a:tabLst>
              <a:defRPr/>
            </a:pPr>
            <a:r>
              <a:rPr kumimoji="0" sz="2400" b="1" i="0" u="none" strike="noStrike" kern="1200" cap="none" spc="0" normalizeH="0" baseline="0" noProof="0" dirty="0">
                <a:ln>
                  <a:noFill/>
                </a:ln>
                <a:solidFill>
                  <a:prstClr val="white"/>
                </a:solidFill>
                <a:effectLst/>
                <a:uLnTx/>
                <a:uFillTx/>
                <a:latin typeface="Arial"/>
                <a:ea typeface="+mn-ea"/>
                <a:cs typeface="Arial"/>
              </a:rPr>
              <a:t>ON</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0" i="0" u="none" strike="noStrike" kern="1200" cap="none" spc="-30" normalizeH="0" baseline="0" noProof="0" dirty="0">
                <a:ln>
                  <a:noFill/>
                </a:ln>
                <a:solidFill>
                  <a:prstClr val="white"/>
                </a:solidFill>
                <a:effectLst/>
                <a:uLnTx/>
                <a:uFillTx/>
                <a:latin typeface="Arial MT"/>
                <a:ea typeface="+mn-ea"/>
                <a:cs typeface="Arial MT"/>
              </a:rPr>
              <a:t>[</a:t>
            </a:r>
            <a:r>
              <a:rPr kumimoji="0" sz="2400" b="1" i="0" u="none" strike="noStrike" kern="1200" cap="none" spc="-30" normalizeH="0" baseline="0" noProof="0" dirty="0">
                <a:ln>
                  <a:noFill/>
                </a:ln>
                <a:solidFill>
                  <a:prstClr val="white"/>
                </a:solidFill>
                <a:effectLst/>
                <a:uLnTx/>
                <a:uFillTx/>
                <a:latin typeface="Arial"/>
                <a:ea typeface="+mn-ea"/>
                <a:cs typeface="Arial"/>
              </a:rPr>
              <a:t>UPDATE</a:t>
            </a:r>
            <a:r>
              <a:rPr kumimoji="0" sz="2400" b="0" i="0" u="none" strike="noStrike" kern="1200" cap="none" spc="-30" normalizeH="0" baseline="0" noProof="0" dirty="0">
                <a:ln>
                  <a:noFill/>
                </a:ln>
                <a:solidFill>
                  <a:prstClr val="white"/>
                </a:solidFill>
                <a:effectLst/>
                <a:uLnTx/>
                <a:uFillTx/>
                <a:latin typeface="Arial MT"/>
                <a:ea typeface="+mn-ea"/>
                <a:cs typeface="Arial MT"/>
              </a:rPr>
              <a:t>,</a:t>
            </a:r>
            <a:r>
              <a:rPr kumimoji="0" sz="2400" b="0" i="0" u="none" strike="noStrike" kern="1200" cap="none" spc="20" normalizeH="0" baseline="0" noProof="0" dirty="0">
                <a:ln>
                  <a:noFill/>
                </a:ln>
                <a:solidFill>
                  <a:prstClr val="white"/>
                </a:solidFill>
                <a:effectLst/>
                <a:uLnTx/>
                <a:uFillTx/>
                <a:latin typeface="Arial MT"/>
                <a:ea typeface="+mn-ea"/>
                <a:cs typeface="Arial MT"/>
              </a:rPr>
              <a:t> </a:t>
            </a:r>
            <a:r>
              <a:rPr kumimoji="0" sz="2400" b="1" i="0" u="none" strike="noStrike" kern="1200" cap="none" spc="-5" normalizeH="0" baseline="0" noProof="0" dirty="0">
                <a:ln>
                  <a:noFill/>
                </a:ln>
                <a:solidFill>
                  <a:prstClr val="white"/>
                </a:solidFill>
                <a:effectLst/>
                <a:uLnTx/>
                <a:uFillTx/>
                <a:latin typeface="Arial"/>
                <a:ea typeface="+mn-ea"/>
                <a:cs typeface="Arial"/>
              </a:rPr>
              <a:t>DELETE</a:t>
            </a:r>
            <a:r>
              <a:rPr kumimoji="0" sz="2400" b="0" i="0" u="none" strike="noStrike" kern="1200" cap="none" spc="-5" normalizeH="0" baseline="0" noProof="0" dirty="0">
                <a:ln>
                  <a:noFill/>
                </a:ln>
                <a:solidFill>
                  <a:prstClr val="white"/>
                </a:solidFill>
                <a:effectLst/>
                <a:uLnTx/>
                <a:uFillTx/>
                <a:latin typeface="Arial MT"/>
                <a:ea typeface="+mn-ea"/>
                <a:cs typeface="Arial MT"/>
              </a:rPr>
              <a:t>][</a:t>
            </a:r>
            <a:r>
              <a:rPr kumimoji="0" sz="2400" b="1" i="0" u="none" strike="noStrike" kern="1200" cap="none" spc="-5" normalizeH="0" baseline="0" noProof="0" dirty="0">
                <a:ln>
                  <a:noFill/>
                </a:ln>
                <a:solidFill>
                  <a:prstClr val="white"/>
                </a:solidFill>
                <a:effectLst/>
                <a:uLnTx/>
                <a:uFillTx/>
                <a:latin typeface="Arial"/>
                <a:ea typeface="+mn-ea"/>
                <a:cs typeface="Arial"/>
              </a:rPr>
              <a:t>SET NULL,</a:t>
            </a:r>
            <a:r>
              <a:rPr kumimoji="0" sz="2400" b="1" i="0" u="none" strike="noStrike" kern="1200" cap="none" spc="-15" normalizeH="0" baseline="0" noProof="0" dirty="0">
                <a:ln>
                  <a:noFill/>
                </a:ln>
                <a:solidFill>
                  <a:prstClr val="white"/>
                </a:solidFill>
                <a:effectLst/>
                <a:uLnTx/>
                <a:uFillTx/>
                <a:latin typeface="Arial"/>
                <a:ea typeface="+mn-ea"/>
                <a:cs typeface="Arial"/>
              </a:rPr>
              <a:t> </a:t>
            </a:r>
            <a:r>
              <a:rPr kumimoji="0" sz="2400" b="1" i="0" u="none" strike="noStrike" kern="1200" cap="none" spc="-5" normalizeH="0" baseline="0" noProof="0" dirty="0">
                <a:ln>
                  <a:noFill/>
                </a:ln>
                <a:solidFill>
                  <a:prstClr val="white"/>
                </a:solidFill>
                <a:effectLst/>
                <a:uLnTx/>
                <a:uFillTx/>
                <a:latin typeface="Arial"/>
                <a:ea typeface="+mn-ea"/>
                <a:cs typeface="Arial"/>
              </a:rPr>
              <a:t>CASCADE</a:t>
            </a:r>
            <a:r>
              <a:rPr kumimoji="0" sz="2400" b="0" i="0" u="none" strike="noStrike" kern="1200" cap="none" spc="-5" normalizeH="0" baseline="0" noProof="0" dirty="0">
                <a:ln>
                  <a:noFill/>
                </a:ln>
                <a:solidFill>
                  <a:prstClr val="white"/>
                </a:solidFill>
                <a:effectLst/>
                <a:uLnTx/>
                <a:uFillTx/>
                <a:latin typeface="Arial MT"/>
                <a:ea typeface="+mn-ea"/>
                <a:cs typeface="Arial MT"/>
              </a:rPr>
              <a:t>]</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0" marR="0" lvl="0" indent="0" algn="l" defTabSz="457200" rtl="0" eaLnBrk="1" fontAlgn="auto" latinLnBrk="0" hangingPunct="1">
              <a:lnSpc>
                <a:spcPct val="100000"/>
              </a:lnSpc>
              <a:spcBef>
                <a:spcPts val="5"/>
              </a:spcBef>
              <a:spcAft>
                <a:spcPts val="0"/>
              </a:spcAft>
              <a:buClrTx/>
              <a:buSzTx/>
              <a:buFontTx/>
              <a:buNone/>
              <a:tabLst/>
              <a:defRPr/>
            </a:pPr>
            <a:endParaRPr kumimoji="0" sz="3500" b="0" i="0" u="none" strike="noStrike" kern="1200" cap="none" spc="0" normalizeH="0" baseline="0" noProof="0" dirty="0">
              <a:ln>
                <a:noFill/>
              </a:ln>
              <a:solidFill>
                <a:prstClr val="white"/>
              </a:solidFill>
              <a:effectLst/>
              <a:uLnTx/>
              <a:uFillTx/>
              <a:latin typeface="Arial MT"/>
              <a:ea typeface="+mn-ea"/>
              <a:cs typeface="Arial MT"/>
            </a:endParaRPr>
          </a:p>
          <a:p>
            <a:pPr marL="12700" marR="455930" lvl="0" indent="0" algn="l" defTabSz="457200" rtl="0" eaLnBrk="1" fontAlgn="auto" latinLnBrk="0" hangingPunct="1">
              <a:lnSpc>
                <a:spcPct val="100000"/>
              </a:lnSpc>
              <a:spcBef>
                <a:spcPts val="5"/>
              </a:spcBef>
              <a:spcAft>
                <a:spcPts val="0"/>
              </a:spcAft>
              <a:buClrTx/>
              <a:buSzTx/>
              <a:buFontTx/>
              <a:buNone/>
              <a:tabLst>
                <a:tab pos="354965" algn="l"/>
                <a:tab pos="355600" algn="l"/>
              </a:tabLst>
              <a:defRPr/>
            </a:pPr>
            <a:r>
              <a:rPr kumimoji="0" lang="es-ES" sz="2400" b="0" i="0" u="none" strike="noStrike" kern="1200" cap="none" spc="-50" normalizeH="0" baseline="0" noProof="0" dirty="0">
                <a:ln>
                  <a:noFill/>
                </a:ln>
                <a:solidFill>
                  <a:prstClr val="white"/>
                </a:solidFill>
                <a:effectLst/>
                <a:uLnTx/>
                <a:uFillTx/>
                <a:latin typeface="Arial MT"/>
                <a:ea typeface="+mn-ea"/>
                <a:cs typeface="Arial MT"/>
              </a:rPr>
              <a:t>Se pueden usar dos de estas cláusulas, de lo contrario, se usa el valor predeterminado (</a:t>
            </a:r>
            <a:r>
              <a:rPr kumimoji="0" lang="es-ES" sz="2400" b="0" i="0" u="none" strike="noStrike" kern="1200" cap="none" spc="-50" normalizeH="0" baseline="0" noProof="0" dirty="0" err="1">
                <a:ln>
                  <a:noFill/>
                </a:ln>
                <a:solidFill>
                  <a:prstClr val="white"/>
                </a:solidFill>
                <a:effectLst/>
                <a:uLnTx/>
                <a:uFillTx/>
                <a:latin typeface="Arial MT"/>
                <a:ea typeface="+mn-ea"/>
                <a:cs typeface="Arial MT"/>
              </a:rPr>
              <a:t>reject</a:t>
            </a:r>
            <a:r>
              <a:rPr kumimoji="0" lang="es-ES" sz="2400" b="0" i="0" u="none" strike="noStrike" kern="1200" cap="none" spc="-50" normalizeH="0" baseline="0" noProof="0" dirty="0">
                <a:ln>
                  <a:noFill/>
                </a:ln>
                <a:solidFill>
                  <a:prstClr val="white"/>
                </a:solidFill>
                <a:effectLst/>
                <a:uLnTx/>
                <a:uFillTx/>
                <a:latin typeface="Arial MT"/>
                <a:ea typeface="+mn-ea"/>
                <a:cs typeface="Arial MT"/>
              </a:rPr>
              <a:t>).
</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536649"/>
            <a:ext cx="8072118" cy="1871410"/>
          </a:xfrm>
          <a:prstGeom prst="rect">
            <a:avLst/>
          </a:prstGeom>
        </p:spPr>
        <p:txBody>
          <a:bodyPr vert="horz" wrap="square" lIns="0" tIns="13335" rIns="0" bIns="0" rtlCol="0">
            <a:spAutoFit/>
          </a:bodyPr>
          <a:lstStyle/>
          <a:p>
            <a:pPr marL="12700">
              <a:spcBef>
                <a:spcPts val="105"/>
              </a:spcBef>
            </a:pPr>
            <a:r>
              <a:rPr lang="es-CL" dirty="0">
                <a:solidFill>
                  <a:srgbClr val="FF0000"/>
                </a:solidFill>
                <a:latin typeface="Aharoni" panose="02010803020104030203" pitchFamily="2" charset="-79"/>
                <a:cs typeface="Aharoni" panose="02010803020104030203" pitchFamily="2" charset="-79"/>
              </a:rPr>
              <a:t>Ejemplo: establecer una directiva
</a:t>
            </a:r>
            <a:endParaRPr spc="-5" dirty="0">
              <a:solidFill>
                <a:srgbClr val="FF0000"/>
              </a:solidFill>
              <a:latin typeface="Aharoni" panose="02010803020104030203" pitchFamily="2" charset="-79"/>
              <a:cs typeface="Aharoni" panose="02010803020104030203" pitchFamily="2" charset="-79"/>
            </a:endParaRPr>
          </a:p>
        </p:txBody>
      </p:sp>
      <p:sp>
        <p:nvSpPr>
          <p:cNvPr id="3" name="object 3"/>
          <p:cNvSpPr txBox="1"/>
          <p:nvPr/>
        </p:nvSpPr>
        <p:spPr>
          <a:xfrm>
            <a:off x="1219201" y="2202052"/>
            <a:ext cx="3267075" cy="391160"/>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2400" b="1" i="0" u="none" strike="noStrike" kern="1200" cap="none" spc="-35" normalizeH="0" baseline="0" noProof="0" dirty="0">
                <a:ln>
                  <a:noFill/>
                </a:ln>
                <a:solidFill>
                  <a:prstClr val="white"/>
                </a:solidFill>
                <a:effectLst/>
                <a:uLnTx/>
                <a:uFillTx/>
                <a:latin typeface="Arial"/>
                <a:ea typeface="+mn-ea"/>
                <a:cs typeface="Arial"/>
              </a:rPr>
              <a:t>CREATE</a:t>
            </a:r>
            <a:r>
              <a:rPr kumimoji="0" sz="2400" b="1" i="0" u="none" strike="noStrike" kern="1200" cap="none" spc="-15" normalizeH="0" baseline="0" noProof="0" dirty="0">
                <a:ln>
                  <a:noFill/>
                </a:ln>
                <a:solidFill>
                  <a:prstClr val="white"/>
                </a:solidFill>
                <a:effectLst/>
                <a:uLnTx/>
                <a:uFillTx/>
                <a:latin typeface="Arial"/>
                <a:ea typeface="+mn-ea"/>
                <a:cs typeface="Arial"/>
              </a:rPr>
              <a:t> </a:t>
            </a:r>
            <a:r>
              <a:rPr kumimoji="0" sz="2400" b="1" i="0" u="none" strike="noStrike" kern="1200" cap="none" spc="-40" normalizeH="0" baseline="0" noProof="0" dirty="0">
                <a:ln>
                  <a:noFill/>
                </a:ln>
                <a:solidFill>
                  <a:prstClr val="white"/>
                </a:solidFill>
                <a:effectLst/>
                <a:uLnTx/>
                <a:uFillTx/>
                <a:latin typeface="Arial"/>
                <a:ea typeface="+mn-ea"/>
                <a:cs typeface="Arial"/>
              </a:rPr>
              <a:t>TABLE</a:t>
            </a:r>
            <a:r>
              <a:rPr kumimoji="0" sz="2400" b="1" i="0" u="none" strike="noStrike" kern="1200" cap="none" spc="-1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Sells</a:t>
            </a:r>
            <a:r>
              <a:rPr kumimoji="0" sz="2400" b="0" i="0" u="none" strike="noStrike" kern="1200" cap="none" spc="0" normalizeH="0" baseline="0" noProof="0" dirty="0">
                <a:ln>
                  <a:noFill/>
                </a:ln>
                <a:solidFill>
                  <a:prstClr val="white"/>
                </a:solidFill>
                <a:effectLst/>
                <a:uLnTx/>
                <a:uFillTx/>
                <a:latin typeface="Arial MT"/>
                <a:ea typeface="+mn-ea"/>
                <a:cs typeface="Arial MT"/>
              </a:rPr>
              <a:t> (</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4" name="object 4"/>
          <p:cNvSpPr txBox="1"/>
          <p:nvPr/>
        </p:nvSpPr>
        <p:spPr>
          <a:xfrm>
            <a:off x="1562100" y="2567812"/>
            <a:ext cx="686435" cy="1233170"/>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1000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bar </a:t>
            </a:r>
            <a:r>
              <a:rPr kumimoji="0" sz="2400" b="0" i="0" u="none" strike="noStrike" kern="1200" cap="none" spc="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 </a:t>
            </a:r>
            <a:r>
              <a:rPr kumimoji="0" sz="2400" b="0" i="0" u="none" strike="noStrike" kern="1200" cap="none" spc="-655"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price</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5" name="object 5"/>
          <p:cNvSpPr txBox="1"/>
          <p:nvPr/>
        </p:nvSpPr>
        <p:spPr>
          <a:xfrm>
            <a:off x="3048254" y="2567812"/>
            <a:ext cx="1515110" cy="1233170"/>
          </a:xfrm>
          <a:prstGeom prst="rect">
            <a:avLst/>
          </a:prstGeom>
        </p:spPr>
        <p:txBody>
          <a:bodyPr vert="horz" wrap="square" lIns="0" tIns="48895" rIns="0" bIns="0" rtlCol="0">
            <a:spAutoFit/>
          </a:bodyPr>
          <a:lstStyle/>
          <a:p>
            <a:pPr marL="12700" marR="0" lvl="0" indent="0" algn="l" defTabSz="457200" rtl="0" eaLnBrk="1" fontAlgn="auto" latinLnBrk="0" hangingPunct="1">
              <a:lnSpc>
                <a:spcPct val="100000"/>
              </a:lnSpc>
              <a:spcBef>
                <a:spcPts val="385"/>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CHAR(20),</a:t>
            </a:r>
            <a:endParaRPr kumimoji="0" sz="2400" b="0" i="0" u="none" strike="noStrike" kern="1200" cap="none" spc="0" normalizeH="0" baseline="0" noProof="0">
              <a:ln>
                <a:noFill/>
              </a:ln>
              <a:solidFill>
                <a:prstClr val="white"/>
              </a:solidFill>
              <a:effectLst/>
              <a:uLnTx/>
              <a:uFillTx/>
              <a:latin typeface="Arial MT"/>
              <a:ea typeface="+mn-ea"/>
              <a:cs typeface="Arial MT"/>
            </a:endParaRPr>
          </a:p>
          <a:p>
            <a:pPr marL="12700" marR="5080" lvl="0" indent="0" algn="l" defTabSz="457200" rtl="0" eaLnBrk="1" fontAlgn="auto" latinLnBrk="0" hangingPunct="1">
              <a:lnSpc>
                <a:spcPts val="3170"/>
              </a:lnSpc>
              <a:spcBef>
                <a:spcPts val="100"/>
              </a:spcBef>
              <a:spcAft>
                <a:spcPts val="0"/>
              </a:spcAft>
              <a:buClrTx/>
              <a:buSzTx/>
              <a:buFontTx/>
              <a:buNone/>
              <a:tabLst/>
              <a:defRPr/>
            </a:pPr>
            <a:r>
              <a:rPr kumimoji="0" sz="2400" b="0" i="0" u="none" strike="noStrike" kern="1200" cap="none" spc="-5" normalizeH="0" baseline="0" noProof="0" dirty="0">
                <a:ln>
                  <a:noFill/>
                </a:ln>
                <a:solidFill>
                  <a:prstClr val="white"/>
                </a:solidFill>
                <a:effectLst/>
                <a:uLnTx/>
                <a:uFillTx/>
                <a:latin typeface="Arial MT"/>
                <a:ea typeface="+mn-ea"/>
                <a:cs typeface="Arial MT"/>
              </a:rPr>
              <a:t>C</a:t>
            </a:r>
            <a:r>
              <a:rPr kumimoji="0" sz="2400" b="0" i="0" u="none" strike="noStrike" kern="1200" cap="none" spc="-15" normalizeH="0" baseline="0" noProof="0" dirty="0">
                <a:ln>
                  <a:noFill/>
                </a:ln>
                <a:solidFill>
                  <a:prstClr val="white"/>
                </a:solidFill>
                <a:effectLst/>
                <a:uLnTx/>
                <a:uFillTx/>
                <a:latin typeface="Arial MT"/>
                <a:ea typeface="+mn-ea"/>
                <a:cs typeface="Arial MT"/>
              </a:rPr>
              <a:t>H</a:t>
            </a:r>
            <a:r>
              <a:rPr kumimoji="0" sz="2400" b="0" i="0" u="none" strike="noStrike" kern="1200" cap="none" spc="-5" normalizeH="0" baseline="0" noProof="0" dirty="0">
                <a:ln>
                  <a:noFill/>
                </a:ln>
                <a:solidFill>
                  <a:prstClr val="white"/>
                </a:solidFill>
                <a:effectLst/>
                <a:uLnTx/>
                <a:uFillTx/>
                <a:latin typeface="Arial MT"/>
                <a:ea typeface="+mn-ea"/>
                <a:cs typeface="Arial MT"/>
              </a:rPr>
              <a:t>A</a:t>
            </a:r>
            <a:r>
              <a:rPr kumimoji="0" sz="2400" b="0" i="0" u="none" strike="noStrike" kern="1200" cap="none" spc="-15" normalizeH="0" baseline="0" noProof="0" dirty="0">
                <a:ln>
                  <a:noFill/>
                </a:ln>
                <a:solidFill>
                  <a:prstClr val="white"/>
                </a:solidFill>
                <a:effectLst/>
                <a:uLnTx/>
                <a:uFillTx/>
                <a:latin typeface="Arial MT"/>
                <a:ea typeface="+mn-ea"/>
                <a:cs typeface="Arial MT"/>
              </a:rPr>
              <a:t>R</a:t>
            </a:r>
            <a:r>
              <a:rPr kumimoji="0" sz="2400" b="0" i="0" u="none" strike="noStrike" kern="1200" cap="none" spc="-5" normalizeH="0" baseline="0" noProof="0" dirty="0">
                <a:ln>
                  <a:noFill/>
                </a:ln>
                <a:solidFill>
                  <a:prstClr val="white"/>
                </a:solidFill>
                <a:effectLst/>
                <a:uLnTx/>
                <a:uFillTx/>
                <a:latin typeface="Arial MT"/>
                <a:ea typeface="+mn-ea"/>
                <a:cs typeface="Arial MT"/>
              </a:rPr>
              <a:t>(20</a:t>
            </a:r>
            <a:r>
              <a:rPr kumimoji="0" sz="2400" b="0" i="0" u="none" strike="noStrike" kern="1200" cap="none" spc="0" normalizeH="0" baseline="0" noProof="0" dirty="0">
                <a:ln>
                  <a:noFill/>
                </a:ln>
                <a:solidFill>
                  <a:prstClr val="white"/>
                </a:solidFill>
                <a:effectLst/>
                <a:uLnTx/>
                <a:uFillTx/>
                <a:latin typeface="Arial MT"/>
                <a:ea typeface="+mn-ea"/>
                <a:cs typeface="Arial MT"/>
              </a:rPr>
              <a:t>),  </a:t>
            </a:r>
            <a:r>
              <a:rPr kumimoji="0" sz="2400" b="0" i="0" u="none" strike="noStrike" kern="1200" cap="none" spc="-5" normalizeH="0" baseline="0" noProof="0" dirty="0">
                <a:ln>
                  <a:noFill/>
                </a:ln>
                <a:solidFill>
                  <a:prstClr val="white"/>
                </a:solidFill>
                <a:effectLst/>
                <a:uLnTx/>
                <a:uFillTx/>
                <a:latin typeface="Arial MT"/>
                <a:ea typeface="+mn-ea"/>
                <a:cs typeface="Arial MT"/>
              </a:rPr>
              <a:t>REAL,</a:t>
            </a:r>
            <a:endParaRPr kumimoji="0" sz="2400" b="0" i="0" u="none" strike="noStrike" kern="1200" cap="none" spc="0" normalizeH="0" baseline="0" noProof="0">
              <a:ln>
                <a:noFill/>
              </a:ln>
              <a:solidFill>
                <a:prstClr val="white"/>
              </a:solidFill>
              <a:effectLst/>
              <a:uLnTx/>
              <a:uFillTx/>
              <a:latin typeface="Arial MT"/>
              <a:ea typeface="+mn-ea"/>
              <a:cs typeface="Arial MT"/>
            </a:endParaRPr>
          </a:p>
        </p:txBody>
      </p:sp>
      <p:sp>
        <p:nvSpPr>
          <p:cNvPr id="6" name="object 6"/>
          <p:cNvSpPr txBox="1"/>
          <p:nvPr/>
        </p:nvSpPr>
        <p:spPr>
          <a:xfrm>
            <a:off x="1219200" y="3775075"/>
            <a:ext cx="7296784" cy="1635125"/>
          </a:xfrm>
          <a:prstGeom prst="rect">
            <a:avLst/>
          </a:prstGeom>
        </p:spPr>
        <p:txBody>
          <a:bodyPr vert="horz" wrap="square" lIns="0" tIns="48895" rIns="0" bIns="0" rtlCol="0">
            <a:spAutoFit/>
          </a:bodyPr>
          <a:lstStyle/>
          <a:p>
            <a:pPr marL="355600" marR="0" lvl="0" indent="0" algn="l" defTabSz="457200" rtl="0" eaLnBrk="1" fontAlgn="auto" latinLnBrk="0" hangingPunct="1">
              <a:lnSpc>
                <a:spcPct val="100000"/>
              </a:lnSpc>
              <a:spcBef>
                <a:spcPts val="385"/>
              </a:spcBef>
              <a:spcAft>
                <a:spcPts val="0"/>
              </a:spcAft>
              <a:buClrTx/>
              <a:buSzTx/>
              <a:buFontTx/>
              <a:buNone/>
              <a:tabLst/>
              <a:defRPr/>
            </a:pPr>
            <a:r>
              <a:rPr kumimoji="0" sz="2400" b="1" i="0" u="none" strike="noStrike" kern="1200" cap="none" spc="0" normalizeH="0" baseline="0" noProof="0" dirty="0">
                <a:ln>
                  <a:noFill/>
                </a:ln>
                <a:solidFill>
                  <a:prstClr val="white"/>
                </a:solidFill>
                <a:effectLst/>
                <a:uLnTx/>
                <a:uFillTx/>
                <a:latin typeface="Arial"/>
                <a:ea typeface="+mn-ea"/>
                <a:cs typeface="Arial"/>
              </a:rPr>
              <a:t>FOREIGN</a:t>
            </a:r>
            <a:r>
              <a:rPr kumimoji="0" sz="2400" b="1" i="0" u="none" strike="noStrike" kern="1200" cap="none" spc="-30" normalizeH="0" baseline="0" noProof="0" dirty="0">
                <a:ln>
                  <a:noFill/>
                </a:ln>
                <a:solidFill>
                  <a:prstClr val="white"/>
                </a:solidFill>
                <a:effectLst/>
                <a:uLnTx/>
                <a:uFillTx/>
                <a:latin typeface="Arial"/>
                <a:ea typeface="+mn-ea"/>
                <a:cs typeface="Arial"/>
              </a:rPr>
              <a:t> </a:t>
            </a:r>
            <a:r>
              <a:rPr kumimoji="0" sz="2400" b="1" i="0" u="none" strike="noStrike" kern="1200" cap="none" spc="-5" normalizeH="0" baseline="0" noProof="0" dirty="0">
                <a:ln>
                  <a:noFill/>
                </a:ln>
                <a:solidFill>
                  <a:prstClr val="white"/>
                </a:solidFill>
                <a:effectLst/>
                <a:uLnTx/>
                <a:uFillTx/>
                <a:latin typeface="Arial"/>
                <a:ea typeface="+mn-ea"/>
                <a:cs typeface="Arial"/>
              </a:rPr>
              <a:t>KEY</a:t>
            </a:r>
            <a:r>
              <a:rPr kumimoji="0" sz="2400" b="0" i="0" u="none" strike="noStrike" kern="1200" cap="none" spc="-5" normalizeH="0" baseline="0" noProof="0" dirty="0">
                <a:ln>
                  <a:noFill/>
                </a:ln>
                <a:solidFill>
                  <a:prstClr val="white"/>
                </a:solidFill>
                <a:effectLst/>
                <a:uLnTx/>
                <a:uFillTx/>
                <a:latin typeface="Arial MT"/>
                <a:ea typeface="+mn-ea"/>
                <a:cs typeface="Arial MT"/>
              </a:rPr>
              <a:t>(beer)</a:t>
            </a:r>
            <a:r>
              <a:rPr kumimoji="0" sz="2400" b="0" i="0" u="none" strike="noStrike" kern="1200" cap="none" spc="15" normalizeH="0" baseline="0" noProof="0" dirty="0">
                <a:ln>
                  <a:noFill/>
                </a:ln>
                <a:solidFill>
                  <a:prstClr val="white"/>
                </a:solidFill>
                <a:effectLst/>
                <a:uLnTx/>
                <a:uFillTx/>
                <a:latin typeface="Arial MT"/>
                <a:ea typeface="+mn-ea"/>
                <a:cs typeface="Arial MT"/>
              </a:rPr>
              <a:t> </a:t>
            </a:r>
            <a:r>
              <a:rPr kumimoji="0" sz="2400" b="1" i="0" u="none" strike="noStrike" kern="1200" cap="none" spc="-5" normalizeH="0" baseline="0" noProof="0" dirty="0">
                <a:ln>
                  <a:noFill/>
                </a:ln>
                <a:solidFill>
                  <a:prstClr val="white"/>
                </a:solidFill>
                <a:effectLst/>
                <a:uLnTx/>
                <a:uFillTx/>
                <a:latin typeface="Arial"/>
                <a:ea typeface="+mn-ea"/>
                <a:cs typeface="Arial"/>
              </a:rPr>
              <a:t>REFERENCES</a:t>
            </a:r>
            <a:r>
              <a:rPr kumimoji="0" sz="2400" b="1" i="0" u="none" strike="noStrike" kern="1200" cap="none" spc="4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Beers(name)</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a:p>
            <a:pPr marL="3670935" marR="257175" lvl="0" indent="0" algn="l" defTabSz="457200" rtl="0" eaLnBrk="1" fontAlgn="auto" latinLnBrk="0" hangingPunct="1">
              <a:lnSpc>
                <a:spcPts val="3170"/>
              </a:lnSpc>
              <a:spcBef>
                <a:spcPts val="155"/>
              </a:spcBef>
              <a:spcAft>
                <a:spcPts val="0"/>
              </a:spcAft>
              <a:buClrTx/>
              <a:buSzTx/>
              <a:buFontTx/>
              <a:buNone/>
              <a:tabLst/>
              <a:defRPr/>
            </a:pPr>
            <a:r>
              <a:rPr kumimoji="0" sz="2400" b="1" i="0" u="none" strike="noStrike" kern="1200" cap="none" spc="0" normalizeH="0" baseline="0" noProof="0" dirty="0">
                <a:ln>
                  <a:noFill/>
                </a:ln>
                <a:solidFill>
                  <a:prstClr val="white"/>
                </a:solidFill>
                <a:effectLst/>
                <a:uLnTx/>
                <a:uFillTx/>
                <a:latin typeface="Arial"/>
                <a:ea typeface="+mn-ea"/>
                <a:cs typeface="Arial"/>
              </a:rPr>
              <a:t>ON </a:t>
            </a:r>
            <a:r>
              <a:rPr kumimoji="0" sz="2400" b="1" i="0" u="none" strike="noStrike" kern="1200" cap="none" spc="-5" normalizeH="0" baseline="0" noProof="0" dirty="0">
                <a:ln>
                  <a:noFill/>
                </a:ln>
                <a:solidFill>
                  <a:prstClr val="white"/>
                </a:solidFill>
                <a:effectLst/>
                <a:uLnTx/>
                <a:uFillTx/>
                <a:latin typeface="Arial"/>
                <a:ea typeface="+mn-ea"/>
                <a:cs typeface="Arial"/>
              </a:rPr>
              <a:t>DELETE SET NULL </a:t>
            </a:r>
            <a:r>
              <a:rPr kumimoji="0" sz="2400" b="1" i="0" u="none" strike="noStrike" kern="1200" cap="none" spc="-655" normalizeH="0" baseline="0" noProof="0" dirty="0">
                <a:ln>
                  <a:noFill/>
                </a:ln>
                <a:solidFill>
                  <a:prstClr val="white"/>
                </a:solidFill>
                <a:effectLst/>
                <a:uLnTx/>
                <a:uFillTx/>
                <a:latin typeface="Arial"/>
                <a:ea typeface="+mn-ea"/>
                <a:cs typeface="Arial"/>
              </a:rPr>
              <a:t> </a:t>
            </a:r>
            <a:r>
              <a:rPr kumimoji="0" sz="2400" b="1" i="0" u="none" strike="noStrike" kern="1200" cap="none" spc="0" normalizeH="0" baseline="0" noProof="0" dirty="0">
                <a:ln>
                  <a:noFill/>
                </a:ln>
                <a:solidFill>
                  <a:prstClr val="white"/>
                </a:solidFill>
                <a:effectLst/>
                <a:uLnTx/>
                <a:uFillTx/>
                <a:latin typeface="Arial"/>
                <a:ea typeface="+mn-ea"/>
                <a:cs typeface="Arial"/>
              </a:rPr>
              <a:t>ON</a:t>
            </a:r>
            <a:r>
              <a:rPr kumimoji="0" sz="2400" b="1" i="0" u="none" strike="noStrike" kern="1200" cap="none" spc="-55" normalizeH="0" baseline="0" noProof="0" dirty="0">
                <a:ln>
                  <a:noFill/>
                </a:ln>
                <a:solidFill>
                  <a:prstClr val="white"/>
                </a:solidFill>
                <a:effectLst/>
                <a:uLnTx/>
                <a:uFillTx/>
                <a:latin typeface="Arial"/>
                <a:ea typeface="+mn-ea"/>
                <a:cs typeface="Arial"/>
              </a:rPr>
              <a:t> </a:t>
            </a:r>
            <a:r>
              <a:rPr kumimoji="0" sz="2400" b="1" i="0" u="none" strike="noStrike" kern="1200" cap="none" spc="-35" normalizeH="0" baseline="0" noProof="0" dirty="0">
                <a:ln>
                  <a:noFill/>
                </a:ln>
                <a:solidFill>
                  <a:prstClr val="white"/>
                </a:solidFill>
                <a:effectLst/>
                <a:uLnTx/>
                <a:uFillTx/>
                <a:latin typeface="Arial"/>
                <a:ea typeface="+mn-ea"/>
                <a:cs typeface="Arial"/>
              </a:rPr>
              <a:t>UPDATE</a:t>
            </a:r>
            <a:r>
              <a:rPr kumimoji="0" sz="2400" b="1" i="0" u="none" strike="noStrike" kern="1200" cap="none" spc="-15" normalizeH="0" baseline="0" noProof="0" dirty="0">
                <a:ln>
                  <a:noFill/>
                </a:ln>
                <a:solidFill>
                  <a:prstClr val="white"/>
                </a:solidFill>
                <a:effectLst/>
                <a:uLnTx/>
                <a:uFillTx/>
                <a:latin typeface="Arial"/>
                <a:ea typeface="+mn-ea"/>
                <a:cs typeface="Arial"/>
              </a:rPr>
              <a:t> </a:t>
            </a:r>
            <a:r>
              <a:rPr kumimoji="0" sz="2400" b="1" i="0" u="none" strike="noStrike" kern="1200" cap="none" spc="-5" normalizeH="0" baseline="0" noProof="0" dirty="0">
                <a:ln>
                  <a:noFill/>
                </a:ln>
                <a:solidFill>
                  <a:prstClr val="white"/>
                </a:solidFill>
                <a:effectLst/>
                <a:uLnTx/>
                <a:uFillTx/>
                <a:latin typeface="Arial"/>
                <a:ea typeface="+mn-ea"/>
                <a:cs typeface="Arial"/>
              </a:rPr>
              <a:t>CASCADE</a:t>
            </a:r>
            <a:endParaRPr kumimoji="0" sz="2400" b="0" i="0" u="none" strike="noStrike" kern="1200" cap="none" spc="0" normalizeH="0" baseline="0" noProof="0" dirty="0">
              <a:ln>
                <a:noFill/>
              </a:ln>
              <a:solidFill>
                <a:prstClr val="white"/>
              </a:solidFill>
              <a:effectLst/>
              <a:uLnTx/>
              <a:uFillTx/>
              <a:latin typeface="Arial"/>
              <a:ea typeface="+mn-ea"/>
              <a:cs typeface="Arial"/>
            </a:endParaRPr>
          </a:p>
          <a:p>
            <a:pPr marL="12700" marR="0" lvl="0" indent="0" algn="l" defTabSz="457200" rtl="0" eaLnBrk="1" fontAlgn="auto" latinLnBrk="0" hangingPunct="1">
              <a:lnSpc>
                <a:spcPct val="100000"/>
              </a:lnSpc>
              <a:spcBef>
                <a:spcPts val="135"/>
              </a:spcBef>
              <a:spcAft>
                <a:spcPts val="0"/>
              </a:spcAft>
              <a:buClrTx/>
              <a:buSzTx/>
              <a:buFontTx/>
              <a:buNone/>
              <a:tabLst/>
              <a:defRPr/>
            </a:pPr>
            <a:r>
              <a:rPr kumimoji="0" sz="2400" b="0" i="0" u="none" strike="noStrike" kern="1200" cap="none" spc="0" normalizeH="0" baseline="0" noProof="0" dirty="0">
                <a:ln>
                  <a:noFill/>
                </a:ln>
                <a:solidFill>
                  <a:prstClr val="white"/>
                </a:solidFill>
                <a:effectLst/>
                <a:uLnTx/>
                <a:uFillTx/>
                <a:latin typeface="Arial MT"/>
                <a:ea typeface="+mn-ea"/>
                <a:cs typeface="Arial MT"/>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914400"/>
            <a:ext cx="9293859" cy="1871410"/>
          </a:xfrm>
          <a:prstGeom prst="rect">
            <a:avLst/>
          </a:prstGeom>
        </p:spPr>
        <p:txBody>
          <a:bodyPr vert="horz" wrap="square" lIns="0" tIns="13335" rIns="0" bIns="0" rtlCol="0">
            <a:spAutoFit/>
          </a:bodyPr>
          <a:lstStyle/>
          <a:p>
            <a:pPr marL="12700">
              <a:spcBef>
                <a:spcPts val="105"/>
              </a:spcBef>
            </a:pPr>
            <a:r>
              <a:rPr lang="es-CL" spc="-5" dirty="0">
                <a:solidFill>
                  <a:srgbClr val="FF0000"/>
                </a:solidFill>
                <a:latin typeface="Aharoni" panose="02010803020104030203" pitchFamily="2" charset="-79"/>
                <a:cs typeface="Aharoni" panose="02010803020104030203" pitchFamily="2" charset="-79"/>
              </a:rPr>
              <a:t>Comprobaciones basadas en atributos
</a:t>
            </a:r>
            <a:endParaRPr dirty="0">
              <a:solidFill>
                <a:srgbClr val="FF0000"/>
              </a:solidFill>
              <a:latin typeface="Aharoni" panose="02010803020104030203" pitchFamily="2" charset="-79"/>
              <a:cs typeface="Aharoni" panose="02010803020104030203" pitchFamily="2" charset="-79"/>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r>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t>26</a:t>
            </a:r>
          </a:p>
        </p:txBody>
      </p:sp>
      <p:sp>
        <p:nvSpPr>
          <p:cNvPr id="3" name="object 3"/>
          <p:cNvSpPr txBox="1"/>
          <p:nvPr/>
        </p:nvSpPr>
        <p:spPr>
          <a:xfrm>
            <a:off x="1066800" y="2286000"/>
            <a:ext cx="10210800" cy="2234073"/>
          </a:xfrm>
          <a:prstGeom prst="rect">
            <a:avLst/>
          </a:prstGeom>
        </p:spPr>
        <p:txBody>
          <a:bodyPr vert="horz" wrap="square" lIns="0" tIns="85725" rIns="0" bIns="0" rtlCol="0">
            <a:spAutoFit/>
          </a:bodyPr>
          <a:lstStyle/>
          <a:p>
            <a:pPr marL="12700" marR="0" lvl="0" indent="0" algn="l" defTabSz="457200" rtl="0" eaLnBrk="1" fontAlgn="auto" latinLnBrk="0" hangingPunct="1">
              <a:lnSpc>
                <a:spcPct val="150000"/>
              </a:lnSpc>
              <a:spcBef>
                <a:spcPts val="675"/>
              </a:spcBef>
              <a:spcAft>
                <a:spcPts val="0"/>
              </a:spcAft>
              <a:buClrTx/>
              <a:buSzTx/>
              <a:buFontTx/>
              <a:buNone/>
              <a:tabLst>
                <a:tab pos="354965" algn="l"/>
                <a:tab pos="355600" algn="l"/>
              </a:tabLst>
              <a:defRPr/>
            </a:pPr>
            <a:r>
              <a:rPr kumimoji="0" lang="es-ES" sz="2400" b="0" i="0" u="none" strike="noStrike" kern="1200" cap="none" spc="0" normalizeH="0" baseline="0" noProof="0" dirty="0">
                <a:ln>
                  <a:noFill/>
                </a:ln>
                <a:solidFill>
                  <a:prstClr val="white"/>
                </a:solidFill>
                <a:effectLst/>
                <a:uLnTx/>
                <a:uFillTx/>
                <a:latin typeface="Arial MT"/>
                <a:ea typeface="+mn-ea"/>
                <a:cs typeface="Arial MT"/>
              </a:rPr>
              <a:t>Restricciones en el valor de un atributo particular. </a:t>
            </a:r>
            <a:r>
              <a:rPr kumimoji="0" lang="es-CL" sz="2400" b="0" i="0" u="none" strike="noStrike" kern="1200" cap="none" spc="-5" normalizeH="0" baseline="0" noProof="0" dirty="0">
                <a:ln>
                  <a:noFill/>
                </a:ln>
                <a:solidFill>
                  <a:prstClr val="white"/>
                </a:solidFill>
                <a:effectLst/>
                <a:uLnTx/>
                <a:uFillTx/>
                <a:latin typeface="Arial MT"/>
                <a:ea typeface="+mn-ea"/>
                <a:cs typeface="Arial MT"/>
              </a:rPr>
              <a:t>Agregar </a:t>
            </a:r>
            <a:r>
              <a:rPr kumimoji="0" sz="2400" b="1" i="0" u="none" strike="noStrike" kern="1200" cap="none" spc="-5" normalizeH="0" baseline="0" noProof="0" dirty="0">
                <a:ln>
                  <a:noFill/>
                </a:ln>
                <a:solidFill>
                  <a:prstClr val="white"/>
                </a:solidFill>
                <a:effectLst/>
                <a:uLnTx/>
                <a:uFillTx/>
                <a:latin typeface="Arial"/>
                <a:ea typeface="+mn-ea"/>
                <a:cs typeface="Arial"/>
              </a:rPr>
              <a:t>CHECK</a:t>
            </a:r>
            <a:r>
              <a:rPr kumimoji="0" sz="2400" b="0" i="0" u="none" strike="noStrike" kern="1200" cap="none" spc="-5" normalizeH="0" baseline="0" noProof="0" dirty="0">
                <a:ln>
                  <a:noFill/>
                </a:ln>
                <a:solidFill>
                  <a:prstClr val="white"/>
                </a:solidFill>
                <a:effectLst/>
                <a:uLnTx/>
                <a:uFillTx/>
                <a:latin typeface="Arial MT"/>
                <a:ea typeface="+mn-ea"/>
                <a:cs typeface="Arial MT"/>
              </a:rPr>
              <a:t>(&lt;condition&gt;)</a:t>
            </a:r>
            <a:r>
              <a:rPr kumimoji="0" sz="2400" b="0" i="0" u="none" strike="noStrike" kern="1200" cap="none" spc="60" normalizeH="0" baseline="0" noProof="0" dirty="0">
                <a:ln>
                  <a:noFill/>
                </a:ln>
                <a:solidFill>
                  <a:prstClr val="white"/>
                </a:solidFill>
                <a:effectLst/>
                <a:uLnTx/>
                <a:uFillTx/>
                <a:latin typeface="Arial MT"/>
                <a:ea typeface="+mn-ea"/>
                <a:cs typeface="Arial MT"/>
              </a:rPr>
              <a:t> </a:t>
            </a:r>
            <a:r>
              <a:rPr kumimoji="0" lang="es-ES" sz="2400" b="0" i="0" u="none" strike="noStrike" kern="1200" cap="none" spc="0" normalizeH="0" baseline="0" noProof="0" dirty="0">
                <a:ln>
                  <a:noFill/>
                </a:ln>
                <a:solidFill>
                  <a:prstClr val="white"/>
                </a:solidFill>
                <a:effectLst/>
                <a:uLnTx/>
                <a:uFillTx/>
                <a:latin typeface="Arial MT"/>
                <a:ea typeface="+mn-ea"/>
                <a:cs typeface="Arial MT"/>
              </a:rPr>
              <a:t>a la declaración del atributo. La condición puede usar el nombre del atributo, pero cualquier otra relación o nombre de atributo debe estar en una subconsulta.</a:t>
            </a:r>
            <a:endParaRPr kumimoji="0" sz="24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5931" y="932803"/>
            <a:ext cx="9234869" cy="1871410"/>
          </a:xfrm>
          <a:prstGeom prst="rect">
            <a:avLst/>
          </a:prstGeom>
        </p:spPr>
        <p:txBody>
          <a:bodyPr vert="horz" wrap="square" lIns="0" tIns="13335" rIns="0" bIns="0" rtlCol="0">
            <a:spAutoFit/>
          </a:bodyPr>
          <a:lstStyle/>
          <a:p>
            <a:pPr marL="12700">
              <a:spcBef>
                <a:spcPts val="105"/>
              </a:spcBef>
            </a:pPr>
            <a:r>
              <a:rPr lang="es-ES" dirty="0">
                <a:solidFill>
                  <a:srgbClr val="FF0000"/>
                </a:solidFill>
                <a:latin typeface="Aharoni" panose="02010803020104030203" pitchFamily="2" charset="-79"/>
                <a:cs typeface="Aharoni" panose="02010803020104030203" pitchFamily="2" charset="-79"/>
              </a:rPr>
              <a:t>Ejemplo: comprobación basada en atributos
</a:t>
            </a:r>
            <a:endParaRPr dirty="0">
              <a:solidFill>
                <a:srgbClr val="FF0000"/>
              </a:solidFill>
              <a:latin typeface="Aharoni" panose="02010803020104030203" pitchFamily="2" charset="-79"/>
              <a:cs typeface="Aharoni" panose="02010803020104030203" pitchFamily="2" charset="-79"/>
            </a:endParaRPr>
          </a:p>
        </p:txBody>
      </p:sp>
      <p:sp>
        <p:nvSpPr>
          <p:cNvPr id="9" name="CuadroTexto 8">
            <a:extLst>
              <a:ext uri="{FF2B5EF4-FFF2-40B4-BE49-F238E27FC236}">
                <a16:creationId xmlns:a16="http://schemas.microsoft.com/office/drawing/2014/main" id="{2C24DCD6-B29B-0E1A-9F28-89B2E962D087}"/>
              </a:ext>
            </a:extLst>
          </p:cNvPr>
          <p:cNvSpPr txBox="1"/>
          <p:nvPr/>
        </p:nvSpPr>
        <p:spPr>
          <a:xfrm>
            <a:off x="975931" y="2590800"/>
            <a:ext cx="6248400" cy="190821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mn-cs"/>
              </a:rPr>
              <a:t>CREATE TABLE Sells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mn-cs"/>
              </a:rPr>
              <a:t>bar    CHAR(20),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mn-cs"/>
              </a:rPr>
              <a:t>beer   CHAR(20) CHECK (beer IN (SELECT name FROM Beers)),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pace Mono" panose="02000509040000020004" pitchFamily="49" charset="0"/>
                <a:ea typeface="+mn-ea"/>
                <a:cs typeface="+mn-cs"/>
              </a:rPr>
              <a:t>price  REAL CHECK (price &lt;= 5.00));</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C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1047344"/>
            <a:ext cx="9217659" cy="637867"/>
          </a:xfrm>
          <a:prstGeom prst="rect">
            <a:avLst/>
          </a:prstGeom>
        </p:spPr>
        <p:txBody>
          <a:bodyPr vert="horz" wrap="square" lIns="0" tIns="13335" rIns="0" bIns="0" rtlCol="0">
            <a:spAutoFit/>
          </a:bodyPr>
          <a:lstStyle/>
          <a:p>
            <a:pPr marL="12700">
              <a:spcBef>
                <a:spcPts val="105"/>
              </a:spcBef>
            </a:pPr>
            <a:r>
              <a:rPr lang="es-CL" spc="-25" dirty="0">
                <a:solidFill>
                  <a:srgbClr val="FF0000"/>
                </a:solidFill>
                <a:latin typeface="Aharoni" panose="02010803020104030203" pitchFamily="2" charset="-79"/>
                <a:cs typeface="Aharoni" panose="02010803020104030203" pitchFamily="2" charset="-79"/>
              </a:rPr>
              <a:t>Validaciones</a:t>
            </a:r>
            <a:endParaRPr dirty="0">
              <a:solidFill>
                <a:srgbClr val="FF0000"/>
              </a:solidFill>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r>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t>28</a:t>
            </a:r>
          </a:p>
        </p:txBody>
      </p:sp>
      <p:sp>
        <p:nvSpPr>
          <p:cNvPr id="3" name="object 3"/>
          <p:cNvSpPr txBox="1"/>
          <p:nvPr/>
        </p:nvSpPr>
        <p:spPr>
          <a:xfrm>
            <a:off x="1066800" y="2286000"/>
            <a:ext cx="10515600" cy="3485570"/>
          </a:xfrm>
          <a:prstGeom prst="rect">
            <a:avLst/>
          </a:prstGeom>
        </p:spPr>
        <p:txBody>
          <a:bodyPr vert="horz" wrap="square" lIns="0" tIns="12700" rIns="0" bIns="0" rtlCol="0">
            <a:spAutoFit/>
          </a:bodyPr>
          <a:lstStyle/>
          <a:p>
            <a:pPr marL="355600" marR="5080" lvl="0" indent="-342900" algn="l" defTabSz="457200" rtl="0" eaLnBrk="1" fontAlgn="auto" latinLnBrk="0" hangingPunct="1">
              <a:lnSpc>
                <a:spcPct val="100000"/>
              </a:lnSpc>
              <a:spcBef>
                <a:spcPts val="100"/>
              </a:spcBef>
              <a:spcAft>
                <a:spcPts val="0"/>
              </a:spcAft>
              <a:buClrTx/>
              <a:buSzTx/>
              <a:buFontTx/>
              <a:buChar char="•"/>
              <a:tabLst>
                <a:tab pos="354965" algn="l"/>
                <a:tab pos="355600" algn="l"/>
              </a:tabLst>
              <a:defRPr/>
            </a:pPr>
            <a:r>
              <a:rPr kumimoji="0" lang="es-ES" sz="2400" b="0" i="0" u="none" strike="noStrike" kern="1200" cap="none" spc="-5" normalizeH="0" baseline="0" noProof="0" dirty="0">
                <a:ln>
                  <a:noFill/>
                </a:ln>
                <a:solidFill>
                  <a:prstClr val="white"/>
                </a:solidFill>
                <a:effectLst/>
                <a:uLnTx/>
                <a:uFillTx/>
                <a:latin typeface="Arial MT"/>
                <a:ea typeface="+mn-ea"/>
                <a:cs typeface="Arial MT"/>
              </a:rPr>
              <a:t>Las comprobaciones basadas en atributos solo se realizan cuando se inserta o actualiza un valor para ese atributo.</a:t>
            </a:r>
          </a:p>
          <a:p>
            <a:pPr marL="12700" marR="5080" lvl="0" indent="0" algn="l" defTabSz="457200" rtl="0" eaLnBrk="1" fontAlgn="auto" latinLnBrk="0" hangingPunct="1">
              <a:lnSpc>
                <a:spcPct val="100000"/>
              </a:lnSpc>
              <a:spcBef>
                <a:spcPts val="100"/>
              </a:spcBef>
              <a:spcAft>
                <a:spcPts val="0"/>
              </a:spcAft>
              <a:buClrTx/>
              <a:buSzTx/>
              <a:buFontTx/>
              <a:buNone/>
              <a:tabLst>
                <a:tab pos="354965" algn="l"/>
                <a:tab pos="355600" algn="l"/>
              </a:tabLst>
              <a:defRPr/>
            </a:pPr>
            <a:r>
              <a:rPr kumimoji="0" lang="es-ES" sz="2400" b="0" i="0" u="none" strike="noStrike" kern="1200" cap="none" spc="-5" normalizeH="0" baseline="0" noProof="0" dirty="0">
                <a:ln>
                  <a:noFill/>
                </a:ln>
                <a:solidFill>
                  <a:prstClr val="white"/>
                </a:solidFill>
                <a:effectLst/>
                <a:uLnTx/>
                <a:uFillTx/>
                <a:latin typeface="Arial MT"/>
                <a:ea typeface="+mn-ea"/>
                <a:cs typeface="Arial MT"/>
              </a:rPr>
              <a:t>    E</a:t>
            </a:r>
            <a:r>
              <a:rPr kumimoji="0" lang="es-CL" sz="2400" b="0" i="0" u="none" strike="noStrike" kern="1200" cap="none" spc="-5" normalizeH="0" baseline="0" noProof="0" dirty="0" err="1">
                <a:ln>
                  <a:noFill/>
                </a:ln>
                <a:solidFill>
                  <a:prstClr val="white"/>
                </a:solidFill>
                <a:effectLst/>
                <a:uLnTx/>
                <a:uFillTx/>
                <a:latin typeface="Arial MT"/>
                <a:ea typeface="+mn-ea"/>
                <a:cs typeface="Arial MT"/>
              </a:rPr>
              <a:t>jemplo</a:t>
            </a:r>
            <a:r>
              <a:rPr kumimoji="0" lang="es-CL" sz="2400" b="0" i="0" u="none" strike="noStrike" kern="1200" cap="none" spc="-5" normalizeH="0" baseline="0" noProof="0" dirty="0">
                <a:ln>
                  <a:noFill/>
                </a:ln>
                <a:solidFill>
                  <a:prstClr val="white"/>
                </a:solidFill>
                <a:effectLst/>
                <a:uLnTx/>
                <a:uFillTx/>
                <a:latin typeface="Arial MT"/>
                <a:ea typeface="+mn-ea"/>
                <a:cs typeface="Arial MT"/>
              </a:rPr>
              <a:t>: </a:t>
            </a:r>
            <a:r>
              <a:rPr kumimoji="0" sz="2200" b="1" i="0" u="none" strike="noStrike" kern="1200" cap="none" spc="-10" normalizeH="0" baseline="0" noProof="0" dirty="0">
                <a:ln>
                  <a:noFill/>
                </a:ln>
                <a:solidFill>
                  <a:prstClr val="white"/>
                </a:solidFill>
                <a:effectLst/>
                <a:uLnTx/>
                <a:uFillTx/>
                <a:latin typeface="Arial"/>
                <a:ea typeface="+mn-ea"/>
                <a:cs typeface="Arial"/>
              </a:rPr>
              <a:t>CHECK</a:t>
            </a:r>
            <a:r>
              <a:rPr kumimoji="0" sz="2200" b="1" i="0" u="none" strike="noStrike" kern="1200" cap="none" spc="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(price</a:t>
            </a:r>
            <a:r>
              <a:rPr kumimoji="0" sz="2200" b="0" i="0" u="none" strike="noStrike" kern="1200" cap="none" spc="5"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a:t>
            </a:r>
            <a:r>
              <a:rPr kumimoji="0" sz="2200" b="0" i="0" u="none" strike="noStrike" kern="1200" cap="none" spc="-15"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5.00)</a:t>
            </a:r>
            <a:endParaRPr kumimoji="0" lang="es-ES" sz="2200" b="0" i="0" u="none" strike="noStrike" kern="1200" cap="none" spc="-5" normalizeH="0" baseline="0" noProof="0" dirty="0">
              <a:ln>
                <a:noFill/>
              </a:ln>
              <a:solidFill>
                <a:prstClr val="white"/>
              </a:solidFill>
              <a:effectLst/>
              <a:uLnTx/>
              <a:uFillTx/>
              <a:latin typeface="Arial MT"/>
              <a:ea typeface="+mn-ea"/>
              <a:cs typeface="Arial MT"/>
            </a:endParaRPr>
          </a:p>
          <a:p>
            <a:pPr marL="756285" marR="290195" lvl="0" indent="0" algn="l" defTabSz="457200" rtl="0" eaLnBrk="1" fontAlgn="auto" latinLnBrk="0" hangingPunct="1">
              <a:lnSpc>
                <a:spcPct val="100000"/>
              </a:lnSpc>
              <a:spcBef>
                <a:spcPts val="530"/>
              </a:spcBef>
              <a:spcAft>
                <a:spcPts val="0"/>
              </a:spcAft>
              <a:buClrTx/>
              <a:buSzTx/>
              <a:buFontTx/>
              <a:buNone/>
              <a:tabLst/>
              <a:defRPr/>
            </a:pPr>
            <a:endParaRPr kumimoji="0" lang="es-ES" sz="2200" b="0" i="0" u="none" strike="noStrike" kern="1200" cap="none" spc="0" normalizeH="0" baseline="0" noProof="0" dirty="0">
              <a:ln>
                <a:noFill/>
              </a:ln>
              <a:solidFill>
                <a:prstClr val="white"/>
              </a:solidFill>
              <a:effectLst/>
              <a:uLnTx/>
              <a:uFillTx/>
              <a:latin typeface="Arial MT"/>
              <a:ea typeface="+mn-ea"/>
              <a:cs typeface="Arial MT"/>
            </a:endParaRPr>
          </a:p>
          <a:p>
            <a:pPr marL="756285" marR="290195" lvl="0" indent="0" algn="l" defTabSz="457200" rtl="0" eaLnBrk="1" fontAlgn="auto" latinLnBrk="0" hangingPunct="1">
              <a:lnSpc>
                <a:spcPct val="100000"/>
              </a:lnSpc>
              <a:spcBef>
                <a:spcPts val="530"/>
              </a:spcBef>
              <a:spcAft>
                <a:spcPts val="0"/>
              </a:spcAft>
              <a:buClrTx/>
              <a:buSzTx/>
              <a:buFontTx/>
              <a:buNone/>
              <a:tabLst/>
              <a:defRPr/>
            </a:pPr>
            <a:r>
              <a:rPr kumimoji="0" lang="es-ES" sz="2200" b="0" i="1" u="none" strike="noStrike" kern="1200" cap="none" spc="-5" normalizeH="0" baseline="0" noProof="0" dirty="0">
                <a:ln>
                  <a:noFill/>
                </a:ln>
                <a:solidFill>
                  <a:prstClr val="white"/>
                </a:solidFill>
                <a:effectLst/>
                <a:uLnTx/>
                <a:uFillTx/>
                <a:latin typeface="Arial MT"/>
                <a:ea typeface="+mn-ea"/>
                <a:cs typeface="Arial MT"/>
              </a:rPr>
              <a:t>Comprueba cada precio nuevo y rechaza la modificación (para esa tupla) si el precio es superior a $5
</a:t>
            </a:r>
            <a:r>
              <a:rPr kumimoji="0" sz="2200" b="1" i="0" u="none" strike="noStrike" kern="1200" cap="none" spc="-10" normalizeH="0" baseline="0" noProof="0" dirty="0">
                <a:ln>
                  <a:noFill/>
                </a:ln>
                <a:solidFill>
                  <a:prstClr val="white"/>
                </a:solidFill>
                <a:effectLst/>
                <a:uLnTx/>
                <a:uFillTx/>
                <a:latin typeface="Arial"/>
                <a:ea typeface="+mn-ea"/>
                <a:cs typeface="Arial"/>
              </a:rPr>
              <a:t>CHECK</a:t>
            </a:r>
            <a:r>
              <a:rPr kumimoji="0" sz="2200" b="1" i="0" u="none" strike="noStrike" kern="1200" cap="none" spc="1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(beer</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1" i="0" u="none" strike="noStrike" kern="1200" cap="none" spc="-5" normalizeH="0" baseline="0" noProof="0" dirty="0">
                <a:ln>
                  <a:noFill/>
                </a:ln>
                <a:solidFill>
                  <a:prstClr val="white"/>
                </a:solidFill>
                <a:effectLst/>
                <a:uLnTx/>
                <a:uFillTx/>
                <a:latin typeface="Arial"/>
                <a:ea typeface="+mn-ea"/>
                <a:cs typeface="Arial"/>
              </a:rPr>
              <a:t>IN</a:t>
            </a:r>
            <a:r>
              <a:rPr kumimoji="0" sz="2200" b="1" i="0" u="none" strike="noStrike" kern="1200" cap="none" spc="1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sz="2200" b="1" i="0" u="none" strike="noStrike" kern="1200" cap="none" spc="-5" normalizeH="0" baseline="0" noProof="0" dirty="0">
                <a:ln>
                  <a:noFill/>
                </a:ln>
                <a:solidFill>
                  <a:prstClr val="white"/>
                </a:solidFill>
                <a:effectLst/>
                <a:uLnTx/>
                <a:uFillTx/>
                <a:latin typeface="Arial"/>
                <a:ea typeface="+mn-ea"/>
                <a:cs typeface="Arial"/>
              </a:rPr>
              <a:t>SELECT</a:t>
            </a:r>
            <a:r>
              <a:rPr kumimoji="0" sz="2200" b="1" i="0" u="none" strike="noStrike" kern="1200" cap="none" spc="1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name</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1" i="0" u="none" strike="noStrike" kern="1200" cap="none" spc="-5" normalizeH="0" baseline="0" noProof="0" dirty="0">
                <a:ln>
                  <a:noFill/>
                </a:ln>
                <a:solidFill>
                  <a:prstClr val="white"/>
                </a:solidFill>
                <a:effectLst/>
                <a:uLnTx/>
                <a:uFillTx/>
                <a:latin typeface="Arial"/>
                <a:ea typeface="+mn-ea"/>
                <a:cs typeface="Arial"/>
              </a:rPr>
              <a:t>FROM</a:t>
            </a:r>
            <a:r>
              <a:rPr kumimoji="0" sz="2200" b="1" i="0" u="none" strike="noStrike" kern="1200" cap="none" spc="15"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Beers))</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756285" marR="350520" lvl="0" indent="0" algn="ctr" defTabSz="457200" rtl="0" eaLnBrk="1" fontAlgn="auto" latinLnBrk="0" hangingPunct="1">
              <a:lnSpc>
                <a:spcPct val="100000"/>
              </a:lnSpc>
              <a:spcBef>
                <a:spcPts val="530"/>
              </a:spcBef>
              <a:spcAft>
                <a:spcPts val="0"/>
              </a:spcAft>
              <a:buClrTx/>
              <a:buSzTx/>
              <a:buFontTx/>
              <a:buNone/>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
</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6170" y="609600"/>
            <a:ext cx="9979660" cy="1262012"/>
          </a:xfrm>
          <a:prstGeom prst="rect">
            <a:avLst/>
          </a:prstGeom>
        </p:spPr>
        <p:txBody>
          <a:bodyPr vert="horz" wrap="square" lIns="0" tIns="13335" rIns="0" bIns="0" rtlCol="0">
            <a:spAutoFit/>
          </a:bodyPr>
          <a:lstStyle/>
          <a:p>
            <a:pPr marL="12700">
              <a:spcBef>
                <a:spcPts val="105"/>
              </a:spcBef>
            </a:pPr>
            <a:r>
              <a:rPr lang="es-CL" spc="-15" dirty="0">
                <a:solidFill>
                  <a:srgbClr val="FF0000"/>
                </a:solidFill>
                <a:latin typeface="Aharoni" panose="02010803020104030203" pitchFamily="2" charset="-79"/>
                <a:cs typeface="Aharoni" panose="02010803020104030203" pitchFamily="2" charset="-79"/>
              </a:rPr>
              <a:t>Comprobaciones basadas en tuplas
</a:t>
            </a:r>
            <a:endParaRPr dirty="0">
              <a:solidFill>
                <a:srgbClr val="FF0000"/>
              </a:solidFill>
              <a:latin typeface="Aharoni" panose="02010803020104030203" pitchFamily="2" charset="-79"/>
              <a:cs typeface="Aharoni" panose="02010803020104030203" pitchFamily="2" charset="-79"/>
            </a:endParaRP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r>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t>29</a:t>
            </a:r>
          </a:p>
        </p:txBody>
      </p:sp>
      <p:sp>
        <p:nvSpPr>
          <p:cNvPr id="3" name="object 3"/>
          <p:cNvSpPr txBox="1"/>
          <p:nvPr/>
        </p:nvSpPr>
        <p:spPr>
          <a:xfrm>
            <a:off x="1219200" y="1767992"/>
            <a:ext cx="9677400" cy="2896306"/>
          </a:xfrm>
          <a:prstGeom prst="rect">
            <a:avLst/>
          </a:prstGeom>
        </p:spPr>
        <p:txBody>
          <a:bodyPr vert="horz" wrap="square" lIns="0" tIns="53975" rIns="0" bIns="0" rtlCol="0">
            <a:spAutoFit/>
          </a:bodyPr>
          <a:lstStyle/>
          <a:p>
            <a:pPr marL="12700" marR="770890" lvl="0" indent="0" algn="l" defTabSz="457200" rtl="0" eaLnBrk="1" fontAlgn="auto" latinLnBrk="0" hangingPunct="1">
              <a:lnSpc>
                <a:spcPts val="2590"/>
              </a:lnSpc>
              <a:spcBef>
                <a:spcPts val="425"/>
              </a:spcBef>
              <a:spcAft>
                <a:spcPts val="0"/>
              </a:spcAft>
              <a:buClrTx/>
              <a:buSzTx/>
              <a:buFontTx/>
              <a:buNone/>
              <a:tabLst>
                <a:tab pos="354965" algn="l"/>
                <a:tab pos="355600" algn="l"/>
              </a:tabLst>
              <a:defRPr/>
            </a:pPr>
            <a:r>
              <a:rPr kumimoji="0" sz="2400" b="1" i="0" u="none" strike="noStrike" kern="1200" cap="none" spc="-5" normalizeH="0" baseline="0" noProof="0" dirty="0">
                <a:ln>
                  <a:noFill/>
                </a:ln>
                <a:solidFill>
                  <a:prstClr val="white"/>
                </a:solidFill>
                <a:effectLst/>
                <a:uLnTx/>
                <a:uFillTx/>
                <a:latin typeface="Arial"/>
                <a:ea typeface="+mn-ea"/>
                <a:cs typeface="Arial"/>
              </a:rPr>
              <a:t>CHECK</a:t>
            </a:r>
            <a:r>
              <a:rPr kumimoji="0" sz="2400" b="1" i="0" u="none" strike="noStrike" kern="1200" cap="none" spc="30" normalizeH="0" baseline="0" noProof="0" dirty="0">
                <a:ln>
                  <a:noFill/>
                </a:ln>
                <a:solidFill>
                  <a:prstClr val="white"/>
                </a:solidFill>
                <a:effectLst/>
                <a:uLnTx/>
                <a:uFillTx/>
                <a:latin typeface="Arial"/>
                <a:ea typeface="+mn-ea"/>
                <a:cs typeface="Arial"/>
              </a:rPr>
              <a:t> </a:t>
            </a:r>
            <a:r>
              <a:rPr kumimoji="0" sz="2400" b="0" i="0" u="none" strike="noStrike" kern="1200" cap="none" spc="-5" normalizeH="0" baseline="0" noProof="0" dirty="0">
                <a:ln>
                  <a:noFill/>
                </a:ln>
                <a:solidFill>
                  <a:prstClr val="white"/>
                </a:solidFill>
                <a:effectLst/>
                <a:uLnTx/>
                <a:uFillTx/>
                <a:latin typeface="Arial MT"/>
                <a:ea typeface="+mn-ea"/>
                <a:cs typeface="Arial MT"/>
              </a:rPr>
              <a:t>(&lt;condition&gt;)</a:t>
            </a:r>
            <a:r>
              <a:rPr kumimoji="0" sz="2400" b="0" i="0" u="none" strike="noStrike" kern="1200" cap="none" spc="25" normalizeH="0" baseline="0" noProof="0" dirty="0">
                <a:ln>
                  <a:noFill/>
                </a:ln>
                <a:solidFill>
                  <a:prstClr val="white"/>
                </a:solidFill>
                <a:effectLst/>
                <a:uLnTx/>
                <a:uFillTx/>
                <a:latin typeface="Arial MT"/>
                <a:ea typeface="+mn-ea"/>
                <a:cs typeface="Arial MT"/>
              </a:rPr>
              <a:t> </a:t>
            </a:r>
            <a:r>
              <a:rPr kumimoji="0" lang="es-ES" sz="2400" b="0" i="0" u="none" strike="noStrike" kern="1200" cap="none" spc="0" normalizeH="0" baseline="0" noProof="0" dirty="0">
                <a:ln>
                  <a:noFill/>
                </a:ln>
                <a:solidFill>
                  <a:prstClr val="white"/>
                </a:solidFill>
                <a:effectLst/>
                <a:uLnTx/>
                <a:uFillTx/>
                <a:latin typeface="Arial MT"/>
                <a:ea typeface="+mn-ea"/>
                <a:cs typeface="Arial MT"/>
              </a:rPr>
              <a:t>se puede agregar como un elemento de esquema de relación. </a:t>
            </a:r>
            <a:r>
              <a:rPr kumimoji="0" lang="es-ES" sz="2200" b="0" i="0" u="none" strike="noStrike" kern="1200" cap="none" spc="-5" normalizeH="0" baseline="0" noProof="0" dirty="0">
                <a:ln>
                  <a:noFill/>
                </a:ln>
                <a:solidFill>
                  <a:prstClr val="white"/>
                </a:solidFill>
                <a:effectLst/>
                <a:uLnTx/>
                <a:uFillTx/>
                <a:latin typeface="Arial MT"/>
                <a:ea typeface="+mn-ea"/>
                <a:cs typeface="Arial MT"/>
              </a:rPr>
              <a:t>La condición puede referirse a cualquier atributo de la relación, pero otros atributos o relaciones requieren una subconsulta. Activado solo al insertar o actualizar.</a:t>
            </a:r>
          </a:p>
          <a:p>
            <a:pPr marL="12700" marR="770890" lvl="0" indent="0" algn="l" defTabSz="457200" rtl="0" eaLnBrk="1" fontAlgn="auto" latinLnBrk="0" hangingPunct="1">
              <a:lnSpc>
                <a:spcPts val="2590"/>
              </a:lnSpc>
              <a:spcBef>
                <a:spcPts val="425"/>
              </a:spcBef>
              <a:spcAft>
                <a:spcPts val="0"/>
              </a:spcAft>
              <a:buClrTx/>
              <a:buSzTx/>
              <a:buFontTx/>
              <a:buNone/>
              <a:tabLst>
                <a:tab pos="354965" algn="l"/>
                <a:tab pos="355600" algn="l"/>
              </a:tabLst>
              <a:defRPr/>
            </a:pP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12700" marR="0" lvl="0" indent="0" algn="l" defTabSz="457200" rtl="0" eaLnBrk="1" fontAlgn="auto" latinLnBrk="0" hangingPunct="1">
              <a:lnSpc>
                <a:spcPct val="100000"/>
              </a:lnSpc>
              <a:spcBef>
                <a:spcPts val="295"/>
              </a:spcBef>
              <a:spcAft>
                <a:spcPts val="0"/>
              </a:spcAft>
              <a:buClrTx/>
              <a:buSzTx/>
              <a:buFontTx/>
              <a:buNone/>
              <a:tabLst/>
              <a:defRPr/>
            </a:pPr>
            <a:r>
              <a:rPr kumimoji="0" lang="es-CL" sz="2400" b="1" i="0" u="none" strike="noStrike" kern="1200" cap="none" spc="-5" normalizeH="0" baseline="0" noProof="0" dirty="0">
                <a:ln>
                  <a:noFill/>
                </a:ln>
                <a:solidFill>
                  <a:srgbClr val="CC0000"/>
                </a:solidFill>
                <a:effectLst/>
                <a:uLnTx/>
                <a:uFillTx/>
                <a:latin typeface="Arial MT"/>
                <a:ea typeface="+mn-ea"/>
                <a:cs typeface="Arial MT"/>
              </a:rPr>
              <a:t>Ejemplo</a:t>
            </a:r>
            <a:r>
              <a:rPr kumimoji="0" sz="2400" b="0" i="0" u="none" strike="noStrike" kern="1200" cap="none" spc="-5" normalizeH="0" baseline="0" noProof="0" dirty="0">
                <a:ln>
                  <a:noFill/>
                </a:ln>
                <a:solidFill>
                  <a:prstClr val="white"/>
                </a:solidFill>
                <a:effectLst/>
                <a:uLnTx/>
                <a:uFillTx/>
                <a:latin typeface="Arial MT"/>
                <a:ea typeface="+mn-ea"/>
                <a:cs typeface="Arial MT"/>
              </a:rPr>
              <a:t>:</a:t>
            </a:r>
            <a:r>
              <a:rPr kumimoji="0" sz="2400" b="0" i="0" u="none" strike="noStrike" kern="1200" cap="none" spc="20" normalizeH="0" baseline="0" noProof="0" dirty="0">
                <a:ln>
                  <a:noFill/>
                </a:ln>
                <a:solidFill>
                  <a:prstClr val="white"/>
                </a:solidFill>
                <a:effectLst/>
                <a:uLnTx/>
                <a:uFillTx/>
                <a:latin typeface="Arial MT"/>
                <a:ea typeface="+mn-ea"/>
                <a:cs typeface="Arial MT"/>
              </a:rPr>
              <a:t> </a:t>
            </a:r>
            <a:r>
              <a:rPr kumimoji="0" lang="es-ES" sz="2400" b="0" i="0" u="none" strike="noStrike" kern="1200" cap="none" spc="0" normalizeH="0" baseline="0" noProof="0" dirty="0">
                <a:ln>
                  <a:noFill/>
                </a:ln>
                <a:solidFill>
                  <a:prstClr val="white"/>
                </a:solidFill>
                <a:effectLst/>
                <a:uLnTx/>
                <a:uFillTx/>
                <a:latin typeface="Arial MT"/>
                <a:ea typeface="+mn-ea"/>
                <a:cs typeface="Arial MT"/>
              </a:rPr>
              <a:t>Solo </a:t>
            </a:r>
            <a:r>
              <a:rPr kumimoji="0" lang="es-ES" sz="2400" b="0" i="0" u="none" strike="noStrike" kern="1200" cap="none" spc="0" normalizeH="0" baseline="0" noProof="0" dirty="0" err="1">
                <a:ln>
                  <a:noFill/>
                </a:ln>
                <a:solidFill>
                  <a:prstClr val="white"/>
                </a:solidFill>
                <a:effectLst/>
                <a:uLnTx/>
                <a:uFillTx/>
                <a:latin typeface="Arial MT"/>
                <a:ea typeface="+mn-ea"/>
                <a:cs typeface="Arial MT"/>
              </a:rPr>
              <a:t>Joe's</a:t>
            </a:r>
            <a:r>
              <a:rPr kumimoji="0" lang="es-ES" sz="2400" b="0" i="0" u="none" strike="noStrike" kern="1200" cap="none" spc="0" normalizeH="0" baseline="0" noProof="0" dirty="0">
                <a:ln>
                  <a:noFill/>
                </a:ln>
                <a:solidFill>
                  <a:prstClr val="white"/>
                </a:solidFill>
                <a:effectLst/>
                <a:uLnTx/>
                <a:uFillTx/>
                <a:latin typeface="Arial MT"/>
                <a:ea typeface="+mn-ea"/>
                <a:cs typeface="Arial MT"/>
              </a:rPr>
              <a:t> Bar puede vender cerveza por más de $ 5:
</a:t>
            </a:r>
            <a:endParaRPr kumimoji="0" sz="25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0"/>
              </a:spcBef>
              <a:spcAft>
                <a:spcPts val="0"/>
              </a:spcAft>
              <a:buClrTx/>
              <a:buSzTx/>
              <a:buFontTx/>
              <a:buNone/>
              <a:tabLst/>
              <a:defRPr/>
            </a:pPr>
            <a:r>
              <a:rPr kumimoji="0" sz="2000" b="1" i="0" u="none" strike="noStrike" kern="1200" cap="none" spc="-20" normalizeH="0" baseline="0" noProof="0" dirty="0">
                <a:ln>
                  <a:noFill/>
                </a:ln>
                <a:solidFill>
                  <a:prstClr val="white"/>
                </a:solidFill>
                <a:effectLst/>
                <a:uLnTx/>
                <a:uFillTx/>
                <a:latin typeface="Arial"/>
                <a:ea typeface="+mn-ea"/>
                <a:cs typeface="Arial"/>
              </a:rPr>
              <a:t>CREATE</a:t>
            </a:r>
            <a:r>
              <a:rPr kumimoji="0" sz="2000" b="1" i="0" u="none" strike="noStrike" kern="1200" cap="none" spc="-15" normalizeH="0" baseline="0" noProof="0" dirty="0">
                <a:ln>
                  <a:noFill/>
                </a:ln>
                <a:solidFill>
                  <a:prstClr val="white"/>
                </a:solidFill>
                <a:effectLst/>
                <a:uLnTx/>
                <a:uFillTx/>
                <a:latin typeface="Arial"/>
                <a:ea typeface="+mn-ea"/>
                <a:cs typeface="Arial"/>
              </a:rPr>
              <a:t> </a:t>
            </a:r>
            <a:r>
              <a:rPr kumimoji="0" sz="2000" b="1" i="0" u="none" strike="noStrike" kern="1200" cap="none" spc="-30" normalizeH="0" baseline="0" noProof="0" dirty="0">
                <a:ln>
                  <a:noFill/>
                </a:ln>
                <a:solidFill>
                  <a:prstClr val="white"/>
                </a:solidFill>
                <a:effectLst/>
                <a:uLnTx/>
                <a:uFillTx/>
                <a:latin typeface="Arial"/>
                <a:ea typeface="+mn-ea"/>
                <a:cs typeface="Arial"/>
              </a:rPr>
              <a:t>TABLE</a:t>
            </a:r>
            <a:r>
              <a:rPr kumimoji="0" sz="2000" b="1" i="0" u="none" strike="noStrike" kern="1200" cap="none" spc="-35" normalizeH="0" baseline="0" noProof="0" dirty="0">
                <a:ln>
                  <a:noFill/>
                </a:ln>
                <a:solidFill>
                  <a:prstClr val="white"/>
                </a:solidFill>
                <a:effectLst/>
                <a:uLnTx/>
                <a:uFillTx/>
                <a:latin typeface="Arial"/>
                <a:ea typeface="+mn-ea"/>
                <a:cs typeface="Arial"/>
              </a:rPr>
              <a:t> </a:t>
            </a:r>
            <a:r>
              <a:rPr kumimoji="0" sz="2000" b="0" i="0" u="none" strike="noStrike" kern="1200" cap="none" spc="0" normalizeH="0" baseline="0" noProof="0" dirty="0">
                <a:ln>
                  <a:noFill/>
                </a:ln>
                <a:solidFill>
                  <a:prstClr val="white"/>
                </a:solidFill>
                <a:effectLst/>
                <a:uLnTx/>
                <a:uFillTx/>
                <a:latin typeface="Arial MT"/>
                <a:ea typeface="+mn-ea"/>
                <a:cs typeface="Arial MT"/>
              </a:rPr>
              <a:t>Sells</a:t>
            </a:r>
            <a:r>
              <a:rPr kumimoji="0" sz="2000" b="0" i="0" u="none" strike="noStrike" kern="1200" cap="none" spc="-1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a:t>
            </a:r>
          </a:p>
        </p:txBody>
      </p:sp>
      <p:sp>
        <p:nvSpPr>
          <p:cNvPr id="4" name="object 4"/>
          <p:cNvSpPr txBox="1"/>
          <p:nvPr/>
        </p:nvSpPr>
        <p:spPr>
          <a:xfrm>
            <a:off x="2133854" y="4576445"/>
            <a:ext cx="931544" cy="1367155"/>
          </a:xfrm>
          <a:prstGeom prst="rect">
            <a:avLst/>
          </a:prstGeom>
        </p:spPr>
        <p:txBody>
          <a:bodyPr vert="horz" wrap="square" lIns="0" tIns="12700" rIns="0" bIns="0" rtlCol="0">
            <a:spAutoFit/>
          </a:bodyPr>
          <a:lstStyle/>
          <a:p>
            <a:pPr marL="12700" marR="5080" lvl="0" indent="0" algn="l" defTabSz="457200" rtl="0" eaLnBrk="1" fontAlgn="auto" latinLnBrk="0" hangingPunct="1">
              <a:lnSpc>
                <a:spcPct val="110000"/>
              </a:lnSpc>
              <a:spcBef>
                <a:spcPts val="100"/>
              </a:spcBef>
              <a:spcAft>
                <a:spcPts val="0"/>
              </a:spcAft>
              <a:buClrTx/>
              <a:buSzTx/>
              <a:buFontTx/>
              <a:buNone/>
              <a:tabLst/>
              <a:defRPr/>
            </a:pPr>
            <a:r>
              <a:rPr kumimoji="0" sz="2000" b="0" i="0" u="none" strike="noStrike" kern="1200" cap="none" spc="0" normalizeH="0" baseline="0" noProof="0" dirty="0">
                <a:ln>
                  <a:noFill/>
                </a:ln>
                <a:solidFill>
                  <a:prstClr val="white"/>
                </a:solidFill>
                <a:effectLst/>
                <a:uLnTx/>
                <a:uFillTx/>
                <a:latin typeface="Arial MT"/>
                <a:ea typeface="+mn-ea"/>
                <a:cs typeface="Arial MT"/>
              </a:rPr>
              <a:t>bar </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beer </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price </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1" i="0" u="none" strike="noStrike" kern="1200" cap="none" spc="0" normalizeH="0" baseline="0" noProof="0" dirty="0">
                <a:ln>
                  <a:noFill/>
                </a:ln>
                <a:solidFill>
                  <a:prstClr val="white"/>
                </a:solidFill>
                <a:effectLst/>
                <a:uLnTx/>
                <a:uFillTx/>
                <a:latin typeface="Arial"/>
                <a:ea typeface="+mn-ea"/>
                <a:cs typeface="Arial"/>
              </a:rPr>
              <a:t>C</a:t>
            </a:r>
            <a:r>
              <a:rPr kumimoji="0" sz="2000" b="1" i="0" u="none" strike="noStrike" kern="1200" cap="none" spc="5" normalizeH="0" baseline="0" noProof="0" dirty="0">
                <a:ln>
                  <a:noFill/>
                </a:ln>
                <a:solidFill>
                  <a:prstClr val="white"/>
                </a:solidFill>
                <a:effectLst/>
                <a:uLnTx/>
                <a:uFillTx/>
                <a:latin typeface="Arial"/>
                <a:ea typeface="+mn-ea"/>
                <a:cs typeface="Arial"/>
              </a:rPr>
              <a:t>H</a:t>
            </a:r>
            <a:r>
              <a:rPr kumimoji="0" sz="2000" b="1" i="0" u="none" strike="noStrike" kern="1200" cap="none" spc="0" normalizeH="0" baseline="0" noProof="0" dirty="0">
                <a:ln>
                  <a:noFill/>
                </a:ln>
                <a:solidFill>
                  <a:prstClr val="white"/>
                </a:solidFill>
                <a:effectLst/>
                <a:uLnTx/>
                <a:uFillTx/>
                <a:latin typeface="Arial"/>
                <a:ea typeface="+mn-ea"/>
                <a:cs typeface="Arial"/>
              </a:rPr>
              <a:t>ECK</a:t>
            </a:r>
            <a:endParaRPr kumimoji="0" sz="2000" b="0" i="0" u="none" strike="noStrike" kern="1200" cap="none" spc="0" normalizeH="0" baseline="0" noProof="0" dirty="0">
              <a:ln>
                <a:noFill/>
              </a:ln>
              <a:solidFill>
                <a:prstClr val="white"/>
              </a:solidFill>
              <a:effectLst/>
              <a:uLnTx/>
              <a:uFillTx/>
              <a:latin typeface="Arial"/>
              <a:ea typeface="+mn-ea"/>
              <a:cs typeface="Arial"/>
            </a:endParaRPr>
          </a:p>
        </p:txBody>
      </p:sp>
      <p:sp>
        <p:nvSpPr>
          <p:cNvPr id="5" name="object 5"/>
          <p:cNvSpPr txBox="1"/>
          <p:nvPr/>
        </p:nvSpPr>
        <p:spPr>
          <a:xfrm>
            <a:off x="3963036" y="4576445"/>
            <a:ext cx="4229735" cy="1367155"/>
          </a:xfrm>
          <a:prstGeom prst="rect">
            <a:avLst/>
          </a:prstGeom>
        </p:spPr>
        <p:txBody>
          <a:bodyPr vert="horz" wrap="square" lIns="0" tIns="43180" rIns="0" bIns="0" rtlCol="0">
            <a:spAutoFit/>
          </a:bodyPr>
          <a:lstStyle/>
          <a:p>
            <a:pPr marL="12700" marR="0" lvl="0" indent="0" algn="l" defTabSz="457200" rtl="0" eaLnBrk="1" fontAlgn="auto" latinLnBrk="0" hangingPunct="1">
              <a:lnSpc>
                <a:spcPct val="100000"/>
              </a:lnSpc>
              <a:spcBef>
                <a:spcPts val="340"/>
              </a:spcBef>
              <a:spcAft>
                <a:spcPts val="0"/>
              </a:spcAft>
              <a:buClrTx/>
              <a:buSzTx/>
              <a:buFontTx/>
              <a:buNone/>
              <a:tabLst/>
              <a:defRPr/>
            </a:pPr>
            <a:r>
              <a:rPr kumimoji="0" sz="2000" b="0" i="0" u="none" strike="noStrike" kern="1200" cap="none" spc="0" normalizeH="0" baseline="0" noProof="0" dirty="0">
                <a:ln>
                  <a:noFill/>
                </a:ln>
                <a:solidFill>
                  <a:prstClr val="white"/>
                </a:solidFill>
                <a:effectLst/>
                <a:uLnTx/>
                <a:uFillTx/>
                <a:latin typeface="Arial MT"/>
                <a:ea typeface="+mn-ea"/>
                <a:cs typeface="Arial MT"/>
              </a:rPr>
              <a:t>CHAR(20),</a:t>
            </a:r>
          </a:p>
          <a:p>
            <a:pPr marL="12700" marR="0" lvl="0" indent="0" algn="l" defTabSz="457200" rtl="0" eaLnBrk="1" fontAlgn="auto" latinLnBrk="0" hangingPunct="1">
              <a:lnSpc>
                <a:spcPct val="100000"/>
              </a:lnSpc>
              <a:spcBef>
                <a:spcPts val="240"/>
              </a:spcBef>
              <a:spcAft>
                <a:spcPts val="0"/>
              </a:spcAft>
              <a:buClrTx/>
              <a:buSzTx/>
              <a:buFontTx/>
              <a:buNone/>
              <a:tabLst/>
              <a:defRPr/>
            </a:pPr>
            <a:r>
              <a:rPr kumimoji="0" sz="2000" b="0" i="0" u="none" strike="noStrike" kern="1200" cap="none" spc="0" normalizeH="0" baseline="0" noProof="0" dirty="0">
                <a:ln>
                  <a:noFill/>
                </a:ln>
                <a:solidFill>
                  <a:prstClr val="white"/>
                </a:solidFill>
                <a:effectLst/>
                <a:uLnTx/>
                <a:uFillTx/>
                <a:latin typeface="Arial MT"/>
                <a:ea typeface="+mn-ea"/>
                <a:cs typeface="Arial MT"/>
              </a:rPr>
              <a:t>CHAR(20),</a:t>
            </a:r>
          </a:p>
          <a:p>
            <a:pPr marL="12700" marR="0" lvl="0" indent="0" algn="l" defTabSz="457200" rtl="0" eaLnBrk="1" fontAlgn="auto" latinLnBrk="0" hangingPunct="1">
              <a:lnSpc>
                <a:spcPct val="100000"/>
              </a:lnSpc>
              <a:spcBef>
                <a:spcPts val="240"/>
              </a:spcBef>
              <a:spcAft>
                <a:spcPts val="0"/>
              </a:spcAft>
              <a:buClrTx/>
              <a:buSzTx/>
              <a:buFontTx/>
              <a:buNone/>
              <a:tabLst/>
              <a:defRPr/>
            </a:pPr>
            <a:r>
              <a:rPr kumimoji="0" sz="2000" b="0" i="0" u="none" strike="noStrike" kern="1200" cap="none" spc="0" normalizeH="0" baseline="0" noProof="0" dirty="0">
                <a:ln>
                  <a:noFill/>
                </a:ln>
                <a:solidFill>
                  <a:prstClr val="white"/>
                </a:solidFill>
                <a:effectLst/>
                <a:uLnTx/>
                <a:uFillTx/>
                <a:latin typeface="Arial MT"/>
                <a:ea typeface="+mn-ea"/>
                <a:cs typeface="Arial MT"/>
              </a:rPr>
              <a:t>REAL,</a:t>
            </a:r>
          </a:p>
          <a:p>
            <a:pPr marL="12700" marR="0" lvl="0" indent="0" algn="l" defTabSz="457200" rtl="0" eaLnBrk="1" fontAlgn="auto" latinLnBrk="0" hangingPunct="1">
              <a:lnSpc>
                <a:spcPct val="100000"/>
              </a:lnSpc>
              <a:spcBef>
                <a:spcPts val="240"/>
              </a:spcBef>
              <a:spcAft>
                <a:spcPts val="0"/>
              </a:spcAft>
              <a:buClrTx/>
              <a:buSzTx/>
              <a:buFontTx/>
              <a:buNone/>
              <a:tabLst/>
              <a:defRPr/>
            </a:pPr>
            <a:r>
              <a:rPr kumimoji="0" sz="2000" b="0" i="0" u="none" strike="noStrike" kern="1200" cap="none" spc="-5" normalizeH="0" baseline="0" noProof="0" dirty="0">
                <a:ln>
                  <a:noFill/>
                </a:ln>
                <a:solidFill>
                  <a:prstClr val="white"/>
                </a:solidFill>
                <a:effectLst/>
                <a:uLnTx/>
                <a:uFillTx/>
                <a:latin typeface="Arial MT"/>
                <a:ea typeface="+mn-ea"/>
                <a:cs typeface="Arial MT"/>
              </a:rPr>
              <a:t>(bar</a:t>
            </a:r>
            <a:r>
              <a:rPr kumimoji="0" sz="2000" b="0" i="0" u="none" strike="noStrike" kern="1200" cap="none" spc="-3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a:t>
            </a:r>
            <a:r>
              <a:rPr kumimoji="0" sz="2000" b="0" i="0" u="none" strike="noStrike" kern="1200" cap="none" spc="-30" normalizeH="0" baseline="0" noProof="0" dirty="0">
                <a:ln>
                  <a:noFill/>
                </a:ln>
                <a:solidFill>
                  <a:prstClr val="white"/>
                </a:solidFill>
                <a:effectLst/>
                <a:uLnTx/>
                <a:uFillTx/>
                <a:latin typeface="Arial MT"/>
                <a:ea typeface="+mn-ea"/>
                <a:cs typeface="Arial MT"/>
              </a:rPr>
              <a:t> </a:t>
            </a:r>
            <a:r>
              <a:rPr kumimoji="0" sz="2000" b="0" i="0" u="none" strike="noStrike" kern="1200" cap="none" spc="-10" normalizeH="0" baseline="0" noProof="0" dirty="0">
                <a:ln>
                  <a:noFill/>
                </a:ln>
                <a:solidFill>
                  <a:prstClr val="white"/>
                </a:solidFill>
                <a:effectLst/>
                <a:uLnTx/>
                <a:uFillTx/>
                <a:latin typeface="Arial MT"/>
                <a:ea typeface="+mn-ea"/>
                <a:cs typeface="Arial MT"/>
              </a:rPr>
              <a:t>’Joe’s</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0" i="0" u="none" strike="noStrike" kern="1200" cap="none" spc="20" normalizeH="0" baseline="0" noProof="0" dirty="0">
                <a:ln>
                  <a:noFill/>
                </a:ln>
                <a:solidFill>
                  <a:prstClr val="white"/>
                </a:solidFill>
                <a:effectLst/>
                <a:uLnTx/>
                <a:uFillTx/>
                <a:latin typeface="Arial MT"/>
                <a:ea typeface="+mn-ea"/>
                <a:cs typeface="Arial MT"/>
              </a:rPr>
              <a:t>Bar’</a:t>
            </a:r>
            <a:r>
              <a:rPr kumimoji="0" sz="2000" b="0" i="0" u="none" strike="noStrike" kern="1200" cap="none" spc="-8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OR</a:t>
            </a:r>
            <a:r>
              <a:rPr kumimoji="0" sz="2000" b="0" i="0" u="none" strike="noStrike" kern="1200" cap="none" spc="-3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price</a:t>
            </a:r>
            <a:r>
              <a:rPr kumimoji="0" sz="2000" b="0" i="0" u="none" strike="noStrike" kern="1200" cap="none" spc="-2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&lt;=</a:t>
            </a:r>
            <a:r>
              <a:rPr kumimoji="0" sz="2000" b="0" i="0" u="none" strike="noStrike" kern="1200" cap="none" spc="-4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5.00));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456372"/>
            <a:ext cx="4874260" cy="1245084"/>
          </a:xfrm>
          <a:prstGeom prst="rect">
            <a:avLst/>
          </a:prstGeom>
        </p:spPr>
        <p:txBody>
          <a:bodyPr vert="horz" wrap="square" lIns="0" tIns="13335" rIns="0" bIns="0" rtlCol="0">
            <a:spAutoFit/>
          </a:bodyPr>
          <a:lstStyle/>
          <a:p>
            <a:pPr marL="12700">
              <a:spcBef>
                <a:spcPts val="105"/>
              </a:spcBef>
            </a:pPr>
            <a:r>
              <a:rPr lang="es-CL" spc="-15" dirty="0">
                <a:solidFill>
                  <a:srgbClr val="FF0000"/>
                </a:solidFill>
                <a:latin typeface="Aharoni" panose="02010803020104030203" pitchFamily="2" charset="-79"/>
                <a:cs typeface="Aharoni" panose="02010803020104030203" pitchFamily="2" charset="-79"/>
              </a:rPr>
              <a:t>Afirmaciones</a:t>
            </a:r>
            <a:r>
              <a:rPr lang="es-CL" dirty="0">
                <a:solidFill>
                  <a:srgbClr val="FF0000"/>
                </a:solidFill>
              </a:rPr>
              <a:t>
</a:t>
            </a:r>
            <a:endParaRPr dirty="0">
              <a:solidFill>
                <a:srgbClr val="FF0000"/>
              </a:solidFill>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r>
              <a:rPr kumimoji="0" sz="1200" b="0" i="0" u="none" strike="noStrike" kern="1200" cap="none" spc="0" normalizeH="0" baseline="0" noProof="0" dirty="0">
                <a:ln>
                  <a:noFill/>
                </a:ln>
                <a:solidFill>
                  <a:prstClr val="white">
                    <a:tint val="75000"/>
                  </a:prstClr>
                </a:solidFill>
                <a:effectLst/>
                <a:uLnTx/>
                <a:uFillTx/>
                <a:latin typeface="Calibri" panose="020F0502020204030204"/>
                <a:ea typeface="+mn-ea"/>
                <a:cs typeface="+mn-cs"/>
              </a:rPr>
              <a:t>30</a:t>
            </a:r>
          </a:p>
        </p:txBody>
      </p:sp>
      <p:sp>
        <p:nvSpPr>
          <p:cNvPr id="3" name="object 3"/>
          <p:cNvSpPr txBox="1"/>
          <p:nvPr/>
        </p:nvSpPr>
        <p:spPr>
          <a:xfrm>
            <a:off x="762000" y="1676400"/>
            <a:ext cx="10134600" cy="4113306"/>
          </a:xfrm>
          <a:prstGeom prst="rect">
            <a:avLst/>
          </a:prstGeom>
        </p:spPr>
        <p:txBody>
          <a:bodyPr vert="horz" wrap="square" lIns="0" tIns="12065" rIns="0" bIns="0" rtlCol="0">
            <a:spAutoFit/>
          </a:bodyPr>
          <a:lstStyle/>
          <a:p>
            <a:pPr marL="355600" marR="457834" lvl="0" indent="-342900" algn="l" defTabSz="457200" rtl="0" eaLnBrk="1" fontAlgn="auto" latinLnBrk="0" hangingPunct="1">
              <a:lnSpc>
                <a:spcPct val="100000"/>
              </a:lnSpc>
              <a:spcBef>
                <a:spcPts val="95"/>
              </a:spcBef>
              <a:spcAft>
                <a:spcPts val="0"/>
              </a:spcAft>
              <a:buClrTx/>
              <a:buSzTx/>
              <a:buFontTx/>
              <a:buChar char="•"/>
              <a:tabLst>
                <a:tab pos="354965" algn="l"/>
                <a:tab pos="355600" algn="l"/>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Permiten la definición de restricciones sobre tablas enteras, en lugar de tuplas individuales. </a:t>
            </a:r>
            <a:r>
              <a:rPr kumimoji="0" lang="es-ES" sz="2000" b="0" i="0" u="none" strike="noStrike" kern="1200" cap="none" spc="-5" normalizeH="0" baseline="0" noProof="0" dirty="0" err="1">
                <a:ln>
                  <a:noFill/>
                </a:ln>
                <a:solidFill>
                  <a:prstClr val="white"/>
                </a:solidFill>
                <a:effectLst/>
                <a:uLnTx/>
                <a:uFillTx/>
                <a:latin typeface="Arial MT"/>
                <a:ea typeface="+mn-ea"/>
                <a:cs typeface="Arial MT"/>
              </a:rPr>
              <a:t>U</a:t>
            </a:r>
            <a:r>
              <a:rPr kumimoji="0" lang="es-ES" sz="2000" b="0" i="0" u="none" strike="noStrike" kern="1200" cap="none" spc="0" normalizeH="0" baseline="0" noProof="0" dirty="0" err="1">
                <a:ln>
                  <a:noFill/>
                </a:ln>
                <a:solidFill>
                  <a:prstClr val="white"/>
                </a:solidFill>
                <a:effectLst/>
                <a:uLnTx/>
                <a:uFillTx/>
                <a:latin typeface="Arial MT"/>
                <a:ea typeface="+mn-ea"/>
                <a:cs typeface="Arial MT"/>
              </a:rPr>
              <a:t>til</a:t>
            </a:r>
            <a:r>
              <a:rPr kumimoji="0" lang="es-ES" sz="2000" b="0" i="0" u="none" strike="noStrike" kern="1200" cap="none" spc="0" normalizeH="0" baseline="0" noProof="0" dirty="0">
                <a:ln>
                  <a:noFill/>
                </a:ln>
                <a:solidFill>
                  <a:prstClr val="white"/>
                </a:solidFill>
                <a:effectLst/>
                <a:uLnTx/>
                <a:uFillTx/>
                <a:latin typeface="Arial MT"/>
                <a:ea typeface="+mn-ea"/>
                <a:cs typeface="Arial MT"/>
              </a:rPr>
              <a:t> en muchas situaciones, por ejemplo, para expresar restricciones interrelaciónales genéricas. </a:t>
            </a:r>
            <a:r>
              <a:rPr kumimoji="0" sz="2000" b="0" i="0" u="none" strike="noStrike" kern="1200" cap="none" spc="0" normalizeH="0" baseline="0" noProof="0" dirty="0">
                <a:ln>
                  <a:noFill/>
                </a:ln>
                <a:solidFill>
                  <a:prstClr val="white"/>
                </a:solidFill>
                <a:effectLst/>
                <a:uLnTx/>
                <a:uFillTx/>
                <a:latin typeface="Arial MT"/>
                <a:ea typeface="+mn-ea"/>
                <a:cs typeface="Arial MT"/>
              </a:rPr>
              <a:t>An</a:t>
            </a:r>
            <a:r>
              <a:rPr kumimoji="0" sz="2000" b="0" i="0" u="none" strike="noStrike" kern="1200" cap="none" spc="-1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assertion</a:t>
            </a:r>
            <a:r>
              <a:rPr kumimoji="0" sz="2000" b="0" i="0" u="none" strike="noStrike" kern="1200" cap="none" spc="-3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associates</a:t>
            </a:r>
            <a:r>
              <a:rPr kumimoji="0" sz="2000" b="0" i="0" u="none" strike="noStrike" kern="1200" cap="none" spc="-5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a</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name</a:t>
            </a:r>
            <a:r>
              <a:rPr kumimoji="0" sz="2000" b="0" i="0" u="none" strike="noStrike" kern="1200" cap="none" spc="-3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to</a:t>
            </a:r>
            <a:r>
              <a:rPr kumimoji="0" sz="2000" b="0" i="0" u="none" strike="noStrike" kern="1200" cap="none" spc="-5"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a</a:t>
            </a:r>
            <a:r>
              <a:rPr kumimoji="0" sz="2000" b="0" i="0" u="none" strike="noStrike" kern="1200" cap="none" spc="-1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check</a:t>
            </a:r>
            <a:r>
              <a:rPr kumimoji="0" sz="2000" b="0" i="0" u="none" strike="noStrike" kern="1200" cap="none" spc="-30" normalizeH="0" baseline="0" noProof="0" dirty="0">
                <a:ln>
                  <a:noFill/>
                </a:ln>
                <a:solidFill>
                  <a:prstClr val="white"/>
                </a:solidFill>
                <a:effectLst/>
                <a:uLnTx/>
                <a:uFillTx/>
                <a:latin typeface="Arial MT"/>
                <a:ea typeface="+mn-ea"/>
                <a:cs typeface="Arial MT"/>
              </a:rPr>
              <a:t> </a:t>
            </a:r>
            <a:r>
              <a:rPr kumimoji="0" sz="2000" b="0" i="0" u="none" strike="noStrike" kern="1200" cap="none" spc="0" normalizeH="0" baseline="0" noProof="0" dirty="0">
                <a:ln>
                  <a:noFill/>
                </a:ln>
                <a:solidFill>
                  <a:prstClr val="white"/>
                </a:solidFill>
                <a:effectLst/>
                <a:uLnTx/>
                <a:uFillTx/>
                <a:latin typeface="Arial MT"/>
                <a:ea typeface="+mn-ea"/>
                <a:cs typeface="Arial MT"/>
              </a:rPr>
              <a:t>clause.</a:t>
            </a:r>
            <a:endParaRPr kumimoji="0" lang="es-ES" sz="2000" b="0" i="0" u="none" strike="noStrike" kern="1200" cap="none" spc="0" normalizeH="0" baseline="0" noProof="0" dirty="0">
              <a:ln>
                <a:noFill/>
              </a:ln>
              <a:solidFill>
                <a:prstClr val="white"/>
              </a:solidFill>
              <a:effectLst/>
              <a:uLnTx/>
              <a:uFillTx/>
              <a:latin typeface="Arial MT"/>
              <a:ea typeface="+mn-ea"/>
              <a:cs typeface="Arial MT"/>
            </a:endParaRPr>
          </a:p>
          <a:p>
            <a:pPr marL="12700" marR="457834" lvl="0" indent="0" algn="l" defTabSz="457200" rtl="0" eaLnBrk="1" fontAlgn="auto" latinLnBrk="0" hangingPunct="1">
              <a:lnSpc>
                <a:spcPct val="100000"/>
              </a:lnSpc>
              <a:spcBef>
                <a:spcPts val="95"/>
              </a:spcBef>
              <a:spcAft>
                <a:spcPts val="0"/>
              </a:spcAft>
              <a:buClrTx/>
              <a:buSzTx/>
              <a:buFontTx/>
              <a:buNone/>
              <a:tabLst>
                <a:tab pos="354965" algn="l"/>
                <a:tab pos="355600" algn="l"/>
              </a:tabLst>
              <a:defRPr/>
            </a:pPr>
            <a:endParaRPr kumimoji="0" lang="es-CL" sz="2000" b="0" i="0" u="none" strike="noStrike" kern="1200" cap="none" spc="-35" normalizeH="0" baseline="0" noProof="0" dirty="0">
              <a:ln>
                <a:noFill/>
              </a:ln>
              <a:solidFill>
                <a:prstClr val="white"/>
              </a:solidFill>
              <a:effectLst/>
              <a:uLnTx/>
              <a:uFillTx/>
              <a:latin typeface="Arial MT"/>
              <a:ea typeface="+mn-ea"/>
              <a:cs typeface="Arial MT"/>
            </a:endParaRPr>
          </a:p>
          <a:p>
            <a:pPr marL="12700" marR="457834" lvl="0" indent="0" algn="l" defTabSz="457200" rtl="0" eaLnBrk="1" fontAlgn="auto" latinLnBrk="0" hangingPunct="1">
              <a:lnSpc>
                <a:spcPct val="100000"/>
              </a:lnSpc>
              <a:spcBef>
                <a:spcPts val="95"/>
              </a:spcBef>
              <a:spcAft>
                <a:spcPts val="0"/>
              </a:spcAft>
              <a:buClrTx/>
              <a:buSzTx/>
              <a:buFontTx/>
              <a:buNone/>
              <a:tabLst>
                <a:tab pos="354965" algn="l"/>
                <a:tab pos="355600" algn="l"/>
              </a:tabLst>
              <a:defRPr/>
            </a:pPr>
            <a:r>
              <a:rPr kumimoji="0" sz="2000" b="0" i="0" u="none" strike="noStrike" kern="1200" cap="none" spc="-35" normalizeH="0" baseline="0" noProof="0" dirty="0">
                <a:ln>
                  <a:noFill/>
                </a:ln>
                <a:solidFill>
                  <a:prstClr val="white"/>
                </a:solidFill>
                <a:effectLst/>
                <a:uLnTx/>
                <a:uFillTx/>
                <a:latin typeface="Arial MT"/>
                <a:ea typeface="+mn-ea"/>
                <a:cs typeface="Arial MT"/>
              </a:rPr>
              <a:t> </a:t>
            </a:r>
            <a:r>
              <a:rPr kumimoji="0" lang="es-CL" sz="2000" b="0" i="0" u="none" strike="noStrike" kern="1200" cap="none" spc="-5" normalizeH="0" baseline="0" noProof="0" dirty="0">
                <a:ln>
                  <a:noFill/>
                </a:ln>
                <a:solidFill>
                  <a:prstClr val="white"/>
                </a:solidFill>
                <a:effectLst/>
                <a:uLnTx/>
                <a:uFillTx/>
                <a:latin typeface="Arial MT"/>
                <a:ea typeface="+mn-ea"/>
                <a:cs typeface="Arial MT"/>
              </a:rPr>
              <a:t>Sintaxis:</a:t>
            </a:r>
            <a:endParaRPr kumimoji="0" sz="2000" b="0" i="0" u="none" strike="noStrike" kern="1200" cap="none" spc="0" normalizeH="0" baseline="0" noProof="0" dirty="0">
              <a:ln>
                <a:noFill/>
              </a:ln>
              <a:solidFill>
                <a:prstClr val="white"/>
              </a:solidFill>
              <a:effectLst/>
              <a:uLnTx/>
              <a:uFillTx/>
              <a:latin typeface="Arial MT"/>
              <a:ea typeface="+mn-ea"/>
              <a:cs typeface="Arial MT"/>
            </a:endParaRPr>
          </a:p>
          <a:p>
            <a:pPr marL="927100" marR="0" lvl="0" indent="0" algn="l" defTabSz="457200" rtl="0" eaLnBrk="1" fontAlgn="auto" latinLnBrk="0" hangingPunct="1">
              <a:lnSpc>
                <a:spcPct val="100000"/>
              </a:lnSpc>
              <a:spcBef>
                <a:spcPts val="520"/>
              </a:spcBef>
              <a:spcAft>
                <a:spcPts val="0"/>
              </a:spcAft>
              <a:buClrTx/>
              <a:buSzTx/>
              <a:buFontTx/>
              <a:buNone/>
              <a:tabLst/>
              <a:defRPr/>
            </a:pPr>
            <a:r>
              <a:rPr kumimoji="0" sz="2200" b="1" i="0" u="none" strike="noStrike" kern="1200" cap="none" spc="-35" normalizeH="0" baseline="0" noProof="0" dirty="0">
                <a:ln>
                  <a:noFill/>
                </a:ln>
                <a:solidFill>
                  <a:prstClr val="white"/>
                </a:solidFill>
                <a:effectLst/>
                <a:uLnTx/>
                <a:uFillTx/>
                <a:latin typeface="Arial"/>
                <a:ea typeface="+mn-ea"/>
                <a:cs typeface="Arial"/>
              </a:rPr>
              <a:t>CREATE</a:t>
            </a:r>
            <a:r>
              <a:rPr kumimoji="0" sz="2200" b="1" i="0" u="none" strike="noStrike" kern="1200" cap="none" spc="-55" normalizeH="0" baseline="0" noProof="0" dirty="0">
                <a:ln>
                  <a:noFill/>
                </a:ln>
                <a:solidFill>
                  <a:prstClr val="white"/>
                </a:solidFill>
                <a:effectLst/>
                <a:uLnTx/>
                <a:uFillTx/>
                <a:latin typeface="Arial"/>
                <a:ea typeface="+mn-ea"/>
                <a:cs typeface="Arial"/>
              </a:rPr>
              <a:t> </a:t>
            </a:r>
            <a:r>
              <a:rPr kumimoji="0" sz="2200" b="1" i="0" u="none" strike="noStrike" kern="1200" cap="none" spc="-5" normalizeH="0" baseline="0" noProof="0" dirty="0">
                <a:ln>
                  <a:noFill/>
                </a:ln>
                <a:solidFill>
                  <a:prstClr val="white"/>
                </a:solidFill>
                <a:effectLst/>
                <a:uLnTx/>
                <a:uFillTx/>
                <a:latin typeface="Arial"/>
                <a:ea typeface="+mn-ea"/>
                <a:cs typeface="Arial"/>
              </a:rPr>
              <a:t>ASSERTION</a:t>
            </a:r>
            <a:r>
              <a:rPr kumimoji="0" sz="2200" b="1" i="0" u="none" strike="noStrike" kern="1200" cap="none" spc="25"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AssertName</a:t>
            </a:r>
            <a:r>
              <a:rPr kumimoji="0" sz="2200" b="0" i="0" u="none" strike="noStrike" kern="1200" cap="none" spc="20" normalizeH="0" baseline="0" noProof="0" dirty="0">
                <a:ln>
                  <a:noFill/>
                </a:ln>
                <a:solidFill>
                  <a:prstClr val="white"/>
                </a:solidFill>
                <a:effectLst/>
                <a:uLnTx/>
                <a:uFillTx/>
                <a:latin typeface="Arial MT"/>
                <a:ea typeface="+mn-ea"/>
                <a:cs typeface="Arial MT"/>
              </a:rPr>
              <a:t> </a:t>
            </a:r>
            <a:r>
              <a:rPr kumimoji="0" sz="2200" b="1" i="0" u="none" strike="noStrike" kern="1200" cap="none" spc="-10" normalizeH="0" baseline="0" noProof="0" dirty="0">
                <a:ln>
                  <a:noFill/>
                </a:ln>
                <a:solidFill>
                  <a:prstClr val="white"/>
                </a:solidFill>
                <a:effectLst/>
                <a:uLnTx/>
                <a:uFillTx/>
                <a:latin typeface="Arial"/>
                <a:ea typeface="+mn-ea"/>
                <a:cs typeface="Arial"/>
              </a:rPr>
              <a:t>CHECK</a:t>
            </a:r>
            <a:r>
              <a:rPr kumimoji="0" sz="2200" b="1" i="0" u="none" strike="noStrike" kern="1200" cap="none" spc="2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lang="es-ES" sz="2200" b="0" i="0" u="none" strike="noStrike" kern="1200" cap="none" spc="-5" normalizeH="0" baseline="0" noProof="0" dirty="0">
                <a:ln>
                  <a:noFill/>
                </a:ln>
                <a:solidFill>
                  <a:prstClr val="white"/>
                </a:solidFill>
                <a:effectLst/>
                <a:uLnTx/>
                <a:uFillTx/>
                <a:latin typeface="Arial MT"/>
                <a:ea typeface="+mn-ea"/>
                <a:cs typeface="Arial MT"/>
              </a:rPr>
              <a:t>&lt;c</a:t>
            </a:r>
            <a:r>
              <a:rPr kumimoji="0" sz="2200" b="0" i="0" u="none" strike="noStrike" kern="1200" cap="none" spc="-5" normalizeH="0" baseline="0" noProof="0" dirty="0" err="1">
                <a:ln>
                  <a:noFill/>
                </a:ln>
                <a:solidFill>
                  <a:prstClr val="white"/>
                </a:solidFill>
                <a:effectLst/>
                <a:uLnTx/>
                <a:uFillTx/>
                <a:latin typeface="Arial MT"/>
                <a:ea typeface="+mn-ea"/>
                <a:cs typeface="Arial MT"/>
              </a:rPr>
              <a:t>ondition</a:t>
            </a:r>
            <a:r>
              <a:rPr kumimoji="0" lang="es-ES" sz="2200" b="0" i="0" u="none" strike="noStrike" kern="1200" cap="none" spc="-5" normalizeH="0" baseline="0" noProof="0" dirty="0">
                <a:ln>
                  <a:noFill/>
                </a:ln>
                <a:solidFill>
                  <a:prstClr val="white"/>
                </a:solidFill>
                <a:effectLst/>
                <a:uLnTx/>
                <a:uFillTx/>
                <a:latin typeface="Arial MT"/>
                <a:ea typeface="+mn-ea"/>
                <a:cs typeface="Arial MT"/>
              </a:rPr>
              <a:t>&gt;</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1535"/>
              </a:spcBef>
              <a:spcAft>
                <a:spcPts val="0"/>
              </a:spcAft>
              <a:buClrTx/>
              <a:buSzTx/>
              <a:buFontTx/>
              <a:buNone/>
              <a:tabLst/>
              <a:defRPr/>
            </a:pPr>
            <a:r>
              <a:rPr kumimoji="0" sz="2200" b="1" i="0" u="none" strike="noStrike" kern="1200" cap="none" spc="-5" normalizeH="0" baseline="0" noProof="0" dirty="0">
                <a:ln>
                  <a:noFill/>
                </a:ln>
                <a:solidFill>
                  <a:srgbClr val="FF0066"/>
                </a:solidFill>
                <a:effectLst/>
                <a:uLnTx/>
                <a:uFillTx/>
                <a:latin typeface="Arial MT"/>
                <a:ea typeface="+mn-ea"/>
                <a:cs typeface="Arial MT"/>
              </a:rPr>
              <a:t>E</a:t>
            </a:r>
            <a:r>
              <a:rPr kumimoji="0" lang="es-ES" sz="2200" b="1" i="0" u="none" strike="noStrike" kern="1200" cap="none" spc="-5" normalizeH="0" baseline="0" noProof="0" dirty="0" err="1">
                <a:ln>
                  <a:noFill/>
                </a:ln>
                <a:solidFill>
                  <a:srgbClr val="FF0066"/>
                </a:solidFill>
                <a:effectLst/>
                <a:uLnTx/>
                <a:uFillTx/>
                <a:latin typeface="Arial MT"/>
                <a:ea typeface="+mn-ea"/>
                <a:cs typeface="Arial MT"/>
              </a:rPr>
              <a:t>jemplo</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355600" marR="0" lvl="0" indent="0" algn="l" defTabSz="457200" rtl="0" eaLnBrk="1" fontAlgn="auto" latinLnBrk="0" hangingPunct="1">
              <a:lnSpc>
                <a:spcPct val="100000"/>
              </a:lnSpc>
              <a:spcBef>
                <a:spcPts val="1025"/>
              </a:spcBef>
              <a:spcAft>
                <a:spcPts val="0"/>
              </a:spcAft>
              <a:buClrTx/>
              <a:buSzTx/>
              <a:buFontTx/>
              <a:buNone/>
              <a:tabLst/>
              <a:defRPr/>
            </a:pPr>
            <a:r>
              <a:rPr kumimoji="0" lang="es-ES" sz="2200" b="0" i="0" u="none" strike="noStrike" kern="1200" cap="none" spc="-5" normalizeH="0" baseline="0" noProof="0" dirty="0">
                <a:ln>
                  <a:noFill/>
                </a:ln>
                <a:solidFill>
                  <a:prstClr val="white"/>
                </a:solidFill>
                <a:effectLst/>
                <a:uLnTx/>
                <a:uFillTx/>
                <a:latin typeface="Arial MT"/>
                <a:ea typeface="+mn-ea"/>
                <a:cs typeface="Arial MT"/>
              </a:rPr>
              <a:t>Siempre debe haber al menos una tupla en la tabla Empleado</a:t>
            </a:r>
            <a:r>
              <a:rPr kumimoji="0" sz="2200" b="0" i="0" u="none" strike="noStrike" kern="1200" cap="none" spc="-5" normalizeH="0" baseline="0" noProof="0" dirty="0">
                <a:ln>
                  <a:noFill/>
                </a:ln>
                <a:solidFill>
                  <a:prstClr val="white"/>
                </a:solidFill>
                <a:effectLst/>
                <a:uLnTx/>
                <a:uFillTx/>
                <a:latin typeface="Arial MT"/>
                <a:ea typeface="+mn-ea"/>
                <a:cs typeface="Arial MT"/>
              </a:rPr>
              <a:t>:</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927100" marR="0" lvl="0" indent="0" algn="l" defTabSz="457200" rtl="0" eaLnBrk="1" fontAlgn="auto" latinLnBrk="0" hangingPunct="1">
              <a:lnSpc>
                <a:spcPct val="100000"/>
              </a:lnSpc>
              <a:spcBef>
                <a:spcPts val="610"/>
              </a:spcBef>
              <a:spcAft>
                <a:spcPts val="0"/>
              </a:spcAft>
              <a:buClrTx/>
              <a:buSzTx/>
              <a:buFontTx/>
              <a:buNone/>
              <a:tabLst/>
              <a:defRPr/>
            </a:pPr>
            <a:r>
              <a:rPr kumimoji="0" sz="2200" b="1" i="0" u="none" strike="noStrike" kern="1200" cap="none" spc="-35" normalizeH="0" baseline="0" noProof="0" dirty="0">
                <a:ln>
                  <a:noFill/>
                </a:ln>
                <a:solidFill>
                  <a:prstClr val="white"/>
                </a:solidFill>
                <a:effectLst/>
                <a:uLnTx/>
                <a:uFillTx/>
                <a:latin typeface="Arial"/>
                <a:ea typeface="+mn-ea"/>
                <a:cs typeface="Arial"/>
              </a:rPr>
              <a:t>CREATE</a:t>
            </a:r>
            <a:r>
              <a:rPr kumimoji="0" sz="2200" b="1" i="0" u="none" strike="noStrike" kern="1200" cap="none" spc="-65" normalizeH="0" baseline="0" noProof="0" dirty="0">
                <a:ln>
                  <a:noFill/>
                </a:ln>
                <a:solidFill>
                  <a:prstClr val="white"/>
                </a:solidFill>
                <a:effectLst/>
                <a:uLnTx/>
                <a:uFillTx/>
                <a:latin typeface="Arial"/>
                <a:ea typeface="+mn-ea"/>
                <a:cs typeface="Arial"/>
              </a:rPr>
              <a:t> </a:t>
            </a:r>
            <a:r>
              <a:rPr kumimoji="0" sz="2200" b="1" i="0" u="none" strike="noStrike" kern="1200" cap="none" spc="-5" normalizeH="0" baseline="0" noProof="0" dirty="0">
                <a:ln>
                  <a:noFill/>
                </a:ln>
                <a:solidFill>
                  <a:prstClr val="white"/>
                </a:solidFill>
                <a:effectLst/>
                <a:uLnTx/>
                <a:uFillTx/>
                <a:latin typeface="Arial"/>
                <a:ea typeface="+mn-ea"/>
                <a:cs typeface="Arial"/>
              </a:rPr>
              <a:t>ASSERTION</a:t>
            </a:r>
            <a:r>
              <a:rPr kumimoji="0" sz="2200" b="1" i="0" u="none" strike="noStrike" kern="1200" cap="none" spc="-12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AlwaysOneEmployee</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a:p>
            <a:pPr marL="927100" marR="0" lvl="0" indent="0" algn="l" defTabSz="457200" rtl="0" eaLnBrk="1" fontAlgn="auto" latinLnBrk="0" hangingPunct="1">
              <a:lnSpc>
                <a:spcPct val="100000"/>
              </a:lnSpc>
              <a:spcBef>
                <a:spcPts val="0"/>
              </a:spcBef>
              <a:spcAft>
                <a:spcPts val="0"/>
              </a:spcAft>
              <a:buClrTx/>
              <a:buSzTx/>
              <a:buFontTx/>
              <a:buNone/>
              <a:tabLst/>
              <a:defRPr/>
            </a:pPr>
            <a:r>
              <a:rPr kumimoji="0" sz="2200" b="1" i="0" u="none" strike="noStrike" kern="1200" cap="none" spc="-10" normalizeH="0" baseline="0" noProof="0" dirty="0">
                <a:ln>
                  <a:noFill/>
                </a:ln>
                <a:solidFill>
                  <a:prstClr val="white"/>
                </a:solidFill>
                <a:effectLst/>
                <a:uLnTx/>
                <a:uFillTx/>
                <a:latin typeface="Arial"/>
                <a:ea typeface="+mn-ea"/>
                <a:cs typeface="Arial"/>
              </a:rPr>
              <a:t>CHECK</a:t>
            </a:r>
            <a:r>
              <a:rPr kumimoji="0" sz="2200" b="1" i="0" u="none" strike="noStrike" kern="1200" cap="none" spc="1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(1</a:t>
            </a:r>
            <a:r>
              <a:rPr kumimoji="0" sz="2200" b="0" i="0" u="none" strike="noStrike" kern="1200" cap="none" spc="15"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&lt;=</a:t>
            </a:r>
            <a:r>
              <a:rPr kumimoji="0" sz="2200" b="0" i="0" u="none" strike="noStrike" kern="1200" cap="none" spc="0" normalizeH="0" baseline="0" noProof="0" dirty="0">
                <a:ln>
                  <a:noFill/>
                </a:ln>
                <a:solidFill>
                  <a:prstClr val="white"/>
                </a:solidFill>
                <a:effectLst/>
                <a:uLnTx/>
                <a:uFillTx/>
                <a:latin typeface="Arial MT"/>
                <a:ea typeface="+mn-ea"/>
                <a:cs typeface="Arial MT"/>
              </a:rPr>
              <a:t> </a:t>
            </a:r>
            <a:r>
              <a:rPr kumimoji="0" sz="2200" b="0" i="0" u="none" strike="noStrike" kern="1200" cap="none" spc="-5" normalizeH="0" baseline="0" noProof="0" dirty="0">
                <a:ln>
                  <a:noFill/>
                </a:ln>
                <a:solidFill>
                  <a:prstClr val="white"/>
                </a:solidFill>
                <a:effectLst/>
                <a:uLnTx/>
                <a:uFillTx/>
                <a:latin typeface="Arial MT"/>
                <a:ea typeface="+mn-ea"/>
                <a:cs typeface="Arial MT"/>
              </a:rPr>
              <a:t>(</a:t>
            </a:r>
            <a:r>
              <a:rPr kumimoji="0" sz="2200" b="1" i="0" u="none" strike="noStrike" kern="1200" cap="none" spc="-5" normalizeH="0" baseline="0" noProof="0" dirty="0">
                <a:ln>
                  <a:noFill/>
                </a:ln>
                <a:solidFill>
                  <a:prstClr val="white"/>
                </a:solidFill>
                <a:effectLst/>
                <a:uLnTx/>
                <a:uFillTx/>
                <a:latin typeface="Arial"/>
                <a:ea typeface="+mn-ea"/>
                <a:cs typeface="Arial"/>
              </a:rPr>
              <a:t>SELECT</a:t>
            </a:r>
            <a:r>
              <a:rPr kumimoji="0" sz="2200" b="1" i="0" u="none" strike="noStrike" kern="1200" cap="none" spc="2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count(*)</a:t>
            </a:r>
            <a:r>
              <a:rPr kumimoji="0" sz="2200" b="0" i="0" u="none" strike="noStrike" kern="1200" cap="none" spc="5" normalizeH="0" baseline="0" noProof="0" dirty="0">
                <a:ln>
                  <a:noFill/>
                </a:ln>
                <a:solidFill>
                  <a:prstClr val="white"/>
                </a:solidFill>
                <a:effectLst/>
                <a:uLnTx/>
                <a:uFillTx/>
                <a:latin typeface="Arial MT"/>
                <a:ea typeface="+mn-ea"/>
                <a:cs typeface="Arial MT"/>
              </a:rPr>
              <a:t> </a:t>
            </a:r>
            <a:r>
              <a:rPr kumimoji="0" sz="2200" b="1" i="0" u="none" strike="noStrike" kern="1200" cap="none" spc="-5" normalizeH="0" baseline="0" noProof="0" dirty="0">
                <a:ln>
                  <a:noFill/>
                </a:ln>
                <a:solidFill>
                  <a:prstClr val="white"/>
                </a:solidFill>
                <a:effectLst/>
                <a:uLnTx/>
                <a:uFillTx/>
                <a:latin typeface="Arial"/>
                <a:ea typeface="+mn-ea"/>
                <a:cs typeface="Arial"/>
              </a:rPr>
              <a:t>FROM</a:t>
            </a:r>
            <a:r>
              <a:rPr kumimoji="0" sz="2200" b="1" i="0" u="none" strike="noStrike" kern="1200" cap="none" spc="30" normalizeH="0" baseline="0" noProof="0" dirty="0">
                <a:ln>
                  <a:noFill/>
                </a:ln>
                <a:solidFill>
                  <a:prstClr val="white"/>
                </a:solidFill>
                <a:effectLst/>
                <a:uLnTx/>
                <a:uFillTx/>
                <a:latin typeface="Arial"/>
                <a:ea typeface="+mn-ea"/>
                <a:cs typeface="Arial"/>
              </a:rPr>
              <a:t> </a:t>
            </a:r>
            <a:r>
              <a:rPr kumimoji="0" sz="2200" b="0" i="0" u="none" strike="noStrike" kern="1200" cap="none" spc="-5" normalizeH="0" baseline="0" noProof="0" dirty="0">
                <a:ln>
                  <a:noFill/>
                </a:ln>
                <a:solidFill>
                  <a:prstClr val="white"/>
                </a:solidFill>
                <a:effectLst/>
                <a:uLnTx/>
                <a:uFillTx/>
                <a:latin typeface="Arial MT"/>
                <a:ea typeface="+mn-ea"/>
                <a:cs typeface="Arial MT"/>
              </a:rPr>
              <a:t>Employee))</a:t>
            </a:r>
            <a:endParaRPr kumimoji="0" sz="2200" b="0" i="0" u="none" strike="noStrike" kern="1200" cap="none" spc="0" normalizeH="0" baseline="0" noProof="0" dirty="0">
              <a:ln>
                <a:noFill/>
              </a:ln>
              <a:solidFill>
                <a:prstClr val="white"/>
              </a:solidFill>
              <a:effectLst/>
              <a:uLnTx/>
              <a:uFillTx/>
              <a:latin typeface="Arial MT"/>
              <a:ea typeface="+mn-ea"/>
              <a:cs typeface="Arial MT"/>
            </a:endParaRPr>
          </a:p>
        </p:txBody>
      </p:sp>
    </p:spTree>
  </p:cSld>
  <p:clrMapOvr>
    <a:masterClrMapping/>
  </p:clrMapOvr>
</p:sld>
</file>

<file path=ppt/theme/theme1.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otalTime>1</TotalTime>
  <Words>1587</Words>
  <Application>Microsoft Office PowerPoint</Application>
  <PresentationFormat>Panorámica</PresentationFormat>
  <Paragraphs>193</Paragraphs>
  <Slides>27</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27</vt:i4>
      </vt:variant>
    </vt:vector>
  </HeadingPairs>
  <TitlesOfParts>
    <vt:vector size="34" baseType="lpstr">
      <vt:lpstr>Aharoni</vt:lpstr>
      <vt:lpstr>Arial</vt:lpstr>
      <vt:lpstr>Arial MT</vt:lpstr>
      <vt:lpstr>Calibri</vt:lpstr>
      <vt:lpstr>Calibri Light</vt:lpstr>
      <vt:lpstr>Space Mono</vt:lpstr>
      <vt:lpstr>1_Tema de Office</vt:lpstr>
      <vt:lpstr>Data Definition Lang. (DDL)  Data Manipulation Lang. (DML)  Views &amp; Indexes </vt:lpstr>
      <vt:lpstr>Componentes principales de SQL
</vt:lpstr>
      <vt:lpstr>DATA DEFINITION LANGUAGE (DDL)</vt:lpstr>
      <vt:lpstr>Crear (declarar) un esquema
</vt:lpstr>
      <vt:lpstr>Crear (declarar) una relación/tabla
</vt:lpstr>
      <vt:lpstr>Elementos de las declaraciones de tabla
</vt:lpstr>
      <vt:lpstr>Ejemplos
</vt:lpstr>
      <vt:lpstr>Valores en SQL
</vt:lpstr>
      <vt:lpstr>Dates y Times</vt:lpstr>
      <vt:lpstr>INTEGRITY CONSTRAINTS</vt:lpstr>
      <vt:lpstr>Ejemplo de ejecución
</vt:lpstr>
      <vt:lpstr>Tipos de restricciones
</vt:lpstr>
      <vt:lpstr>Declaración de claves
</vt:lpstr>
      <vt:lpstr>Declaración de claves de varios atributos
</vt:lpstr>
      <vt:lpstr>CLAVE PRIMARIA vs. ÚNICA
</vt:lpstr>
      <vt:lpstr>Claves externas
</vt:lpstr>
      <vt:lpstr>Expresión de claves externas
</vt:lpstr>
      <vt:lpstr>Ejemplo: Con atributo
</vt:lpstr>
      <vt:lpstr>Ejemplo: Como elemento de esquema
</vt:lpstr>
      <vt:lpstr>Aplicación de restricciones de clave externa
</vt:lpstr>
      <vt:lpstr>Elegir una directiva
</vt:lpstr>
      <vt:lpstr>Ejemplo: establecer una directiva
</vt:lpstr>
      <vt:lpstr>Comprobaciones basadas en atributos
</vt:lpstr>
      <vt:lpstr>Ejemplo: comprobación basada en atributos
</vt:lpstr>
      <vt:lpstr>Validaciones</vt:lpstr>
      <vt:lpstr>Comprobaciones basadas en tuplas
</vt:lpstr>
      <vt:lpstr>Afirmaciones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Definition Lang. (DDL)  Data Manipulation Lang. (DML)  Views &amp; Indexes </dc:title>
  <dc:creator>Rodrigo Barrera</dc:creator>
  <cp:lastModifiedBy>Rodrigo Barrera</cp:lastModifiedBy>
  <cp:revision>1</cp:revision>
  <dcterms:created xsi:type="dcterms:W3CDTF">2023-04-02T21:04:07Z</dcterms:created>
  <dcterms:modified xsi:type="dcterms:W3CDTF">2023-04-02T21:06:00Z</dcterms:modified>
</cp:coreProperties>
</file>